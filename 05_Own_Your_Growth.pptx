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5143500" cx="9144000"/>
  <p:notesSz cx="6858000" cy="9144000"/>
  <p:embeddedFontLst>
    <p:embeddedFont>
      <p:font typeface="Roboto"/>
      <p:regular r:id="rId31"/>
      <p:bold r:id="rId32"/>
      <p:italic r:id="rId33"/>
      <p:boldItalic r:id="rId34"/>
    </p:embeddedFont>
    <p:embeddedFont>
      <p:font typeface="Roboto Medium"/>
      <p:regular r:id="rId35"/>
      <p:bold r:id="rId36"/>
      <p:italic r:id="rId37"/>
      <p:boldItalic r:id="rId38"/>
    </p:embeddedFont>
    <p:embeddedFont>
      <p:font typeface="Roboto Light"/>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Light-bold.fntdata"/><Relationship Id="rId20" Type="http://schemas.openxmlformats.org/officeDocument/2006/relationships/slide" Target="slides/slide15.xml"/><Relationship Id="rId42" Type="http://schemas.openxmlformats.org/officeDocument/2006/relationships/font" Target="fonts/RobotoLight-boldItalic.fntdata"/><Relationship Id="rId41" Type="http://schemas.openxmlformats.org/officeDocument/2006/relationships/font" Target="fonts/RobotoLight-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italic.fntdata"/><Relationship Id="rId10" Type="http://schemas.openxmlformats.org/officeDocument/2006/relationships/slide" Target="slides/slide5.xml"/><Relationship Id="rId32" Type="http://schemas.openxmlformats.org/officeDocument/2006/relationships/font" Target="fonts/Roboto-bold.fntdata"/><Relationship Id="rId13" Type="http://schemas.openxmlformats.org/officeDocument/2006/relationships/slide" Target="slides/slide8.xml"/><Relationship Id="rId35" Type="http://schemas.openxmlformats.org/officeDocument/2006/relationships/font" Target="fonts/RobotoMedium-regular.fntdata"/><Relationship Id="rId12" Type="http://schemas.openxmlformats.org/officeDocument/2006/relationships/slide" Target="slides/slide7.xml"/><Relationship Id="rId34" Type="http://schemas.openxmlformats.org/officeDocument/2006/relationships/font" Target="fonts/Roboto-boldItalic.fntdata"/><Relationship Id="rId15" Type="http://schemas.openxmlformats.org/officeDocument/2006/relationships/slide" Target="slides/slide10.xml"/><Relationship Id="rId37" Type="http://schemas.openxmlformats.org/officeDocument/2006/relationships/font" Target="fonts/RobotoMedium-italic.fntdata"/><Relationship Id="rId14" Type="http://schemas.openxmlformats.org/officeDocument/2006/relationships/slide" Target="slides/slide9.xml"/><Relationship Id="rId36" Type="http://schemas.openxmlformats.org/officeDocument/2006/relationships/font" Target="fonts/RobotoMedium-bold.fntdata"/><Relationship Id="rId17" Type="http://schemas.openxmlformats.org/officeDocument/2006/relationships/slide" Target="slides/slide12.xml"/><Relationship Id="rId39" Type="http://schemas.openxmlformats.org/officeDocument/2006/relationships/font" Target="fonts/RobotoLight-regular.fntdata"/><Relationship Id="rId16" Type="http://schemas.openxmlformats.org/officeDocument/2006/relationships/slide" Target="slides/slide11.xml"/><Relationship Id="rId38" Type="http://schemas.openxmlformats.org/officeDocument/2006/relationships/font" Target="fonts/RobotoMedium-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2e9327ae30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2e9327ae3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Introduction: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Good [morning/afternoon/evening], everyone! My name is [Your Name], and I’m excited to be here with you today.</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Today, we’re going to talk about something that’s all around us—statistics and mathematics.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Engaging the Audience: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Now, math and statistics aren’t just about numbers on a page. They help us understand patterns, make predictions, and solve real-world problems.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Some people find math fascinating and fun, while others might think it’s boring. And let’s be honest—it can feel that way if we don’t understand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Real-World Applications: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But think about this: math is everywhere!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sports, helping teams analyze player performance.</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in weather forecasts, predicting whether we need an umbrella tomorrow.</a:t>
            </a: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en-GB">
                <a:solidFill>
                  <a:schemeClr val="dk1"/>
                </a:solidFill>
              </a:rPr>
              <a:t>It’s even in the apps we use every day, from social media to online shopping.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Making Math Fun:</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When we start seeing math as a tool for discovery, it becomes exciting. It’s like solving a puzzle, uncovering patterns, and making sense of the world.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GB">
                <a:solidFill>
                  <a:schemeClr val="dk1"/>
                </a:solidFill>
              </a:rPr>
              <a:t>And when we understand it, it brings a smile to our faces! But if we don’t, it can be frustrating.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GB">
                <a:solidFill>
                  <a:schemeClr val="dk1"/>
                </a:solidFill>
              </a:rPr>
              <a:t>Closing:</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GB">
                <a:solidFill>
                  <a:schemeClr val="dk1"/>
                </a:solidFill>
              </a:rPr>
              <a:t>So, let’s embrace the challenge, explore the possibilities, and make this journey of learning math an enjoyable one!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3fb626590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3fb626590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Welcome to session 4. Today we will focus on mock interviews, self learning, </a:t>
            </a:r>
            <a:br>
              <a:rPr lang="en-GB">
                <a:solidFill>
                  <a:schemeClr val="dk1"/>
                </a:solidFill>
              </a:rPr>
            </a:br>
            <a:r>
              <a:rPr lang="en-GB">
                <a:solidFill>
                  <a:schemeClr val="dk1"/>
                </a:solidFill>
              </a:rPr>
              <a:t>QA practice, and certifications. </a:t>
            </a:r>
            <a:br>
              <a:rPr lang="en-GB">
                <a:solidFill>
                  <a:schemeClr val="dk1"/>
                </a:solidFill>
              </a:rPr>
            </a:br>
            <a:br>
              <a:rPr lang="en-GB">
                <a:solidFill>
                  <a:schemeClr val="dk1"/>
                </a:solidFill>
              </a:rPr>
            </a:br>
            <a:r>
              <a:rPr lang="en-GB">
                <a:solidFill>
                  <a:schemeClr val="dk1"/>
                </a:solidFill>
              </a:rPr>
              <a:t>We are learning these because they directly help us improve our interview readiness and overall confidence. </a:t>
            </a:r>
            <a:br>
              <a:rPr lang="en-GB">
                <a:solidFill>
                  <a:schemeClr val="dk1"/>
                </a:solidFill>
              </a:rPr>
            </a:br>
            <a:r>
              <a:rPr lang="en-GB">
                <a:solidFill>
                  <a:schemeClr val="dk1"/>
                </a:solidFill>
              </a:rPr>
              <a:t>Mock interviews help us understand real interview pressure and how to respond better. </a:t>
            </a:r>
            <a:br>
              <a:rPr lang="en-GB">
                <a:solidFill>
                  <a:schemeClr val="dk1"/>
                </a:solidFill>
              </a:rPr>
            </a:br>
            <a:br>
              <a:rPr lang="en-GB">
                <a:solidFill>
                  <a:schemeClr val="dk1"/>
                </a:solidFill>
              </a:rPr>
            </a:br>
            <a:r>
              <a:rPr lang="en-GB">
                <a:solidFill>
                  <a:schemeClr val="dk1"/>
                </a:solidFill>
              </a:rPr>
              <a:t>Self learning helps us stay independent and continuously improve our skills. </a:t>
            </a:r>
            <a:br>
              <a:rPr lang="en-GB">
                <a:solidFill>
                  <a:schemeClr val="dk1"/>
                </a:solidFill>
              </a:rPr>
            </a:br>
            <a:br>
              <a:rPr lang="en-GB">
                <a:solidFill>
                  <a:schemeClr val="dk1"/>
                </a:solidFill>
              </a:rPr>
            </a:br>
            <a:r>
              <a:rPr lang="en-GB">
                <a:solidFill>
                  <a:schemeClr val="dk1"/>
                </a:solidFill>
              </a:rPr>
              <a:t>QA practice improves our ability to think clearly and communicate answers effectively. </a:t>
            </a:r>
            <a:br>
              <a:rPr lang="en-GB">
                <a:solidFill>
                  <a:schemeClr val="dk1"/>
                </a:solidFill>
              </a:rPr>
            </a:br>
            <a:br>
              <a:rPr lang="en-GB">
                <a:solidFill>
                  <a:schemeClr val="dk1"/>
                </a:solidFill>
              </a:rPr>
            </a:br>
            <a:r>
              <a:rPr lang="en-GB">
                <a:solidFill>
                  <a:schemeClr val="dk1"/>
                </a:solidFill>
              </a:rPr>
              <a:t>Certifications help strengthen our profile and show proof of our learning. </a:t>
            </a:r>
            <a:br>
              <a:rPr lang="en-GB">
                <a:solidFill>
                  <a:schemeClr val="dk1"/>
                </a:solidFill>
              </a:rPr>
            </a:br>
            <a:r>
              <a:rPr lang="en-GB">
                <a:solidFill>
                  <a:schemeClr val="dk1"/>
                </a:solidFill>
              </a:rPr>
              <a:t>Together, these topics help us become more prepared and job-ready. </a:t>
            </a:r>
            <a:br>
              <a:rPr lang="en-GB">
                <a:solidFill>
                  <a:schemeClr val="dk1"/>
                </a:solidFill>
              </a:rPr>
            </a:br>
            <a:r>
              <a:rPr lang="en-GB">
                <a:solidFill>
                  <a:schemeClr val="dk1"/>
                </a:solidFill>
              </a:rPr>
              <a:t>In this session, we will understand how to approach each of them in a simple and practical way.</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90b9ecb37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90b9ecb37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a:solidFill>
                  <a:schemeClr val="dk1"/>
                </a:solidFill>
              </a:rPr>
              <a:t>Welcome to Day 3 — the point where the journey starts becoming truly technical. Day 1 introduced the roadmap and showed you where this program can take you. </a:t>
            </a:r>
            <a:br>
              <a:rPr lang="en-GB">
                <a:solidFill>
                  <a:schemeClr val="dk1"/>
                </a:solidFill>
              </a:rPr>
            </a:br>
            <a:r>
              <a:rPr lang="en-GB">
                <a:solidFill>
                  <a:schemeClr val="dk1"/>
                </a:solidFill>
              </a:rPr>
              <a:t>Day 2 focused on building your professional environment and setting up the tools you’ll use every day. Now, Day 3 shifts the focus from setup to understanding.</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Today is not just about learning which buttons to click or which tools to open. It’s about understanding the concepts behind the technology </a:t>
            </a:r>
            <a:br>
              <a:rPr lang="en-GB">
                <a:solidFill>
                  <a:schemeClr val="dk1"/>
                </a:solidFill>
              </a:rPr>
            </a:br>
            <a:r>
              <a:rPr lang="en-GB">
                <a:solidFill>
                  <a:schemeClr val="dk1"/>
                </a:solidFill>
              </a:rPr>
              <a:t>and how things actually work beneath the surface. </a:t>
            </a:r>
            <a:br>
              <a:rPr lang="en-GB">
                <a:solidFill>
                  <a:schemeClr val="dk1"/>
                </a:solidFill>
              </a:rPr>
            </a:br>
            <a:r>
              <a:rPr lang="en-GB">
                <a:solidFill>
                  <a:schemeClr val="dk1"/>
                </a:solidFill>
              </a:rPr>
              <a:t>In tech, real growth happens when you move beyond memorising steps and begin thinking critically about systems, processes, and logic.</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This is where the technical foundation begins to form. The ideas you learn today will support everything that comes later — from coding and data analysis to problem-solving and project work. You’ll begin connecting concepts together instead of simply following instructions. </a:t>
            </a:r>
            <a:br>
              <a:rPr lang="en-GB">
                <a:solidFill>
                  <a:schemeClr val="dk1"/>
                </a:solidFill>
              </a:rPr>
            </a:br>
            <a:r>
              <a:rPr lang="en-GB">
                <a:solidFill>
                  <a:schemeClr val="dk1"/>
                </a:solidFill>
              </a:rPr>
              <a:t>That shift in thinking is what separates passive learners from strong technical professionals.</a:t>
            </a:r>
            <a:endParaRPr>
              <a:solidFill>
                <a:schemeClr val="dk1"/>
              </a:solidFill>
            </a:endParaRPr>
          </a:p>
          <a:p>
            <a:pPr indent="0" lvl="0" marL="0" rtl="0" algn="l">
              <a:lnSpc>
                <a:spcPct val="115000"/>
              </a:lnSpc>
              <a:spcBef>
                <a:spcPts val="1200"/>
              </a:spcBef>
              <a:spcAft>
                <a:spcPts val="0"/>
              </a:spcAft>
              <a:buNone/>
            </a:pPr>
            <a:r>
              <a:rPr lang="en-GB">
                <a:solidFill>
                  <a:schemeClr val="dk1"/>
                </a:solidFill>
              </a:rPr>
              <a:t>You may notice that today feels more challenging than the previous sessions, and that’s intentional. </a:t>
            </a:r>
            <a:br>
              <a:rPr lang="en-GB">
                <a:solidFill>
                  <a:schemeClr val="dk1"/>
                </a:solidFill>
              </a:rPr>
            </a:br>
            <a:r>
              <a:rPr lang="en-GB">
                <a:solidFill>
                  <a:schemeClr val="dk1"/>
                </a:solidFill>
              </a:rPr>
              <a:t>This is the most technical day so far, but it is also one of the most valuable. </a:t>
            </a:r>
            <a:br>
              <a:rPr lang="en-GB">
                <a:solidFill>
                  <a:schemeClr val="dk1"/>
                </a:solidFill>
              </a:rPr>
            </a:br>
            <a:r>
              <a:rPr lang="en-GB">
                <a:solidFill>
                  <a:schemeClr val="dk1"/>
                </a:solidFill>
              </a:rPr>
              <a:t>Every minute of attention you give today will make future topics easier to understand and apply.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941ee2a7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941ee2a7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Knowing information is only the first step; becoming a professional is a deeper transformation. </a:t>
            </a:r>
            <a:br>
              <a:rPr lang="en-GB">
                <a:solidFill>
                  <a:schemeClr val="dk1"/>
                </a:solidFill>
              </a:rPr>
            </a:br>
            <a:r>
              <a:rPr lang="en-GB">
                <a:solidFill>
                  <a:schemeClr val="dk1"/>
                </a:solidFill>
              </a:rPr>
              <a:t>The gap between understanding concepts and performing like a professional is closed through consistent practice, reflection, and honest self-assessment.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Real skill develops when knowledge is applied in real situations, not just memorised. Reflection helps you identify mistakes, </a:t>
            </a:r>
            <a:br>
              <a:rPr lang="en-GB">
                <a:solidFill>
                  <a:schemeClr val="dk1"/>
                </a:solidFill>
              </a:rPr>
            </a:br>
            <a:r>
              <a:rPr lang="en-GB">
                <a:solidFill>
                  <a:schemeClr val="dk1"/>
                </a:solidFill>
              </a:rPr>
              <a:t>improve faster, and avoid repeating errors. Over time, the way you see yourself influences how you perform and grow.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Professionals are not born with these abilities — they are built gradually through habits, discipline, and </a:t>
            </a:r>
            <a:br>
              <a:rPr lang="en-GB">
                <a:solidFill>
                  <a:schemeClr val="dk1"/>
                </a:solidFill>
              </a:rPr>
            </a:br>
            <a:r>
              <a:rPr lang="en-GB">
                <a:solidFill>
                  <a:schemeClr val="dk1"/>
                </a:solidFill>
              </a:rPr>
              <a:t>continuous improvement. Day 4 focuses on understanding this shift and learning how to actively move from learning to becoming.</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90b9ecb3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90b9ecb3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mock interview is a structured practice session designed to simulate a real job interview environment. </a:t>
            </a:r>
            <a:br>
              <a:rPr lang="en-GB">
                <a:solidFill>
                  <a:schemeClr val="dk1"/>
                </a:solidFill>
              </a:rPr>
            </a:br>
            <a:r>
              <a:rPr lang="en-GB">
                <a:solidFill>
                  <a:schemeClr val="dk1"/>
                </a:solidFill>
              </a:rPr>
              <a:t>It is not meant to test you, but to train you in a safe and supportive setting.</a:t>
            </a:r>
            <a:br>
              <a:rPr lang="en-GB">
                <a:solidFill>
                  <a:schemeClr val="dk1"/>
                </a:solidFill>
              </a:rPr>
            </a:br>
            <a:r>
              <a:rPr lang="en-GB">
                <a:solidFill>
                  <a:schemeClr val="dk1"/>
                </a:solidFill>
              </a:rPr>
              <a:t>This helps you understand what a real interview feels like without the pressure of actual evaluation. </a:t>
            </a:r>
            <a:br>
              <a:rPr lang="en-GB">
                <a:solidFill>
                  <a:schemeClr val="dk1"/>
                </a:solidFill>
              </a:rPr>
            </a:br>
            <a:r>
              <a:rPr lang="en-GB">
                <a:solidFill>
                  <a:schemeClr val="dk1"/>
                </a:solidFill>
              </a:rPr>
              <a:t>You are allowed to make mistakes here, which makes it a valuable learning experience.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 repetition, you become more comfortable with common questions and professional communication. </a:t>
            </a:r>
            <a:br>
              <a:rPr lang="en-GB">
                <a:solidFill>
                  <a:schemeClr val="dk1"/>
                </a:solidFill>
              </a:rPr>
            </a:br>
            <a:r>
              <a:rPr lang="en-GB">
                <a:solidFill>
                  <a:schemeClr val="dk1"/>
                </a:solidFill>
              </a:rPr>
              <a:t>It also helps build confidence over time by reducing fear and hesitation.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Mock interviews are especially useful because they reveal gaps in your knowledge or communication before they become real problems.</a:t>
            </a:r>
            <a:br>
              <a:rPr lang="en-GB">
                <a:solidFill>
                  <a:schemeClr val="dk1"/>
                </a:solidFill>
              </a:rPr>
            </a:br>
            <a:r>
              <a:rPr lang="en-GB">
                <a:solidFill>
                  <a:schemeClr val="dk1"/>
                </a:solidFill>
              </a:rPr>
              <a:t>This practice format is widely used in professional training programs to prepare candidates effectively for real job roles.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90b9ecb37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90b9ecb37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To summarise, a mock interview is a simulated job interview used for practice and preparation.</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It creates a safe space where you can learn without real-world pressure.</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Mistakes are expected here and are part of the learning process.</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Regular practice improves confidence and communication skills over time.</a:t>
            </a:r>
            <a:endParaRPr>
              <a:solidFill>
                <a:schemeClr val="dk1"/>
              </a:solidFill>
            </a:endParaRPr>
          </a:p>
          <a:p>
            <a:pPr indent="0" lvl="0" marL="0" rtl="0" algn="l">
              <a:spcBef>
                <a:spcPts val="0"/>
              </a:spcBef>
              <a:spcAft>
                <a:spcPts val="0"/>
              </a:spcAft>
              <a:buNone/>
            </a:pPr>
            <a:r>
              <a:rPr lang="en-GB">
                <a:solidFill>
                  <a:schemeClr val="dk1"/>
                </a:solidFill>
              </a:rPr>
              <a:t>It helps identify weak areas before facing actual interviews.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90b9ecb37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90b9ecb37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Why mock interviews matter is often underestimated, especially in the early stages of learning. Most people only start preparing for interviews a few weeks before applying for jobs, but by then it is often too late to build real confidence and communication habits. The skills needed to perform well in interviews are not developed overnight — they take time and repetition.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Starting mock interviews in Week 1 gives you a major advantage because preparation begins long before you actually need it. Confidence is not something you suddenly have on the day of an interview; it is something that is built gradually through repeated practice and exposure.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Early practice also helps reduce fear of the unknown. When you regularly face interview-style questions, the real situation feels more familiar and less stressful. Instead of panicking under pressure, you begin to respond with structure and clarity.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Mock interviews also help you identify weak areas early in your journey. This could be communication gaps, lack of clarity in answers, or missing technical understanding. Finding these issues early gives you enough time to improve them.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biggest advantage is time. Instead of preparing in a rushed few days or weeks, you build months of preparation step by step. This creates a much stronger foundation and significantly improves performance in real interviews.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3fe61a9d5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3fe61a9d5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mock interview is not about being perfect, it’s about learning and improving each time. </a:t>
            </a:r>
            <a:br>
              <a:rPr lang="en-GB">
                <a:solidFill>
                  <a:schemeClr val="dk1"/>
                </a:solidFill>
              </a:rPr>
            </a:br>
            <a:r>
              <a:rPr lang="en-GB">
                <a:solidFill>
                  <a:schemeClr val="dk1"/>
                </a:solidFill>
              </a:rPr>
              <a:t>Before the session, it helps to prepare at least one strong answer so you feel a bit grounded and don’t start from zero. </a:t>
            </a:r>
            <a:br>
              <a:rPr lang="en-GB">
                <a:solidFill>
                  <a:schemeClr val="dk1"/>
                </a:solidFill>
              </a:rPr>
            </a:br>
            <a:r>
              <a:rPr lang="en-GB">
                <a:solidFill>
                  <a:schemeClr val="dk1"/>
                </a:solidFill>
              </a:rPr>
              <a:t>During the interview, speak slowly and clearly instead of rushing through your thoughts, and make sure you listen carefully to the question before jumping into an answer. </a:t>
            </a:r>
            <a:br>
              <a:rPr lang="en-GB">
                <a:solidFill>
                  <a:schemeClr val="dk1"/>
                </a:solidFill>
              </a:rPr>
            </a:br>
            <a:r>
              <a:rPr lang="en-GB">
                <a:solidFill>
                  <a:schemeClr val="dk1"/>
                </a:solidFill>
              </a:rPr>
              <a:t>If needed, take a short pause so your response feels structured and thoughtful rather than impulsive.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Try to think in simple points instead of long, complicated explanations, and stay calm even if you make a mistake. </a:t>
            </a:r>
            <a:br>
              <a:rPr lang="en-GB">
                <a:solidFill>
                  <a:schemeClr val="dk1"/>
                </a:solidFill>
              </a:rPr>
            </a:br>
            <a:r>
              <a:rPr lang="en-GB">
                <a:solidFill>
                  <a:schemeClr val="dk1"/>
                </a:solidFill>
              </a:rPr>
              <a:t>After the session, recording and reviewing your performance can be very useful because you’ll notice things you didn’t realize in the moment. </a:t>
            </a:r>
            <a:br>
              <a:rPr lang="en-GB">
                <a:solidFill>
                  <a:schemeClr val="dk1"/>
                </a:solidFill>
              </a:rPr>
            </a:br>
            <a:r>
              <a:rPr lang="en-GB">
                <a:solidFill>
                  <a:schemeClr val="dk1"/>
                </a:solidFill>
              </a:rPr>
              <a:t>The key is not to fix everything at once, but to pick just one thing to improve each time—like clarity, structure, or speed. </a:t>
            </a:r>
            <a:br>
              <a:rPr lang="en-GB">
                <a:solidFill>
                  <a:schemeClr val="dk1"/>
                </a:solidFill>
              </a:rPr>
            </a:br>
            <a:r>
              <a:rPr lang="en-GB">
                <a:solidFill>
                  <a:schemeClr val="dk1"/>
                </a:solidFill>
              </a:rPr>
              <a:t>Over time, these small improvements add up and make a big difference.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90b9ecb3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90b9ecb3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Technical skills may open the door, but everything beyond that determines long-term success. </a:t>
            </a:r>
            <a:br>
              <a:rPr lang="en-GB">
                <a:solidFill>
                  <a:schemeClr val="dk1"/>
                </a:solidFill>
              </a:rPr>
            </a:br>
            <a:r>
              <a:rPr lang="en-GB">
                <a:solidFill>
                  <a:schemeClr val="dk1"/>
                </a:solidFill>
              </a:rPr>
              <a:t>In most hiring decisions, employers consistently highlight that communication and problem-solving skills </a:t>
            </a:r>
            <a:br>
              <a:rPr lang="en-GB">
                <a:solidFill>
                  <a:schemeClr val="dk1"/>
                </a:solidFill>
              </a:rPr>
            </a:br>
            <a:r>
              <a:rPr lang="en-GB">
                <a:solidFill>
                  <a:schemeClr val="dk1"/>
                </a:solidFill>
              </a:rPr>
              <a:t>are just as important as writing code or handling data. </a:t>
            </a:r>
            <a:br>
              <a:rPr lang="en-GB">
                <a:solidFill>
                  <a:schemeClr val="dk1"/>
                </a:solidFill>
              </a:rPr>
            </a:br>
            <a:br>
              <a:rPr lang="en-GB">
                <a:solidFill>
                  <a:schemeClr val="dk1"/>
                </a:solidFill>
              </a:rPr>
            </a:br>
            <a:r>
              <a:rPr lang="en-GB">
                <a:solidFill>
                  <a:schemeClr val="dk1"/>
                </a:solidFill>
              </a:rPr>
              <a:t>This is not general advice — it is a repeated reality shared by hiring managers across industries and markets.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Clear and confident communication helps you explain ideas, collaborate with teams, </a:t>
            </a:r>
            <a:br>
              <a:rPr lang="en-GB">
                <a:solidFill>
                  <a:schemeClr val="dk1"/>
                </a:solidFill>
              </a:rPr>
            </a:br>
            <a:r>
              <a:rPr lang="en-GB">
                <a:solidFill>
                  <a:schemeClr val="dk1"/>
                </a:solidFill>
              </a:rPr>
              <a:t>and present your thinking effectively. A structured approach to problem-solving shows that </a:t>
            </a:r>
            <a:br>
              <a:rPr lang="en-GB">
                <a:solidFill>
                  <a:schemeClr val="dk1"/>
                </a:solidFill>
              </a:rPr>
            </a:br>
            <a:r>
              <a:rPr lang="en-GB">
                <a:solidFill>
                  <a:schemeClr val="dk1"/>
                </a:solidFill>
              </a:rPr>
              <a:t>you can break down challenges logically instead of reacting randomly. </a:t>
            </a:r>
            <a:br>
              <a:rPr lang="en-GB">
                <a:solidFill>
                  <a:schemeClr val="dk1"/>
                </a:solidFill>
              </a:rPr>
            </a:br>
            <a:br>
              <a:rPr lang="en-GB">
                <a:solidFill>
                  <a:schemeClr val="dk1"/>
                </a:solidFill>
              </a:rPr>
            </a:br>
            <a:r>
              <a:rPr lang="en-GB">
                <a:solidFill>
                  <a:schemeClr val="dk1"/>
                </a:solidFill>
              </a:rPr>
              <a:t>Curiosity and continuous learning demonstrate that you can adapt and grow in a fast-changing environment.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Reliability and professionalism are equally important because companies depend on consistency, accountability, </a:t>
            </a:r>
            <a:br>
              <a:rPr lang="en-GB">
                <a:solidFill>
                  <a:schemeClr val="dk1"/>
                </a:solidFill>
              </a:rPr>
            </a:br>
            <a:r>
              <a:rPr lang="en-GB">
                <a:solidFill>
                  <a:schemeClr val="dk1"/>
                </a:solidFill>
              </a:rPr>
              <a:t>and trust in day-to-day work. Alongside this, a strong portfolio that shows real, practical work gives proof of your abilities beyond theory.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Together, these qualities define how far a professional can go after entering the field. </a:t>
            </a:r>
            <a:br>
              <a:rPr lang="en-GB">
                <a:solidFill>
                  <a:schemeClr val="dk1"/>
                </a:solidFill>
              </a:rPr>
            </a:br>
            <a:r>
              <a:rPr lang="en-GB">
                <a:solidFill>
                  <a:schemeClr val="dk1"/>
                </a:solidFill>
              </a:rPr>
              <a:t>Technical skills get attention, but these additional strengths determine growth, opportunities, and long-term career success.</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933d9ed8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933d9ed8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art of self-learning is what separates average learners from strong professionals. No program, no matter how well designed, can teach everything. The best professionals understand this early and take responsibility for filling their own knowledge gaps.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Self-learning is not random browsing or casually watching videos. It is a deliberate and structured process of finding, understanding, and applying knowledge with a clear purpose. It requires focus, direction, and consistency rather than passive consumption of information.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Instead of just receiving information, self-learners actively engage with it by asking questions and seeking clear answers. They explore topics with intent, not curiosity without direction. This makes the learning deeper and more meaningful.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key habit in self-learning is documentation. Writing down what you learn helps reinforce understanding and creates a personal knowledge base you can return to later. Over time, this builds a strong foundation that continues to grow.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practiced consistently, self-learning leads to compounding knowledge. Each new concept builds on the previous one, creating long-term growth and adaptability. This is one of the most valuable skills in any data or tech role.</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90b9ecb37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90b9ecb37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Effective self-learning depends on using the right strategies, not just spending more time studying. Some methods only create the feeling of understanding, while others actually build long-term knowledge and real capability. The following approaches are designed to improve retention and practical skill development.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One of the most powerful techniques is teaching back what you have learned. Explaining a concept in your own words forces clarity and reveals gaps in understanding. Building small projects immediately after learning helps convert theory into practice and strengthens real-world application.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Taking notes in your own words is also important because it ensures you are processing information, not just copying it. Reviewing material within 24 hours helps reinforce memory and prevents forgetting key concepts.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Consistently asking for feedback is another critical habit. It helps you correct mistakes early and improve faster with guidance. When applied from Week 1 and continued throughout the program, these strategies create strong learning habits and long-term mastery.</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e90b9ecb37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e90b9ecb37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Building a learning system is more powerful than relying on habits alone. Habits help you start, but systems ensure consistency, structure, and long-term progress. A learning system combines tools, time, reflection, and community into one repeatable process that supports continuous improvement.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program provides the structure, but the discipline to follow it comes from the individual. Fixed weekly study blocks ensure dedicated time for focused learning without distractions. Notes that are stored and regularly reviewed help reinforce understanding and improve retention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GitHub plays a key role by tracking every commit, making progress visible and measurable. Slack provides a space for community support, discussion, and quick clarification when needed. At the end of each week, reflection helps consolidate learning, identify gaps, and prepare for the next cycle.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When all these elements work together, learning becomes systematic rather than random. This structure transforms effort into consistent progress and builds a strong foundation for long-term growth.</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90b9ecb3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90b9ecb3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Failure is not the opposite of progress — it is part of the process. In learning and in data work, every error, wrong answer, or struggle carries useful information about what is not yet understood. The natural instinct is to avoid failure, but in a professional environment, failure is treated as feedback rather than a setback.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Each mistake highlights a specific knowledge gap. Once identified, that gap can be addressed through practice, review, or clarification. Ignoring or avoiding errors does not remove them — it only allows confusion to build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strong learning habit is to actively review mistakes before moving forward. This ensures that understanding is corrected at the root instead of being carried forward incorrectly. Over time, this approach improves accuracy and confidence.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data-driven fields, thinking of mistakes as data points is a powerful mindset shift. It turns every failure into something measurable, analysable, and useful for improvement. In this way, every failure becomes a step toward better understanding.</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3fe61a9d5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3fe61a9d5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Comfortability Index is a personal self-assessment tool used to measure how confident you feel with new skills and concepts. It is not a score or grade, but a reflection of your own learning experience. The purpose is to build self-awareness rather than evaluation.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After each learning session or day, you rate your comfort level on a scale from 1 to 5 based on how well you understood the topic. There are no right or wrong answers — only honest reflections of your current understanding.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Over time, these ratings help reveal patterns in your learning journey. You can clearly see which topics feel strong and which ones need more practice or revision. This makes your growth more visible and structured.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most important part of this system is honesty. When you are truthful in your self-rating, the data becomes meaningful and useful for improvement. It helps you track progress in a way that goes beyond marks or tests.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e90b9ecb3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e90b9ecb3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Comfortability Index is only effective when used consistently and with honesty. Its purpose is not to judge performance, but to guide your learning by showing how comfortable you are with different concepts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After each learning day, you should assign yourself a rating based on your actual understanding of the topic. A low score, such as 1, is not a failure — it simply highlights areas that need revision and improvement. On the other hand, giving a high score like 9 without real understanding only creates a false sense of progress.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Along with the rating, it is important to note the reason behind your score. This helps you understand exactly what influenced your confidence level. Any topic rated below 3 should be flagged for immediate review so that gaps can be addressed quickly.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Revisiting these flagged topics within the same week helps reinforce understanding and prevents confusion from carrying forward. Over time, the focus should be on the overall trend of your comfort level rather than individual numbers. This trend gives a clearer picture of real growth and learning progress.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e90b9ecb37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e90b9ecb37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Progress in data education is rarely linear. Some weeks will feel like major breakthroughs, while others may feel slower or even like you are going backwards. Both experiences are completely normal and part of the learning process.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True progress is often not immediately visible. Many improvements happen gradually in the background and only become clear when viewed over time. Small wins, when repeated consistently, compound into strong long-term growth.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 is important to compare your progress with your previous self rather than with others. Learning becomes more meaningful when tracked consistently instead of selectively focusing only on good or bad moments.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most important thing to observe is the overall trend, not individual highs or lows. When you look at your learning as a pattern over time, you get a much more accurate picture of real improvement.</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942510cb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942510cb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Weekly reflection is a structured end-of-week review of what you learned, </a:t>
            </a:r>
            <a:br>
              <a:rPr lang="en-GB">
                <a:solidFill>
                  <a:schemeClr val="dk1"/>
                </a:solidFill>
              </a:rPr>
            </a:br>
            <a:r>
              <a:rPr lang="en-GB">
                <a:solidFill>
                  <a:schemeClr val="dk1"/>
                </a:solidFill>
              </a:rPr>
              <a:t>what challenged you, and what you need to focus on next. It is not just informal writing — </a:t>
            </a:r>
            <a:br>
              <a:rPr lang="en-GB">
                <a:solidFill>
                  <a:schemeClr val="dk1"/>
                </a:solidFill>
              </a:rPr>
            </a:br>
            <a:r>
              <a:rPr lang="en-GB">
                <a:solidFill>
                  <a:schemeClr val="dk1"/>
                </a:solidFill>
              </a:rPr>
              <a:t>it is a professional habit used in high-performing teams to improve performance and clarity over time.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This practice helps you consciously process your learning instead of moving on without understanding gaps or achievements. It captures both challenges and wins, giving you a balanced view of your progress.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weekly reflection is short and focused, usually taking no more than 15 minutes to complete. The goal is consistency, not length or perfection. When stored over time, these reflections become a valuable record of your learning journey.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starting this habit in Week 1, you make it automatic by Week 24. In professional environments, this kind of structured reflection is widely used to support continuous improvement and better decision-making.</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e942510cb8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e942510cb8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Effective weekly reflection does not require long writing or complex analysis — it requires clarity and honesty. When done properly, even three focused questions are enough to understand your learning in a meaningful way.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first question, “What was learned this week?”, helps you identify and consolidate key concepts instead of forgetting them after the session ends. The second question, “What felt difficult and why?”, is important because it highlights specific gaps in understanding that need attention.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third question, “What will change next week?”, turns reflection into action. It ensures that you are not only reviewing the past but also planning improvements for the future.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quality of reflection depends on specificity. Vague answers lead to vague progress, while clear and detailed responses lead to real improvement. The purpose is not to feel good about the week, but to understand it accurately. Honest answers are what make this practice valuable and effective over time.</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942510cb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942510cb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Dataskools Certificate is awarded only upon successful completion of the full program. It is not automatically given — </a:t>
            </a:r>
            <a:br>
              <a:rPr lang="en-GB">
                <a:solidFill>
                  <a:schemeClr val="dk1"/>
                </a:solidFill>
              </a:rPr>
            </a:br>
            <a:r>
              <a:rPr lang="en-GB">
                <a:solidFill>
                  <a:schemeClr val="dk1"/>
                </a:solidFill>
              </a:rPr>
              <a:t>it must be earned through consistent effort, completed work, and demonstrated understanding throughout the learning journey.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To qualify, learners must meet the minimum grade standards set for the program. </a:t>
            </a:r>
            <a:br>
              <a:rPr lang="en-GB">
                <a:solidFill>
                  <a:schemeClr val="dk1"/>
                </a:solidFill>
              </a:rPr>
            </a:br>
            <a:r>
              <a:rPr lang="en-GB">
                <a:solidFill>
                  <a:schemeClr val="dk1"/>
                </a:solidFill>
              </a:rPr>
              <a:t>This ensures that the certificate reflects real knowledge and applied skills, not just attendance or participation.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All required projects must be submitted as part of the evaluation process. </a:t>
            </a:r>
            <a:br>
              <a:rPr lang="en-GB">
                <a:solidFill>
                  <a:schemeClr val="dk1"/>
                </a:solidFill>
              </a:rPr>
            </a:br>
            <a:r>
              <a:rPr lang="en-GB">
                <a:solidFill>
                  <a:schemeClr val="dk1"/>
                </a:solidFill>
              </a:rPr>
              <a:t>These projects demonstrate practical ability and help assess how well concepts have been applied in real scenarios.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Attendance and active participation are also taken into account, as consistent engagement is a key part of professional development.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Overall, the Dataskool Certificate is earned, not handed out — making it a true reflection of effort, discipline, and achievement.</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942510cb8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e942510cb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certificate in the job market is primarily a signal — </a:t>
            </a:r>
            <a:br>
              <a:rPr lang="en-GB">
                <a:solidFill>
                  <a:schemeClr val="dk1"/>
                </a:solidFill>
              </a:rPr>
            </a:br>
            <a:r>
              <a:rPr lang="en-GB">
                <a:solidFill>
                  <a:schemeClr val="dk1"/>
                </a:solidFill>
              </a:rPr>
              <a:t>it communicates what knowledge or skills have been demonstrated by a candidate. </a:t>
            </a:r>
            <a:br>
              <a:rPr lang="en-GB">
                <a:solidFill>
                  <a:schemeClr val="dk1"/>
                </a:solidFill>
              </a:rPr>
            </a:br>
            <a:r>
              <a:rPr lang="en-GB">
                <a:solidFill>
                  <a:schemeClr val="dk1"/>
                </a:solidFill>
              </a:rPr>
              <a:t>However, the value of that signal depends heavily on the credibility and recognition of the organisation issuing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Industry-recognised certifications tend to carry more weight because employers trust the standards and evaluation processes behind them. These certifications are often aligned with real job requirements, making them more meaningful in hiring decisions.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On the other hand, general course completion certificates may still show learning effort, but they do not always reflect verified, job-ready ability. Employers are usually aware of this difference and evaluate candidates accordingly.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It is also important to understand that a certificate alone is not enough. A strong portfolio that shows real, applied work is equally important and often plays a major role in demonstrating capability.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In most cases, employers look at both signals together — certification for credibility and portfolio for proof of practical skill.</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e942510cb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e942510cb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program includes three industry-recognised certifications that represent key areas in modern data work. These certifications are not awarded automatically — each one requires demonstrated understanding and readiness before you are allowed to attempt the exam.</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first is </a:t>
            </a:r>
            <a:r>
              <a:rPr b="1" lang="en-GB">
                <a:solidFill>
                  <a:schemeClr val="dk1"/>
                </a:solidFill>
              </a:rPr>
              <a:t>Azure Data Fundamentals (DP-900)</a:t>
            </a:r>
            <a:r>
              <a:rPr lang="en-GB">
                <a:solidFill>
                  <a:schemeClr val="dk1"/>
                </a:solidFill>
              </a:rPr>
              <a:t>, which focuses on core data concepts and cloud-based data services. It builds foundational knowledge of how data is stored, managed, and processed in modern cloud environments.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second is the </a:t>
            </a:r>
            <a:r>
              <a:rPr b="1" lang="en-GB">
                <a:solidFill>
                  <a:schemeClr val="dk1"/>
                </a:solidFill>
              </a:rPr>
              <a:t>SnowPro Core Certification</a:t>
            </a:r>
            <a:r>
              <a:rPr lang="en-GB">
                <a:solidFill>
                  <a:schemeClr val="dk1"/>
                </a:solidFill>
              </a:rPr>
              <a:t>, which is centered around Snowflake and its use in data warehousing, querying, and scalable data solutions used in real-world analytics systems.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third is the </a:t>
            </a:r>
            <a:r>
              <a:rPr b="1" lang="en-GB">
                <a:solidFill>
                  <a:schemeClr val="dk1"/>
                </a:solidFill>
              </a:rPr>
              <a:t>dbt Analytics Engineering Certification</a:t>
            </a:r>
            <a:r>
              <a:rPr lang="en-GB">
                <a:solidFill>
                  <a:schemeClr val="dk1"/>
                </a:solidFill>
              </a:rPr>
              <a:t>, which focuses on transforming and modeling data using dbt, a widely used tool in analytics engineering workflows.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Throughout the program, guided preparation, practice material, and skill checks are provided to help you build readiness for each certification. However, passing is not automatic — knowledge and practical ability must be clearly demonstrated before sitting for the exams.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942510cb8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942510cb8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Certifications show what has been learned, but a portfolio shows what has actually been built and applied. In the job market, employers value both, but they often rely heavily on portfolios to understand real capability.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A strong portfolio demonstrates practical application of skills through real projects, not just theoretical knowledge. Each module in the program contributes directly to building this portfolio, ensuring that learning translates into visible, structured output.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GitHub plays a key role in this process by documenting consistent work, version history, and project progression over time. It provides clear evidence of how skills develop across different stages of learning.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focus should always be on quality over quantity. A few well-executed, meaningful projects are far more valuable than many incomplete or superficial ones.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By starting from Module 1, learners gradually build a strong, organised portfolio that supports both certification and career readiness.</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e942510cb8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e942510cb8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The professional mindset begins when the focus shifts from tools and concepts to the standard you hold for yourself. </a:t>
            </a:r>
            <a:br>
              <a:rPr lang="en-GB">
                <a:solidFill>
                  <a:schemeClr val="dk1"/>
                </a:solidFill>
              </a:rPr>
            </a:br>
            <a:r>
              <a:rPr lang="en-GB">
                <a:solidFill>
                  <a:schemeClr val="dk1"/>
                </a:solidFill>
              </a:rPr>
              <a:t>At this stage, the technical environment is already in place, the core ideas are understood, and the workflow is connected. </a:t>
            </a:r>
            <a:br>
              <a:rPr lang="en-GB">
                <a:solidFill>
                  <a:schemeClr val="dk1"/>
                </a:solidFill>
              </a:rPr>
            </a:br>
            <a:r>
              <a:rPr lang="en-GB">
                <a:solidFill>
                  <a:schemeClr val="dk1"/>
                </a:solidFill>
              </a:rPr>
              <a:t>What matters now is consistency, discipline, and accountability in how you use all of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From this point onward, weekly reflection becomes non-negotiable, ensuring that learning is continuously reviewed and improved. </a:t>
            </a:r>
            <a:br>
              <a:rPr lang="en-GB">
                <a:solidFill>
                  <a:schemeClr val="dk1"/>
                </a:solidFill>
              </a:rPr>
            </a:br>
            <a:r>
              <a:rPr lang="en-GB">
                <a:solidFill>
                  <a:schemeClr val="dk1"/>
                </a:solidFill>
              </a:rPr>
              <a:t>Mock interviews should be practiced early and regularly to build confidence and communication skills over time, rather than at the last minute.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Tracking growth honestly is essential, as it provides a realistic view of progress instead of assumptions or guesswork. </a:t>
            </a:r>
            <a:br>
              <a:rPr lang="en-GB">
                <a:solidFill>
                  <a:schemeClr val="dk1"/>
                </a:solidFill>
              </a:rPr>
            </a:br>
            <a:r>
              <a:rPr lang="en-GB">
                <a:solidFill>
                  <a:schemeClr val="dk1"/>
                </a:solidFill>
              </a:rPr>
              <a:t>Portfolio development should begin from week one, ensuring that every stage of learning contributes to tangible output.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a:solidFill>
                  <a:schemeClr val="dk1"/>
                </a:solidFill>
              </a:rPr>
              <a:t>Ultimately, the certificate reflects effort, consistency, and engagement throughout the program —</a:t>
            </a:r>
            <a:br>
              <a:rPr lang="en-GB">
                <a:solidFill>
                  <a:schemeClr val="dk1"/>
                </a:solidFill>
              </a:rPr>
            </a:br>
            <a:r>
              <a:rPr lang="en-GB">
                <a:solidFill>
                  <a:schemeClr val="dk1"/>
                </a:solidFill>
              </a:rPr>
              <a:t> not just completion. This mindset is what defines how seriously the journey is approached from Day 4 onward.</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d4d2827b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d4d2827b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e9327ae30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e9327ae30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4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500"/>
              <a:buFont typeface="Roboto"/>
              <a:buNone/>
              <a:defRPr sz="2500">
                <a:solidFill>
                  <a:schemeClr val="dk1"/>
                </a:solidFill>
                <a:latin typeface="Roboto"/>
                <a:ea typeface="Roboto"/>
                <a:cs typeface="Roboto"/>
                <a:sym typeface="Robot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7500" lvl="0" marL="4572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1pPr>
            <a:lvl2pPr indent="-317500" lvl="1" marL="9144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2pPr>
            <a:lvl3pPr indent="-317500" lvl="2" marL="13716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3pPr>
            <a:lvl4pPr indent="-317500" lvl="3" marL="18288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4pPr>
            <a:lvl5pPr indent="-317500" lvl="4" marL="22860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5pPr>
            <a:lvl6pPr indent="-317500" lvl="5" marL="27432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6pPr>
            <a:lvl7pPr indent="-317500" lvl="6" marL="32004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7pPr>
            <a:lvl8pPr indent="-317500" lvl="7" marL="36576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8pPr>
            <a:lvl9pPr indent="-317500" lvl="8" marL="4114800">
              <a:lnSpc>
                <a:spcPct val="115000"/>
              </a:lnSpc>
              <a:spcBef>
                <a:spcPts val="0"/>
              </a:spcBef>
              <a:spcAft>
                <a:spcPts val="0"/>
              </a:spcAft>
              <a:buClr>
                <a:srgbClr val="434343"/>
              </a:buClr>
              <a:buSzPts val="1400"/>
              <a:buFont typeface="Roboto"/>
              <a:buChar char="■"/>
              <a:defRPr>
                <a:solidFill>
                  <a:srgbClr val="434343"/>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311700" y="2163275"/>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solidFill>
                  <a:srgbClr val="434343"/>
                </a:solidFill>
                <a:latin typeface="Roboto"/>
                <a:ea typeface="Roboto"/>
                <a:cs typeface="Roboto"/>
                <a:sym typeface="Roboto"/>
              </a:rPr>
              <a:t>Own Your Growth </a:t>
            </a:r>
            <a:endParaRPr>
              <a:solidFill>
                <a:srgbClr val="434343"/>
              </a:solidFill>
              <a:latin typeface="Roboto"/>
              <a:ea typeface="Roboto"/>
              <a:cs typeface="Roboto"/>
              <a:sym typeface="Roboto"/>
            </a:endParaRPr>
          </a:p>
        </p:txBody>
      </p:sp>
      <p:pic>
        <p:nvPicPr>
          <p:cNvPr id="55" name="Google Shape;55;p13"/>
          <p:cNvPicPr preferRelativeResize="0"/>
          <p:nvPr/>
        </p:nvPicPr>
        <p:blipFill>
          <a:blip r:embed="rId3">
            <a:alphaModFix/>
          </a:blip>
          <a:stretch>
            <a:fillRect/>
          </a:stretch>
        </p:blipFill>
        <p:spPr>
          <a:xfrm>
            <a:off x="6599705" y="2163275"/>
            <a:ext cx="1021870" cy="841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 name="Shape 59"/>
        <p:cNvGrpSpPr/>
        <p:nvPr/>
      </p:nvGrpSpPr>
      <p:grpSpPr>
        <a:xfrm>
          <a:off x="0" y="0"/>
          <a:ext cx="0" cy="0"/>
          <a:chOff x="0" y="0"/>
          <a:chExt cx="0" cy="0"/>
        </a:xfrm>
      </p:grpSpPr>
      <p:sp>
        <p:nvSpPr>
          <p:cNvPr id="60" name="Google Shape;60;p14"/>
          <p:cNvSpPr txBox="1"/>
          <p:nvPr/>
        </p:nvSpPr>
        <p:spPr>
          <a:xfrm>
            <a:off x="2564250" y="1809800"/>
            <a:ext cx="4015500" cy="16416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Day 4</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Mock Interviews</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Self Learning</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Clr>
                <a:schemeClr val="dk1"/>
              </a:buClr>
              <a:buSzPts val="1100"/>
              <a:buFont typeface="Arial"/>
              <a:buNone/>
            </a:pPr>
            <a:r>
              <a:rPr lang="en-GB" sz="2400">
                <a:solidFill>
                  <a:srgbClr val="595959"/>
                </a:solidFill>
                <a:latin typeface="Roboto Light"/>
                <a:ea typeface="Roboto Light"/>
                <a:cs typeface="Roboto Light"/>
                <a:sym typeface="Roboto Light"/>
              </a:rPr>
              <a:t>QA</a:t>
            </a:r>
            <a:endParaRPr sz="2400">
              <a:solidFill>
                <a:srgbClr val="595959"/>
              </a:solidFill>
              <a:latin typeface="Roboto Light"/>
              <a:ea typeface="Roboto Light"/>
              <a:cs typeface="Roboto Light"/>
              <a:sym typeface="Roboto Light"/>
            </a:endParaRPr>
          </a:p>
          <a:p>
            <a:pPr indent="0" lvl="0" marL="457200" rtl="0" algn="l">
              <a:spcBef>
                <a:spcPts val="0"/>
              </a:spcBef>
              <a:spcAft>
                <a:spcPts val="0"/>
              </a:spcAft>
              <a:buNone/>
            </a:pPr>
            <a:r>
              <a:t/>
            </a:r>
            <a:endParaRPr sz="2400">
              <a:solidFill>
                <a:srgbClr val="595959"/>
              </a:solidFill>
              <a:latin typeface="Roboto Light"/>
              <a:ea typeface="Roboto Light"/>
              <a:cs typeface="Roboto Light"/>
              <a:sym typeface="Roboto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sz="1100">
                <a:solidFill>
                  <a:schemeClr val="dk1"/>
                </a:solidFill>
              </a:rPr>
              <a:t>Three days of tools, concepts, and technical foundations are now in place.</a:t>
            </a:r>
            <a:r>
              <a:rPr lang="en-GB" sz="1100">
                <a:solidFill>
                  <a:schemeClr val="dk1"/>
                </a:solidFill>
              </a:rPr>
              <a:t> </a:t>
            </a:r>
            <a:br>
              <a:rPr lang="en-GB" sz="1100">
                <a:solidFill>
                  <a:schemeClr val="dk1"/>
                </a:solidFill>
              </a:rPr>
            </a:br>
            <a:r>
              <a:rPr i="1" lang="en-GB" sz="1100">
                <a:solidFill>
                  <a:schemeClr val="dk1"/>
                </a:solidFill>
              </a:rPr>
              <a:t>Day 4 shifts the focus — from what to use, to how to grow.</a:t>
            </a:r>
            <a:r>
              <a:rPr lang="en-GB" sz="1100">
                <a:solidFill>
                  <a:schemeClr val="dk1"/>
                </a:solidFill>
              </a:rPr>
              <a:t> </a:t>
            </a:r>
            <a:br>
              <a:rPr lang="en-GB" sz="1100">
                <a:solidFill>
                  <a:schemeClr val="dk1"/>
                </a:solidFill>
              </a:rPr>
            </a:br>
            <a:br>
              <a:rPr lang="en-GB" sz="1100">
                <a:solidFill>
                  <a:schemeClr val="dk1"/>
                </a:solidFill>
              </a:rPr>
            </a:br>
            <a:r>
              <a:rPr i="1" lang="en-GB" sz="1100">
                <a:solidFill>
                  <a:schemeClr val="dk1"/>
                </a:solidFill>
              </a:rPr>
              <a:t>This is the day that separates learners from professionals.</a:t>
            </a:r>
            <a:endParaRPr i="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Mindset over mechanics today</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Reflection as a skill</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Mock interviews introduced</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Certificates and what they mean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The professional identity begins here</a:t>
            </a:r>
            <a:endParaRPr sz="1100">
              <a:solidFill>
                <a:schemeClr val="dk1"/>
              </a:solidFill>
            </a:endParaRPr>
          </a:p>
          <a:p>
            <a:pPr indent="0" lvl="0" marL="0" rtl="0" algn="l">
              <a:spcBef>
                <a:spcPts val="1200"/>
              </a:spcBef>
              <a:spcAft>
                <a:spcPts val="1200"/>
              </a:spcAft>
              <a:buNone/>
            </a:pPr>
            <a:r>
              <a:t/>
            </a:r>
            <a:endParaRPr i="1" sz="1400">
              <a:solidFill>
                <a:srgbClr val="434343"/>
              </a:solidFill>
              <a:latin typeface="Roboto"/>
              <a:ea typeface="Roboto"/>
              <a:cs typeface="Roboto"/>
              <a:sym typeface="Roboto"/>
            </a:endParaRPr>
          </a:p>
        </p:txBody>
      </p:sp>
      <p:sp>
        <p:nvSpPr>
          <p:cNvPr id="66" name="Google Shape;66;p15"/>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4000"/>
              <a:buFont typeface="Arial"/>
              <a:buNone/>
            </a:pPr>
            <a:r>
              <a:rPr lang="en-GB">
                <a:solidFill>
                  <a:srgbClr val="434343"/>
                </a:solidFill>
                <a:latin typeface="Roboto Medium"/>
                <a:ea typeface="Roboto Medium"/>
                <a:cs typeface="Roboto Medium"/>
                <a:sym typeface="Roboto Medium"/>
              </a:rPr>
              <a:t>Welcome to Day 4</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Clr>
                <a:schemeClr val="dk1"/>
              </a:buClr>
              <a:buSzPct val="44000"/>
              <a:buFont typeface="Arial"/>
              <a:buNone/>
            </a:pPr>
            <a:r>
              <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None/>
            </a:pPr>
            <a:r>
              <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i="1" lang="en-GB"/>
              <a:t>Knowing information is one thing. </a:t>
            </a:r>
            <a:br>
              <a:rPr i="1" lang="en-GB"/>
            </a:br>
            <a:r>
              <a:rPr i="1" lang="en-GB"/>
              <a:t>Becoming a professional is another.</a:t>
            </a:r>
            <a:r>
              <a:rPr lang="en-GB"/>
              <a:t> </a:t>
            </a:r>
            <a:br>
              <a:rPr lang="en-GB"/>
            </a:br>
            <a:r>
              <a:rPr i="1" lang="en-GB"/>
              <a:t>The gap between the two is filled with practice, reflection, and honest self-assessment.</a:t>
            </a:r>
            <a:r>
              <a:rPr lang="en-GB"/>
              <a:t> </a:t>
            </a:r>
            <a:br>
              <a:rPr lang="en-GB"/>
            </a:br>
            <a:r>
              <a:rPr i="1" lang="en-GB"/>
              <a:t>Day 4 is about that gap — and how to close it.</a:t>
            </a:r>
            <a:endParaRPr i="1"/>
          </a:p>
          <a:p>
            <a:pPr indent="-317500" lvl="0" marL="457200" rtl="0" algn="l">
              <a:spcBef>
                <a:spcPts val="1200"/>
              </a:spcBef>
              <a:spcAft>
                <a:spcPts val="0"/>
              </a:spcAft>
              <a:buClr>
                <a:srgbClr val="434343"/>
              </a:buClr>
              <a:buSzPts val="1400"/>
              <a:buFont typeface="Roboto"/>
              <a:buChar char="●"/>
            </a:pPr>
            <a:r>
              <a:rPr lang="en-GB"/>
              <a:t>Knowledge alone is not enough</a:t>
            </a:r>
            <a:endParaRPr/>
          </a:p>
          <a:p>
            <a:pPr indent="-317500" lvl="0" marL="457200" rtl="0" algn="l">
              <a:spcBef>
                <a:spcPts val="0"/>
              </a:spcBef>
              <a:spcAft>
                <a:spcPts val="0"/>
              </a:spcAft>
              <a:buClr>
                <a:srgbClr val="434343"/>
              </a:buClr>
              <a:buSzPts val="1400"/>
              <a:buFont typeface="Roboto"/>
              <a:buChar char="●"/>
            </a:pPr>
            <a:r>
              <a:rPr lang="en-GB"/>
              <a:t>Application builds real skill</a:t>
            </a:r>
            <a:endParaRPr/>
          </a:p>
          <a:p>
            <a:pPr indent="-317500" lvl="0" marL="457200" rtl="0" algn="l">
              <a:spcBef>
                <a:spcPts val="0"/>
              </a:spcBef>
              <a:spcAft>
                <a:spcPts val="0"/>
              </a:spcAft>
              <a:buClr>
                <a:srgbClr val="434343"/>
              </a:buClr>
              <a:buSzPts val="1400"/>
              <a:buFont typeface="Roboto"/>
              <a:buChar char="●"/>
            </a:pPr>
            <a:r>
              <a:rPr lang="en-GB"/>
              <a:t>Reflection accelerates growth</a:t>
            </a:r>
            <a:endParaRPr/>
          </a:p>
          <a:p>
            <a:pPr indent="-317500" lvl="0" marL="457200" rtl="0" algn="l">
              <a:spcBef>
                <a:spcPts val="0"/>
              </a:spcBef>
              <a:spcAft>
                <a:spcPts val="0"/>
              </a:spcAft>
              <a:buClr>
                <a:srgbClr val="434343"/>
              </a:buClr>
              <a:buSzPts val="1400"/>
              <a:buFont typeface="Roboto"/>
              <a:buChar char="●"/>
            </a:pPr>
            <a:r>
              <a:rPr lang="en-GB"/>
              <a:t>Identity shapes performance</a:t>
            </a:r>
            <a:endParaRPr/>
          </a:p>
          <a:p>
            <a:pPr indent="-317500" lvl="0" marL="457200" rtl="0" algn="l">
              <a:spcBef>
                <a:spcPts val="0"/>
              </a:spcBef>
              <a:spcAft>
                <a:spcPts val="0"/>
              </a:spcAft>
              <a:buClr>
                <a:srgbClr val="434343"/>
              </a:buClr>
              <a:buSzPts val="1400"/>
              <a:buFont typeface="Roboto"/>
              <a:buChar char="●"/>
            </a:pPr>
            <a:r>
              <a:rPr lang="en-GB"/>
              <a:t>Professionals are built not born</a:t>
            </a:r>
            <a:endParaRPr/>
          </a:p>
          <a:p>
            <a:pPr indent="0" lvl="0" marL="0" rtl="0" algn="l">
              <a:spcBef>
                <a:spcPts val="1200"/>
              </a:spcBef>
              <a:spcAft>
                <a:spcPts val="1200"/>
              </a:spcAft>
              <a:buNone/>
            </a:pPr>
            <a:r>
              <a:t/>
            </a:r>
            <a:endParaRPr i="1"/>
          </a:p>
        </p:txBody>
      </p:sp>
      <p:sp>
        <p:nvSpPr>
          <p:cNvPr id="72" name="Google Shape;72;p16"/>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Shift From Learning to Becoming</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Mock Interview</a:t>
            </a:r>
            <a:endParaRPr>
              <a:solidFill>
                <a:srgbClr val="434343"/>
              </a:solidFill>
              <a:latin typeface="Roboto Medium"/>
              <a:ea typeface="Roboto Medium"/>
              <a:cs typeface="Roboto Medium"/>
              <a:sym typeface="Roboto Medium"/>
            </a:endParaRPr>
          </a:p>
        </p:txBody>
      </p:sp>
      <p:pic>
        <p:nvPicPr>
          <p:cNvPr id="78" name="Google Shape;78;p17"/>
          <p:cNvPicPr preferRelativeResize="0"/>
          <p:nvPr/>
        </p:nvPicPr>
        <p:blipFill>
          <a:blip r:embed="rId3">
            <a:alphaModFix/>
          </a:blip>
          <a:stretch>
            <a:fillRect/>
          </a:stretch>
        </p:blipFill>
        <p:spPr>
          <a:xfrm>
            <a:off x="1477250" y="1204775"/>
            <a:ext cx="6189495" cy="38209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idx="4294967295" type="body"/>
          </p:nvPr>
        </p:nvSpPr>
        <p:spPr>
          <a:xfrm>
            <a:off x="671425" y="1152475"/>
            <a:ext cx="71670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i="1" lang="en-GB"/>
              <a:t>A mock interview is a structured practice session that simulates a real job interview.</a:t>
            </a:r>
            <a:r>
              <a:rPr lang="en-GB"/>
              <a:t> </a:t>
            </a:r>
            <a:r>
              <a:rPr i="1" lang="en-GB"/>
              <a:t>It is not a test — it is a training environment.</a:t>
            </a:r>
            <a:r>
              <a:rPr lang="en-GB"/>
              <a:t> </a:t>
            </a:r>
            <a:r>
              <a:rPr i="1" lang="en-GB"/>
              <a:t>The earlier the practice begins, the more natural the real thing becomes.</a:t>
            </a:r>
            <a:r>
              <a:rPr lang="en-GB"/>
              <a:t> </a:t>
            </a:r>
            <a:endParaRPr/>
          </a:p>
          <a:p>
            <a:pPr indent="-317500" lvl="0" marL="457200" rtl="0" algn="l">
              <a:spcBef>
                <a:spcPts val="1200"/>
              </a:spcBef>
              <a:spcAft>
                <a:spcPts val="0"/>
              </a:spcAft>
              <a:buSzPts val="1400"/>
              <a:buChar char="●"/>
            </a:pPr>
            <a:r>
              <a:rPr lang="en-GB"/>
              <a:t>Simulated professional interview</a:t>
            </a:r>
            <a:endParaRPr/>
          </a:p>
          <a:p>
            <a:pPr indent="-317500" lvl="0" marL="457200" rtl="0" algn="l">
              <a:spcBef>
                <a:spcPts val="0"/>
              </a:spcBef>
              <a:spcAft>
                <a:spcPts val="0"/>
              </a:spcAft>
              <a:buSzPts val="1400"/>
              <a:buChar char="●"/>
            </a:pPr>
            <a:r>
              <a:rPr lang="en-GB"/>
              <a:t>Safe environment to make mistakes</a:t>
            </a:r>
            <a:endParaRPr/>
          </a:p>
          <a:p>
            <a:pPr indent="-317500" lvl="0" marL="457200" rtl="0" algn="l">
              <a:spcBef>
                <a:spcPts val="0"/>
              </a:spcBef>
              <a:spcAft>
                <a:spcPts val="0"/>
              </a:spcAft>
              <a:buSzPts val="1400"/>
              <a:buChar char="●"/>
            </a:pPr>
            <a:r>
              <a:rPr lang="en-GB"/>
              <a:t>Builds confidence through repetition</a:t>
            </a:r>
            <a:endParaRPr/>
          </a:p>
          <a:p>
            <a:pPr indent="-317500" lvl="0" marL="457200" rtl="0" algn="l">
              <a:spcBef>
                <a:spcPts val="0"/>
              </a:spcBef>
              <a:spcAft>
                <a:spcPts val="0"/>
              </a:spcAft>
              <a:buSzPts val="1400"/>
              <a:buChar char="●"/>
            </a:pPr>
            <a:r>
              <a:rPr lang="en-GB"/>
              <a:t>Reveals gaps before they matter</a:t>
            </a:r>
            <a:endParaRPr/>
          </a:p>
          <a:p>
            <a:pPr indent="-317500" lvl="0" marL="457200" rtl="0" algn="l">
              <a:spcBef>
                <a:spcPts val="0"/>
              </a:spcBef>
              <a:spcAft>
                <a:spcPts val="0"/>
              </a:spcAft>
              <a:buSzPts val="1400"/>
              <a:buChar char="●"/>
            </a:pPr>
            <a:r>
              <a:rPr lang="en-GB"/>
              <a:t>Standard in professional development programs</a:t>
            </a:r>
            <a:endParaRPr/>
          </a:p>
          <a:p>
            <a:pPr indent="0" lvl="0" marL="0" rtl="0" algn="l">
              <a:spcBef>
                <a:spcPts val="1200"/>
              </a:spcBef>
              <a:spcAft>
                <a:spcPts val="1200"/>
              </a:spcAft>
              <a:buNone/>
            </a:pPr>
            <a:r>
              <a:t/>
            </a:r>
            <a:endParaRPr sz="1100">
              <a:solidFill>
                <a:schemeClr val="dk1"/>
              </a:solidFill>
              <a:latin typeface="Arial"/>
              <a:ea typeface="Arial"/>
              <a:cs typeface="Arial"/>
              <a:sym typeface="Arial"/>
            </a:endParaRPr>
          </a:p>
        </p:txBody>
      </p:sp>
      <p:sp>
        <p:nvSpPr>
          <p:cNvPr id="84" name="Google Shape;84;p18"/>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Mock Interview</a:t>
            </a:r>
            <a:endParaRPr>
              <a:solidFill>
                <a:srgbClr val="434343"/>
              </a:solidFill>
              <a:latin typeface="Roboto Medium"/>
              <a:ea typeface="Roboto Medium"/>
              <a:cs typeface="Roboto Medium"/>
              <a:sym typeface="Roboto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a:solidFill>
                  <a:schemeClr val="dk1"/>
                </a:solidFill>
              </a:rPr>
              <a:t>Most people prepare for interviews weeks before applying.</a:t>
            </a:r>
            <a:r>
              <a:rPr lang="en-GB">
                <a:solidFill>
                  <a:schemeClr val="dk1"/>
                </a:solidFill>
              </a:rPr>
              <a:t> </a:t>
            </a:r>
            <a:br>
              <a:rPr lang="en-GB">
                <a:solidFill>
                  <a:schemeClr val="dk1"/>
                </a:solidFill>
              </a:rPr>
            </a:br>
            <a:r>
              <a:rPr i="1" lang="en-GB">
                <a:solidFill>
                  <a:schemeClr val="dk1"/>
                </a:solidFill>
              </a:rPr>
              <a:t>That is too late — the habits and confidence needed take time to build.</a:t>
            </a:r>
            <a:r>
              <a:rPr lang="en-GB">
                <a:solidFill>
                  <a:schemeClr val="dk1"/>
                </a:solidFill>
              </a:rPr>
              <a:t> </a:t>
            </a:r>
            <a:br>
              <a:rPr lang="en-GB">
                <a:solidFill>
                  <a:schemeClr val="dk1"/>
                </a:solidFill>
              </a:rPr>
            </a:br>
            <a:r>
              <a:rPr i="1" lang="en-GB">
                <a:solidFill>
                  <a:schemeClr val="dk1"/>
                </a:solidFill>
              </a:rPr>
              <a:t>Starting in Module 1 means arriving at job applications already prepared.</a:t>
            </a:r>
            <a:endParaRPr i="1">
              <a:solidFill>
                <a:schemeClr val="dk1"/>
              </a:solidFill>
            </a:endParaRPr>
          </a:p>
          <a:p>
            <a:pPr indent="-317500" lvl="0" marL="457200" rtl="0" algn="l">
              <a:spcBef>
                <a:spcPts val="1200"/>
              </a:spcBef>
              <a:spcAft>
                <a:spcPts val="0"/>
              </a:spcAft>
              <a:buClr>
                <a:schemeClr val="dk1"/>
              </a:buClr>
              <a:buSzPts val="1400"/>
              <a:buFont typeface="Roboto"/>
              <a:buChar char="●"/>
            </a:pPr>
            <a:r>
              <a:rPr lang="en-GB">
                <a:solidFill>
                  <a:schemeClr val="dk1"/>
                </a:solidFill>
              </a:rPr>
              <a:t>Confidence is built not found</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Early practice compounds over time</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Removes fear of the unknown</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Identifies weak areas now</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Months of preparation not days</a:t>
            </a:r>
            <a:endParaRPr>
              <a:solidFill>
                <a:schemeClr val="dk1"/>
              </a:solidFill>
            </a:endParaRPr>
          </a:p>
          <a:p>
            <a:pPr indent="0" lvl="0" marL="0" rtl="0" algn="l">
              <a:spcBef>
                <a:spcPts val="1200"/>
              </a:spcBef>
              <a:spcAft>
                <a:spcPts val="1200"/>
              </a:spcAft>
              <a:buNone/>
            </a:pPr>
            <a:r>
              <a:t/>
            </a:r>
            <a:endParaRPr i="1"/>
          </a:p>
        </p:txBody>
      </p:sp>
      <p:sp>
        <p:nvSpPr>
          <p:cNvPr id="90" name="Google Shape;90;p19"/>
          <p:cNvSpPr txBox="1"/>
          <p:nvPr>
            <p:ph idx="4294967295"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Why Mock Interviews Matter Early</a:t>
            </a:r>
            <a:endParaRPr>
              <a:solidFill>
                <a:srgbClr val="434343"/>
              </a:solidFill>
              <a:latin typeface="Roboto Medium"/>
              <a:ea typeface="Roboto Medium"/>
              <a:cs typeface="Roboto Medium"/>
              <a:sym typeface="Roboto Medium"/>
            </a:endParaRPr>
          </a:p>
        </p:txBody>
      </p:sp>
      <p:pic>
        <p:nvPicPr>
          <p:cNvPr id="91" name="Google Shape;91;p19"/>
          <p:cNvPicPr preferRelativeResize="0"/>
          <p:nvPr/>
        </p:nvPicPr>
        <p:blipFill>
          <a:blip r:embed="rId3">
            <a:alphaModFix/>
          </a:blip>
          <a:stretch>
            <a:fillRect/>
          </a:stretch>
        </p:blipFill>
        <p:spPr>
          <a:xfrm>
            <a:off x="5593320" y="2272275"/>
            <a:ext cx="2702550" cy="1965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How to Approach a Mock Interview </a:t>
            </a:r>
            <a:endParaRPr>
              <a:solidFill>
                <a:srgbClr val="434343"/>
              </a:solidFill>
              <a:latin typeface="Roboto Medium"/>
              <a:ea typeface="Roboto Medium"/>
              <a:cs typeface="Roboto Medium"/>
              <a:sym typeface="Roboto Medium"/>
            </a:endParaRPr>
          </a:p>
        </p:txBody>
      </p:sp>
      <p:sp>
        <p:nvSpPr>
          <p:cNvPr id="97" name="Google Shape;97;p20"/>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a:solidFill>
                  <a:schemeClr val="dk1"/>
                </a:solidFill>
              </a:rPr>
              <a:t>Preparation, presence, and reflection are the three pillars of a strong mock interview.</a:t>
            </a:r>
            <a:r>
              <a:rPr lang="en-GB">
                <a:solidFill>
                  <a:schemeClr val="dk1"/>
                </a:solidFill>
              </a:rPr>
              <a:t> </a:t>
            </a:r>
            <a:br>
              <a:rPr lang="en-GB">
                <a:solidFill>
                  <a:schemeClr val="dk1"/>
                </a:solidFill>
              </a:rPr>
            </a:br>
            <a:r>
              <a:rPr i="1" lang="en-GB">
                <a:solidFill>
                  <a:schemeClr val="dk1"/>
                </a:solidFill>
              </a:rPr>
              <a:t>The goal is not to perform perfectly — it is to learn something every time.</a:t>
            </a:r>
            <a:r>
              <a:rPr lang="en-GB">
                <a:solidFill>
                  <a:schemeClr val="dk1"/>
                </a:solidFill>
              </a:rPr>
              <a:t> </a:t>
            </a:r>
            <a:br>
              <a:rPr lang="en-GB">
                <a:solidFill>
                  <a:schemeClr val="dk1"/>
                </a:solidFill>
              </a:rPr>
            </a:br>
            <a:br>
              <a:rPr lang="en-GB">
                <a:solidFill>
                  <a:schemeClr val="dk1"/>
                </a:solidFill>
              </a:rPr>
            </a:br>
            <a:r>
              <a:rPr i="1" lang="en-GB">
                <a:solidFill>
                  <a:schemeClr val="dk1"/>
                </a:solidFill>
              </a:rPr>
              <a:t>Every session should end with at least one concrete improvement noted.</a:t>
            </a:r>
            <a:endParaRPr i="1">
              <a:solidFill>
                <a:schemeClr val="dk1"/>
              </a:solidFill>
            </a:endParaRPr>
          </a:p>
          <a:p>
            <a:pPr indent="-317500" lvl="0" marL="457200" rtl="0" algn="l">
              <a:spcBef>
                <a:spcPts val="1200"/>
              </a:spcBef>
              <a:spcAft>
                <a:spcPts val="0"/>
              </a:spcAft>
              <a:buClr>
                <a:schemeClr val="dk1"/>
              </a:buClr>
              <a:buSzPts val="1400"/>
              <a:buFont typeface="Roboto"/>
              <a:buChar char="●"/>
            </a:pPr>
            <a:r>
              <a:rPr lang="en-GB">
                <a:solidFill>
                  <a:schemeClr val="dk1"/>
                </a:solidFill>
              </a:rPr>
              <a:t>Prepare one answer in advance</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Speak slowly and clearly</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Listen before answering</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Record and review performance</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Improve one thing each time</a:t>
            </a:r>
            <a:endParaRPr>
              <a:solidFill>
                <a:schemeClr val="dk1"/>
              </a:solidFill>
            </a:endParaRPr>
          </a:p>
          <a:p>
            <a:pPr indent="0" lvl="0" marL="0" rtl="0" algn="l">
              <a:spcBef>
                <a:spcPts val="1200"/>
              </a:spcBef>
              <a:spcAft>
                <a:spcPts val="1200"/>
              </a:spcAft>
              <a:buNone/>
            </a:pPr>
            <a:r>
              <a:t/>
            </a:r>
            <a:endParaRPr i="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671500" y="445025"/>
            <a:ext cx="8160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44000"/>
              <a:buFont typeface="Arial"/>
              <a:buNone/>
            </a:pPr>
            <a:r>
              <a:rPr lang="en-GB">
                <a:solidFill>
                  <a:srgbClr val="434343"/>
                </a:solidFill>
                <a:latin typeface="Roboto Medium"/>
                <a:ea typeface="Roboto Medium"/>
                <a:cs typeface="Roboto Medium"/>
                <a:sym typeface="Roboto Medium"/>
              </a:rPr>
              <a:t>What Employers in Data Actually Look For</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Clr>
                <a:schemeClr val="dk1"/>
              </a:buClr>
              <a:buSzPct val="44000"/>
              <a:buFont typeface="Arial"/>
              <a:buNone/>
            </a:pPr>
            <a:r>
              <a:t/>
            </a:r>
            <a:endParaRPr>
              <a:solidFill>
                <a:srgbClr val="434343"/>
              </a:solidFill>
              <a:latin typeface="Roboto Medium"/>
              <a:ea typeface="Roboto Medium"/>
              <a:cs typeface="Roboto Medium"/>
              <a:sym typeface="Roboto Medium"/>
            </a:endParaRPr>
          </a:p>
          <a:p>
            <a:pPr indent="0" lvl="0" marL="0" rtl="0" algn="l">
              <a:spcBef>
                <a:spcPts val="0"/>
              </a:spcBef>
              <a:spcAft>
                <a:spcPts val="0"/>
              </a:spcAft>
              <a:buNone/>
            </a:pPr>
            <a:r>
              <a:t/>
            </a:r>
            <a:endParaRPr>
              <a:solidFill>
                <a:srgbClr val="434343"/>
              </a:solidFill>
              <a:latin typeface="Roboto Medium"/>
              <a:ea typeface="Roboto Medium"/>
              <a:cs typeface="Roboto Medium"/>
              <a:sym typeface="Roboto Medium"/>
            </a:endParaRPr>
          </a:p>
        </p:txBody>
      </p:sp>
      <p:sp>
        <p:nvSpPr>
          <p:cNvPr id="103" name="Google Shape;103;p21"/>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i="1" lang="en-GB"/>
              <a:t>Technical skills open the door. Everything else determines how far one goes.</a:t>
            </a:r>
            <a:br>
              <a:rPr i="1" lang="en-GB"/>
            </a:br>
            <a:endParaRPr/>
          </a:p>
          <a:p>
            <a:pPr indent="0" lvl="0" marL="0" rtl="0" algn="l">
              <a:spcBef>
                <a:spcPts val="1200"/>
              </a:spcBef>
              <a:spcAft>
                <a:spcPts val="0"/>
              </a:spcAft>
              <a:buClr>
                <a:schemeClr val="dk1"/>
              </a:buClr>
              <a:buSzPts val="1100"/>
              <a:buFont typeface="Arial"/>
              <a:buNone/>
            </a:pPr>
            <a:r>
              <a:rPr i="1" lang="en-GB"/>
              <a:t>Employers consistently report that communication and </a:t>
            </a:r>
            <a:br>
              <a:rPr i="1" lang="en-GB"/>
            </a:br>
            <a:r>
              <a:rPr i="1" lang="en-GB"/>
              <a:t>problem-solving matter as much as code.</a:t>
            </a:r>
            <a:r>
              <a:rPr lang="en-GB"/>
              <a:t> </a:t>
            </a:r>
            <a:br>
              <a:rPr lang="en-GB"/>
            </a:br>
            <a:r>
              <a:rPr i="1" lang="en-GB"/>
              <a:t>This is not soft advice — it is what hiring managers say in every market.</a:t>
            </a:r>
            <a:endParaRPr i="1"/>
          </a:p>
          <a:p>
            <a:pPr indent="-317500" lvl="0" marL="457200" rtl="0" algn="l">
              <a:spcBef>
                <a:spcPts val="1200"/>
              </a:spcBef>
              <a:spcAft>
                <a:spcPts val="0"/>
              </a:spcAft>
              <a:buClr>
                <a:srgbClr val="434343"/>
              </a:buClr>
              <a:buSzPts val="1400"/>
              <a:buFont typeface="Roboto"/>
              <a:buChar char="●"/>
            </a:pPr>
            <a:r>
              <a:rPr lang="en-GB"/>
              <a:t>Clear and confident communication</a:t>
            </a:r>
            <a:endParaRPr/>
          </a:p>
          <a:p>
            <a:pPr indent="-317500" lvl="0" marL="457200" rtl="0" algn="l">
              <a:spcBef>
                <a:spcPts val="0"/>
              </a:spcBef>
              <a:spcAft>
                <a:spcPts val="0"/>
              </a:spcAft>
              <a:buClr>
                <a:srgbClr val="434343"/>
              </a:buClr>
              <a:buSzPts val="1400"/>
              <a:buFont typeface="Roboto"/>
              <a:buChar char="●"/>
            </a:pPr>
            <a:r>
              <a:rPr lang="en-GB"/>
              <a:t>Structured problem-solving approach</a:t>
            </a:r>
            <a:endParaRPr/>
          </a:p>
          <a:p>
            <a:pPr indent="-317500" lvl="0" marL="457200" rtl="0" algn="l">
              <a:spcBef>
                <a:spcPts val="0"/>
              </a:spcBef>
              <a:spcAft>
                <a:spcPts val="0"/>
              </a:spcAft>
              <a:buClr>
                <a:srgbClr val="434343"/>
              </a:buClr>
              <a:buSzPts val="1400"/>
              <a:buFont typeface="Roboto"/>
              <a:buChar char="●"/>
            </a:pPr>
            <a:r>
              <a:rPr lang="en-GB"/>
              <a:t>Curiosity and continuous learning</a:t>
            </a:r>
            <a:endParaRPr/>
          </a:p>
          <a:p>
            <a:pPr indent="-317500" lvl="0" marL="457200" rtl="0" algn="l">
              <a:spcBef>
                <a:spcPts val="0"/>
              </a:spcBef>
              <a:spcAft>
                <a:spcPts val="0"/>
              </a:spcAft>
              <a:buClr>
                <a:srgbClr val="434343"/>
              </a:buClr>
              <a:buSzPts val="1400"/>
              <a:buFont typeface="Roboto"/>
              <a:buChar char="●"/>
            </a:pPr>
            <a:r>
              <a:rPr lang="en-GB"/>
              <a:t>Reliability and professionalism</a:t>
            </a:r>
            <a:endParaRPr/>
          </a:p>
          <a:p>
            <a:pPr indent="-317500" lvl="0" marL="457200" rtl="0" algn="l">
              <a:spcBef>
                <a:spcPts val="0"/>
              </a:spcBef>
              <a:spcAft>
                <a:spcPts val="0"/>
              </a:spcAft>
              <a:buClr>
                <a:srgbClr val="434343"/>
              </a:buClr>
              <a:buSzPts val="1400"/>
              <a:buFont typeface="Roboto"/>
              <a:buChar char="●"/>
            </a:pPr>
            <a:r>
              <a:rPr lang="en-GB"/>
              <a:t>Portfolio that shows real work</a:t>
            </a:r>
            <a:endParaRPr/>
          </a:p>
          <a:p>
            <a:pPr indent="0" lvl="0" marL="0" rtl="0" algn="l">
              <a:spcBef>
                <a:spcPts val="1200"/>
              </a:spcBef>
              <a:spcAft>
                <a:spcPts val="1200"/>
              </a:spcAft>
              <a:buNone/>
            </a:pPr>
            <a:r>
              <a:t/>
            </a:r>
            <a:endParaRPr i="1"/>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The Art of Self-Learning</a:t>
            </a:r>
            <a:endParaRPr>
              <a:solidFill>
                <a:srgbClr val="434343"/>
              </a:solidFill>
              <a:latin typeface="Roboto Medium"/>
              <a:ea typeface="Roboto Medium"/>
              <a:cs typeface="Roboto Medium"/>
              <a:sym typeface="Roboto Medium"/>
            </a:endParaRPr>
          </a:p>
        </p:txBody>
      </p:sp>
      <p:sp>
        <p:nvSpPr>
          <p:cNvPr id="109" name="Google Shape;109;p22"/>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a:solidFill>
                  <a:schemeClr val="dk1"/>
                </a:solidFill>
              </a:rPr>
              <a:t>No program can teach everything. The best professionals fill the gaps themselves.</a:t>
            </a:r>
            <a:r>
              <a:rPr lang="en-GB">
                <a:solidFill>
                  <a:schemeClr val="dk1"/>
                </a:solidFill>
              </a:rPr>
              <a:t> </a:t>
            </a:r>
            <a:r>
              <a:rPr i="1" lang="en-GB">
                <a:solidFill>
                  <a:schemeClr val="dk1"/>
                </a:solidFill>
              </a:rPr>
              <a:t>Self-learning is not browsing YouTube — it is a deliberate, structured approach to acquiring knowledge.</a:t>
            </a:r>
            <a:r>
              <a:rPr lang="en-GB">
                <a:solidFill>
                  <a:schemeClr val="dk1"/>
                </a:solidFill>
              </a:rPr>
              <a:t> </a:t>
            </a:r>
            <a:r>
              <a:rPr i="1" lang="en-GB">
                <a:solidFill>
                  <a:schemeClr val="dk1"/>
                </a:solidFill>
              </a:rPr>
              <a:t>It is one of the most valued skills in any data role.</a:t>
            </a:r>
            <a:endParaRPr i="1">
              <a:solidFill>
                <a:schemeClr val="dk1"/>
              </a:solidFill>
            </a:endParaRPr>
          </a:p>
          <a:p>
            <a:pPr indent="-317500" lvl="0" marL="457200" rtl="0" algn="l">
              <a:spcBef>
                <a:spcPts val="1200"/>
              </a:spcBef>
              <a:spcAft>
                <a:spcPts val="0"/>
              </a:spcAft>
              <a:buClr>
                <a:schemeClr val="dk1"/>
              </a:buClr>
              <a:buSzPts val="1400"/>
              <a:buFont typeface="Roboto"/>
              <a:buChar char="●"/>
            </a:pPr>
            <a:r>
              <a:rPr lang="en-GB">
                <a:solidFill>
                  <a:schemeClr val="dk1"/>
                </a:solidFill>
              </a:rPr>
              <a:t>Active not passive learning</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Structured exploration with purpose</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Ask questions seek answers</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Document everything learned</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Build knowledge that compounds</a:t>
            </a:r>
            <a:endParaRPr>
              <a:solidFill>
                <a:schemeClr val="dk1"/>
              </a:solidFill>
            </a:endParaRPr>
          </a:p>
          <a:p>
            <a:pPr indent="0" lvl="0" marL="0" rtl="0" algn="l">
              <a:spcBef>
                <a:spcPts val="1200"/>
              </a:spcBef>
              <a:spcAft>
                <a:spcPts val="1200"/>
              </a:spcAft>
              <a:buNone/>
            </a:pPr>
            <a:r>
              <a:t/>
            </a:r>
            <a:endParaRPr i="1">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Self-Learning Strategies That Work </a:t>
            </a:r>
            <a:endParaRPr>
              <a:solidFill>
                <a:srgbClr val="434343"/>
              </a:solidFill>
              <a:latin typeface="Roboto Medium"/>
              <a:ea typeface="Roboto Medium"/>
              <a:cs typeface="Roboto Medium"/>
              <a:sym typeface="Roboto Medium"/>
            </a:endParaRPr>
          </a:p>
        </p:txBody>
      </p:sp>
      <p:sp>
        <p:nvSpPr>
          <p:cNvPr id="115" name="Google Shape;115;p23"/>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16" name="Google Shape;116;p23"/>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a:t>Not all study methods are equal — some build understanding, others create the illusion of it.</a:t>
            </a:r>
            <a:r>
              <a:rPr lang="en-GB"/>
              <a:t> </a:t>
            </a:r>
            <a:r>
              <a:rPr i="1" lang="en-GB"/>
              <a:t>The strategies below are proven to produce retention and real capability.</a:t>
            </a:r>
            <a:r>
              <a:rPr lang="en-GB"/>
              <a:t> </a:t>
            </a:r>
            <a:r>
              <a:rPr i="1" lang="en-GB"/>
              <a:t>Apply them from Week 1 and carry them through the entire program.</a:t>
            </a:r>
            <a:endParaRPr i="1"/>
          </a:p>
          <a:p>
            <a:pPr indent="-317500" lvl="0" marL="457200" rtl="0" algn="l">
              <a:spcBef>
                <a:spcPts val="1200"/>
              </a:spcBef>
              <a:spcAft>
                <a:spcPts val="0"/>
              </a:spcAft>
              <a:buClr>
                <a:srgbClr val="434343"/>
              </a:buClr>
              <a:buSzPts val="1400"/>
              <a:buFont typeface="Roboto"/>
              <a:buChar char="●"/>
            </a:pPr>
            <a:r>
              <a:rPr lang="en-GB"/>
              <a:t>Teach back what was learned</a:t>
            </a:r>
            <a:endParaRPr/>
          </a:p>
          <a:p>
            <a:pPr indent="-317500" lvl="0" marL="457200" rtl="0" algn="l">
              <a:spcBef>
                <a:spcPts val="0"/>
              </a:spcBef>
              <a:spcAft>
                <a:spcPts val="0"/>
              </a:spcAft>
              <a:buClr>
                <a:srgbClr val="434343"/>
              </a:buClr>
              <a:buSzPts val="1400"/>
              <a:buFont typeface="Roboto"/>
              <a:buChar char="●"/>
            </a:pPr>
            <a:r>
              <a:rPr lang="en-GB"/>
              <a:t>Build small projects immediately</a:t>
            </a:r>
            <a:endParaRPr/>
          </a:p>
          <a:p>
            <a:pPr indent="-317500" lvl="0" marL="457200" rtl="0" algn="l">
              <a:spcBef>
                <a:spcPts val="0"/>
              </a:spcBef>
              <a:spcAft>
                <a:spcPts val="0"/>
              </a:spcAft>
              <a:buClr>
                <a:srgbClr val="434343"/>
              </a:buClr>
              <a:buSzPts val="1400"/>
              <a:buFont typeface="Roboto"/>
              <a:buChar char="●"/>
            </a:pPr>
            <a:r>
              <a:rPr lang="en-GB"/>
              <a:t>Take notes in own words</a:t>
            </a:r>
            <a:endParaRPr/>
          </a:p>
          <a:p>
            <a:pPr indent="-317500" lvl="0" marL="457200" rtl="0" algn="l">
              <a:spcBef>
                <a:spcPts val="0"/>
              </a:spcBef>
              <a:spcAft>
                <a:spcPts val="0"/>
              </a:spcAft>
              <a:buClr>
                <a:srgbClr val="434343"/>
              </a:buClr>
              <a:buSzPts val="1400"/>
              <a:buFont typeface="Roboto"/>
              <a:buChar char="●"/>
            </a:pPr>
            <a:r>
              <a:rPr lang="en-GB"/>
              <a:t>Review within 24 hours</a:t>
            </a:r>
            <a:endParaRPr/>
          </a:p>
          <a:p>
            <a:pPr indent="-317500" lvl="0" marL="457200" rtl="0" algn="l">
              <a:spcBef>
                <a:spcPts val="0"/>
              </a:spcBef>
              <a:spcAft>
                <a:spcPts val="0"/>
              </a:spcAft>
              <a:buClr>
                <a:srgbClr val="434343"/>
              </a:buClr>
              <a:buSzPts val="1400"/>
              <a:buFont typeface="Roboto"/>
              <a:buChar char="●"/>
            </a:pPr>
            <a:r>
              <a:rPr lang="en-GB"/>
              <a:t>Ask for feedback consistently</a:t>
            </a:r>
            <a:endParaRPr/>
          </a:p>
          <a:p>
            <a:pPr indent="0" lvl="0" marL="0" rtl="0" algn="l">
              <a:spcBef>
                <a:spcPts val="1200"/>
              </a:spcBef>
              <a:spcAft>
                <a:spcPts val="1200"/>
              </a:spcAft>
              <a:buNone/>
            </a:pPr>
            <a:r>
              <a:t/>
            </a:r>
            <a:endParaRPr i="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Building a Learning System </a:t>
            </a:r>
            <a:endParaRPr>
              <a:solidFill>
                <a:srgbClr val="434343"/>
              </a:solidFill>
              <a:latin typeface="Roboto Medium"/>
              <a:ea typeface="Roboto Medium"/>
              <a:cs typeface="Roboto Medium"/>
              <a:sym typeface="Roboto Medium"/>
            </a:endParaRPr>
          </a:p>
        </p:txBody>
      </p:sp>
      <p:sp>
        <p:nvSpPr>
          <p:cNvPr id="122" name="Google Shape;122;p24"/>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123" name="Google Shape;123;p24"/>
          <p:cNvSpPr txBox="1"/>
          <p:nvPr>
            <p:ph idx="4294967295" type="body"/>
          </p:nvPr>
        </p:nvSpPr>
        <p:spPr>
          <a:xfrm>
            <a:off x="671425" y="1152475"/>
            <a:ext cx="71670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i="1" lang="en-GB">
                <a:solidFill>
                  <a:schemeClr val="dk1"/>
                </a:solidFill>
              </a:rPr>
              <a:t>Habits are helpful. Systems are more powerful.</a:t>
            </a:r>
            <a:r>
              <a:rPr lang="en-GB">
                <a:solidFill>
                  <a:schemeClr val="dk1"/>
                </a:solidFill>
              </a:rPr>
              <a:t> </a:t>
            </a:r>
            <a:br>
              <a:rPr lang="en-GB">
                <a:solidFill>
                  <a:schemeClr val="dk1"/>
                </a:solidFill>
              </a:rPr>
            </a:br>
            <a:r>
              <a:rPr i="1" lang="en-GB">
                <a:solidFill>
                  <a:schemeClr val="dk1"/>
                </a:solidFill>
              </a:rPr>
              <a:t>A learning system combines tools, time, reflection, and community into one repeatable process.</a:t>
            </a:r>
            <a:r>
              <a:rPr lang="en-GB">
                <a:solidFill>
                  <a:schemeClr val="dk1"/>
                </a:solidFill>
              </a:rPr>
              <a:t> </a:t>
            </a:r>
            <a:br>
              <a:rPr lang="en-GB">
                <a:solidFill>
                  <a:schemeClr val="dk1"/>
                </a:solidFill>
              </a:rPr>
            </a:br>
            <a:br>
              <a:rPr lang="en-GB">
                <a:solidFill>
                  <a:schemeClr val="dk1"/>
                </a:solidFill>
              </a:rPr>
            </a:br>
            <a:r>
              <a:rPr i="1" lang="en-GB">
                <a:solidFill>
                  <a:schemeClr val="dk1"/>
                </a:solidFill>
              </a:rPr>
              <a:t>This program provides the structure — the discipline is individual.</a:t>
            </a:r>
            <a:endParaRPr i="1">
              <a:solidFill>
                <a:schemeClr val="dk1"/>
              </a:solidFill>
            </a:endParaRPr>
          </a:p>
          <a:p>
            <a:pPr indent="-317500" lvl="0" marL="457200" rtl="0" algn="l">
              <a:spcBef>
                <a:spcPts val="1200"/>
              </a:spcBef>
              <a:spcAft>
                <a:spcPts val="0"/>
              </a:spcAft>
              <a:buClr>
                <a:schemeClr val="dk1"/>
              </a:buClr>
              <a:buSzPts val="1400"/>
              <a:buFont typeface="Roboto"/>
              <a:buChar char="●"/>
            </a:pPr>
            <a:r>
              <a:rPr lang="en-GB">
                <a:solidFill>
                  <a:schemeClr val="dk1"/>
                </a:solidFill>
              </a:rPr>
              <a:t>Fixed weekly study blocks</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Notes stored and reviewed</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GitHub tracks every commit</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Slack community for support</a:t>
            </a:r>
            <a:endParaRPr>
              <a:solidFill>
                <a:schemeClr val="dk1"/>
              </a:solidFill>
            </a:endParaRPr>
          </a:p>
          <a:p>
            <a:pPr indent="-317500" lvl="0" marL="457200" rtl="0" algn="l">
              <a:spcBef>
                <a:spcPts val="0"/>
              </a:spcBef>
              <a:spcAft>
                <a:spcPts val="0"/>
              </a:spcAft>
              <a:buClr>
                <a:schemeClr val="dk1"/>
              </a:buClr>
              <a:buSzPts val="1400"/>
              <a:buFont typeface="Roboto"/>
              <a:buChar char="●"/>
            </a:pPr>
            <a:r>
              <a:rPr lang="en-GB">
                <a:solidFill>
                  <a:schemeClr val="dk1"/>
                </a:solidFill>
              </a:rPr>
              <a:t>Reflection closes every week</a:t>
            </a:r>
            <a:endParaRPr>
              <a:solidFill>
                <a:schemeClr val="dk1"/>
              </a:solidFill>
            </a:endParaRPr>
          </a:p>
          <a:p>
            <a:pPr indent="0" lvl="0" marL="0" rtl="0" algn="l">
              <a:spcBef>
                <a:spcPts val="1200"/>
              </a:spcBef>
              <a:spcAft>
                <a:spcPts val="1200"/>
              </a:spcAft>
              <a:buNone/>
            </a:pPr>
            <a:r>
              <a:t/>
            </a:r>
            <a:endParaRPr i="1"/>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Failure Is Data Too</a:t>
            </a:r>
            <a:endParaRPr>
              <a:solidFill>
                <a:srgbClr val="434343"/>
              </a:solidFill>
              <a:latin typeface="Roboto Medium"/>
              <a:ea typeface="Roboto Medium"/>
              <a:cs typeface="Roboto Medium"/>
              <a:sym typeface="Roboto Medium"/>
            </a:endParaRPr>
          </a:p>
        </p:txBody>
      </p:sp>
      <p:sp>
        <p:nvSpPr>
          <p:cNvPr id="129" name="Google Shape;129;p25"/>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Every error, every wrong answer, every struggled concept contains information.</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The instinct to avoid failure is human — but in data work, failure is feedback.</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Reframing mistakes as data points is one of the most powerful professional mindset shifts.</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Mistakes reveal knowledge gaps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Gaps are fixable with action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Avoidance compounds the problem</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Review errors before moving on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Every failure is a data point</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6"/>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Is the Comfortability Index?</a:t>
            </a:r>
            <a:endParaRPr>
              <a:solidFill>
                <a:srgbClr val="434343"/>
              </a:solidFill>
              <a:latin typeface="Roboto Medium"/>
              <a:ea typeface="Roboto Medium"/>
              <a:cs typeface="Roboto Medium"/>
              <a:sym typeface="Roboto Medium"/>
            </a:endParaRPr>
          </a:p>
        </p:txBody>
      </p:sp>
      <p:sp>
        <p:nvSpPr>
          <p:cNvPr id="135" name="Google Shape;135;p26"/>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The Comfortability Index is a personal rating of confidence with new skills and concepts.</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It is not a grade — it is a self-awareness tool.</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Tracking it weekly creates an honest picture of growth over time.</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Personal confidence rating 1–5</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Rated after each day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No right or wrong answer</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Reveals patterns over weeks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Honesty makes it useful</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How to Use the Comfortability Index </a:t>
            </a:r>
            <a:endParaRPr>
              <a:solidFill>
                <a:srgbClr val="434343"/>
              </a:solidFill>
              <a:latin typeface="Roboto Medium"/>
              <a:ea typeface="Roboto Medium"/>
              <a:cs typeface="Roboto Medium"/>
              <a:sym typeface="Roboto Medium"/>
            </a:endParaRPr>
          </a:p>
        </p:txBody>
      </p:sp>
      <p:sp>
        <p:nvSpPr>
          <p:cNvPr id="141" name="Google Shape;141;p27"/>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42" name="Google Shape;142;p27"/>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The index only works if it is used honestly and consistently.</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A rating of 1 is not failure — it is information that guides what to revisit.</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A rating of 4 without evidence is just optimism.</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Rate after every day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Note the reason for the rating</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Flag anything rated below 3</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Revisit flagged topics that week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Track the trend not the number</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Tracking Progress Without Perfectionism </a:t>
            </a:r>
            <a:endParaRPr>
              <a:solidFill>
                <a:srgbClr val="434343"/>
              </a:solidFill>
              <a:latin typeface="Roboto Medium"/>
              <a:ea typeface="Roboto Medium"/>
              <a:cs typeface="Roboto Medium"/>
              <a:sym typeface="Roboto Medium"/>
            </a:endParaRPr>
          </a:p>
        </p:txBody>
      </p:sp>
      <p:sp>
        <p:nvSpPr>
          <p:cNvPr id="148" name="Google Shape;148;p28"/>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49" name="Google Shape;149;p28"/>
          <p:cNvSpPr txBox="1"/>
          <p:nvPr/>
        </p:nvSpPr>
        <p:spPr>
          <a:xfrm>
            <a:off x="671500" y="1225500"/>
            <a:ext cx="7167000" cy="318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Progress in data education is rarely linear.</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Some weeks will feel like breakthroughs. </a:t>
            </a:r>
            <a:br>
              <a:rPr i="1"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Others will feel like regression.</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Both are normal — </a:t>
            </a:r>
            <a:br>
              <a:rPr i="1"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and both show up in the data if tracked honestly.</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Progress is not always visible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Small wins compound over time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Compare to last week not others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Track consistently not selectively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The trend matters most</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Is Weekly Reflection?</a:t>
            </a:r>
            <a:endParaRPr>
              <a:solidFill>
                <a:srgbClr val="434343"/>
              </a:solidFill>
              <a:latin typeface="Roboto Medium"/>
              <a:ea typeface="Roboto Medium"/>
              <a:cs typeface="Roboto Medium"/>
              <a:sym typeface="Roboto Medium"/>
            </a:endParaRPr>
          </a:p>
        </p:txBody>
      </p:sp>
      <p:sp>
        <p:nvSpPr>
          <p:cNvPr id="155" name="Google Shape;155;p29"/>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56" name="Google Shape;156;p29"/>
          <p:cNvSpPr txBox="1"/>
          <p:nvPr/>
        </p:nvSpPr>
        <p:spPr>
          <a:xfrm>
            <a:off x="671500" y="1225500"/>
            <a:ext cx="7167000" cy="318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Weekly reflection is a structured review of what was learned, </a:t>
            </a:r>
            <a:br>
              <a:rPr i="1"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what was difficult, and what comes next.</a:t>
            </a:r>
            <a:br>
              <a:rPr i="1" lang="en-GB">
                <a:solidFill>
                  <a:schemeClr val="dk1"/>
                </a:solidFill>
                <a:latin typeface="Roboto"/>
                <a:ea typeface="Roboto"/>
                <a:cs typeface="Roboto"/>
                <a:sym typeface="Roboto"/>
              </a:rPr>
            </a:br>
            <a:br>
              <a:rPr i="1" lang="en-GB">
                <a:solidFill>
                  <a:schemeClr val="dk1"/>
                </a:solidFill>
                <a:latin typeface="Roboto"/>
                <a:ea typeface="Roboto"/>
                <a:cs typeface="Roboto"/>
                <a:sym typeface="Roboto"/>
              </a:rPr>
            </a:b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It is not a diary entry — it is a professional practice used in the best teams in the world.</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Building this habit in Week 1 means it is second nature by Week 24.</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Structured end-of-week review</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Covers learning challenges and wins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Takes no more than 15 minutes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Stored and reviewed over time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Used by high-performing teams globally</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How to Reflect Effectively?</a:t>
            </a:r>
            <a:endParaRPr>
              <a:solidFill>
                <a:srgbClr val="434343"/>
              </a:solidFill>
              <a:latin typeface="Roboto Medium"/>
              <a:ea typeface="Roboto Medium"/>
              <a:cs typeface="Roboto Medium"/>
              <a:sym typeface="Roboto Medium"/>
            </a:endParaRPr>
          </a:p>
        </p:txBody>
      </p:sp>
      <p:sp>
        <p:nvSpPr>
          <p:cNvPr id="162" name="Google Shape;162;p30"/>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63" name="Google Shape;163;p30"/>
          <p:cNvSpPr txBox="1"/>
          <p:nvPr/>
        </p:nvSpPr>
        <p:spPr>
          <a:xfrm>
            <a:off x="671500" y="1225500"/>
            <a:ext cx="7167000" cy="318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Three questions are enough to make weekly reflection genuinely useful.</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Vague answers produce vague growth — </a:t>
            </a:r>
            <a:br>
              <a:rPr i="1"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specificity is what makes reflection powerful.</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The goal is not to feel good about the week. It is to understand it.</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What was learned this week?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What felt difficult and why?</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What will change next week?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Be specific not general</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Honest answers only</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The Dataskools Certificate </a:t>
            </a:r>
            <a:endParaRPr>
              <a:solidFill>
                <a:srgbClr val="434343"/>
              </a:solidFill>
              <a:latin typeface="Roboto Medium"/>
              <a:ea typeface="Roboto Medium"/>
              <a:cs typeface="Roboto Medium"/>
              <a:sym typeface="Roboto Medium"/>
            </a:endParaRPr>
          </a:p>
        </p:txBody>
      </p:sp>
      <p:sp>
        <p:nvSpPr>
          <p:cNvPr id="169" name="Google Shape;169;p31"/>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70" name="Google Shape;170;p31"/>
          <p:cNvSpPr txBox="1"/>
          <p:nvPr/>
        </p:nvSpPr>
        <p:spPr>
          <a:xfrm>
            <a:off x="671500" y="1225500"/>
            <a:ext cx="7167000" cy="293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The Dataskools Certificate is awarded upon successful completion of the program.</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It is not given automatically — it is earned through demonstrated knowledge and completed work.</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Grade achievement and project submissions are both required.</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Awarded on completion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Requires minimum grade standard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All projects must be submitted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Attendance and participation assessed</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Earned not handed out</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2"/>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What Certificates Actually Mean in the Market </a:t>
            </a:r>
            <a:endParaRPr>
              <a:solidFill>
                <a:srgbClr val="434343"/>
              </a:solidFill>
              <a:latin typeface="Roboto Medium"/>
              <a:ea typeface="Roboto Medium"/>
              <a:cs typeface="Roboto Medium"/>
              <a:sym typeface="Roboto Medium"/>
            </a:endParaRPr>
          </a:p>
        </p:txBody>
      </p:sp>
      <p:sp>
        <p:nvSpPr>
          <p:cNvPr id="176" name="Google Shape;176;p32"/>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77" name="Google Shape;177;p32"/>
          <p:cNvSpPr txBox="1"/>
          <p:nvPr/>
        </p:nvSpPr>
        <p:spPr>
          <a:xfrm>
            <a:off x="671500" y="1225500"/>
            <a:ext cx="7167000" cy="293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A certificate is a signal — it tells an employer what has been demonstrated.</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The strength of that signal depends entirely on the credibility behind the certification.</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Industry-recognised certifications carry weight that general course completions do not.</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Signals verified knowledge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Credibility varies by issuer</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Industry certs carry real weight</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Employers know the difference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Portfolio still matters alongside it</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3"/>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3 Program Certifications </a:t>
            </a:r>
            <a:endParaRPr>
              <a:solidFill>
                <a:srgbClr val="434343"/>
              </a:solidFill>
              <a:latin typeface="Roboto Medium"/>
              <a:ea typeface="Roboto Medium"/>
              <a:cs typeface="Roboto Medium"/>
              <a:sym typeface="Roboto Medium"/>
            </a:endParaRPr>
          </a:p>
        </p:txBody>
      </p:sp>
      <p:sp>
        <p:nvSpPr>
          <p:cNvPr id="183" name="Google Shape;183;p33"/>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84" name="Google Shape;184;p33"/>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rgbClr val="434343"/>
                </a:solidFill>
                <a:latin typeface="Roboto"/>
                <a:ea typeface="Roboto"/>
                <a:cs typeface="Roboto"/>
                <a:sym typeface="Roboto"/>
              </a:rPr>
              <a:t>Three industry-recognised certifications are available through this program.</a:t>
            </a:r>
            <a:r>
              <a:rPr lang="en-GB">
                <a:solidFill>
                  <a:srgbClr val="434343"/>
                </a:solidFill>
                <a:latin typeface="Roboto"/>
                <a:ea typeface="Roboto"/>
                <a:cs typeface="Roboto"/>
                <a:sym typeface="Roboto"/>
              </a:rPr>
              <a:t> </a:t>
            </a:r>
            <a:br>
              <a:rPr lang="en-GB">
                <a:solidFill>
                  <a:srgbClr val="434343"/>
                </a:solidFill>
                <a:latin typeface="Roboto"/>
                <a:ea typeface="Roboto"/>
                <a:cs typeface="Roboto"/>
                <a:sym typeface="Roboto"/>
              </a:rPr>
            </a:br>
            <a:r>
              <a:rPr i="1" lang="en-GB">
                <a:solidFill>
                  <a:srgbClr val="434343"/>
                </a:solidFill>
                <a:latin typeface="Roboto"/>
                <a:ea typeface="Roboto"/>
                <a:cs typeface="Roboto"/>
                <a:sym typeface="Roboto"/>
              </a:rPr>
              <a:t>None are automatic — each requires demonstrated readiness before sitting the exam.</a:t>
            </a:r>
            <a:r>
              <a:rPr lang="en-GB">
                <a:solidFill>
                  <a:srgbClr val="434343"/>
                </a:solidFill>
                <a:latin typeface="Roboto"/>
                <a:ea typeface="Roboto"/>
                <a:cs typeface="Roboto"/>
                <a:sym typeface="Roboto"/>
              </a:rPr>
              <a:t> </a:t>
            </a:r>
            <a:r>
              <a:rPr i="1" lang="en-GB">
                <a:solidFill>
                  <a:srgbClr val="434343"/>
                </a:solidFill>
                <a:latin typeface="Roboto"/>
                <a:ea typeface="Roboto"/>
                <a:cs typeface="Roboto"/>
                <a:sym typeface="Roboto"/>
              </a:rPr>
              <a:t>Guided preparation and skill checks are built into the program for all three.</a:t>
            </a:r>
            <a:endParaRPr i="1">
              <a:solidFill>
                <a:srgbClr val="434343"/>
              </a:solidFill>
              <a:latin typeface="Roboto"/>
              <a:ea typeface="Roboto"/>
              <a:cs typeface="Roboto"/>
              <a:sym typeface="Roboto"/>
            </a:endParaRPr>
          </a:p>
          <a:p>
            <a:pPr indent="-317500" lvl="0" marL="457200" rtl="0" algn="l">
              <a:lnSpc>
                <a:spcPct val="115000"/>
              </a:lnSpc>
              <a:spcBef>
                <a:spcPts val="1200"/>
              </a:spcBef>
              <a:spcAft>
                <a:spcPts val="0"/>
              </a:spcAft>
              <a:buClr>
                <a:srgbClr val="434343"/>
              </a:buClr>
              <a:buSzPts val="1400"/>
              <a:buFont typeface="Roboto"/>
              <a:buChar char="●"/>
            </a:pPr>
            <a:r>
              <a:rPr lang="en-GB">
                <a:solidFill>
                  <a:srgbClr val="434343"/>
                </a:solidFill>
                <a:latin typeface="Roboto"/>
                <a:ea typeface="Roboto"/>
                <a:cs typeface="Roboto"/>
                <a:sym typeface="Roboto"/>
              </a:rPr>
              <a:t>Azure Data Fundamentals DP-900</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SnowPro Core Certification</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dbt Analytics Engineering Certification</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Guidance and prep included</a:t>
            </a:r>
            <a:endParaRPr>
              <a:solidFill>
                <a:srgbClr val="434343"/>
              </a:solidFill>
              <a:latin typeface="Roboto"/>
              <a:ea typeface="Roboto"/>
              <a:cs typeface="Roboto"/>
              <a:sym typeface="Roboto"/>
            </a:endParaRPr>
          </a:p>
          <a:p>
            <a:pPr indent="-317500" lvl="0" marL="457200" rtl="0" algn="l">
              <a:lnSpc>
                <a:spcPct val="115000"/>
              </a:lnSpc>
              <a:spcBef>
                <a:spcPts val="0"/>
              </a:spcBef>
              <a:spcAft>
                <a:spcPts val="0"/>
              </a:spcAft>
              <a:buClr>
                <a:srgbClr val="434343"/>
              </a:buClr>
              <a:buSzPts val="1400"/>
              <a:buFont typeface="Roboto"/>
              <a:buChar char="●"/>
            </a:pPr>
            <a:r>
              <a:rPr lang="en-GB">
                <a:solidFill>
                  <a:srgbClr val="434343"/>
                </a:solidFill>
                <a:latin typeface="Roboto"/>
                <a:ea typeface="Roboto"/>
                <a:cs typeface="Roboto"/>
                <a:sym typeface="Roboto"/>
              </a:rPr>
              <a:t>Knowledge must be proven first</a:t>
            </a:r>
            <a:endParaRPr>
              <a:solidFill>
                <a:srgbClr val="434343"/>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Building a Portfolio Alongside Certifications </a:t>
            </a:r>
            <a:endParaRPr>
              <a:solidFill>
                <a:srgbClr val="434343"/>
              </a:solidFill>
              <a:latin typeface="Roboto Medium"/>
              <a:ea typeface="Roboto Medium"/>
              <a:cs typeface="Roboto Medium"/>
              <a:sym typeface="Roboto Medium"/>
            </a:endParaRPr>
          </a:p>
        </p:txBody>
      </p:sp>
      <p:sp>
        <p:nvSpPr>
          <p:cNvPr id="190" name="Google Shape;190;p34"/>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91" name="Google Shape;191;p34"/>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Certifications answer the question: what has been learned?</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A portfolio answers the question: what has been built?</a:t>
            </a:r>
            <a:r>
              <a:rPr lang="en-GB">
                <a:solidFill>
                  <a:schemeClr val="dk1"/>
                </a:solidFill>
                <a:latin typeface="Roboto"/>
                <a:ea typeface="Roboto"/>
                <a:cs typeface="Roboto"/>
                <a:sym typeface="Roboto"/>
              </a:rPr>
              <a:t> </a:t>
            </a:r>
            <a:br>
              <a:rPr lang="en-GB">
                <a:solidFill>
                  <a:schemeClr val="dk1"/>
                </a:solidFill>
                <a:latin typeface="Roboto"/>
                <a:ea typeface="Roboto"/>
                <a:cs typeface="Roboto"/>
                <a:sym typeface="Roboto"/>
              </a:rPr>
            </a:br>
            <a:r>
              <a:rPr i="1" lang="en-GB">
                <a:solidFill>
                  <a:schemeClr val="dk1"/>
                </a:solidFill>
                <a:latin typeface="Roboto"/>
                <a:ea typeface="Roboto"/>
                <a:cs typeface="Roboto"/>
                <a:sym typeface="Roboto"/>
              </a:rPr>
              <a:t>The strongest candidates arriving at interviews bring both.</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GitHub shows consistent work</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Projects demonstrate real application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Each module produces portfolio material</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Quality over quantity always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Start building from Module 1</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rgbClr val="434343"/>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671500" y="445025"/>
            <a:ext cx="8160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434343"/>
                </a:solidFill>
                <a:latin typeface="Roboto Medium"/>
                <a:ea typeface="Roboto Medium"/>
                <a:cs typeface="Roboto Medium"/>
                <a:sym typeface="Roboto Medium"/>
              </a:rPr>
              <a:t>The Professional Mindset Starts Here </a:t>
            </a:r>
            <a:endParaRPr>
              <a:solidFill>
                <a:srgbClr val="434343"/>
              </a:solidFill>
              <a:latin typeface="Roboto Medium"/>
              <a:ea typeface="Roboto Medium"/>
              <a:cs typeface="Roboto Medium"/>
              <a:sym typeface="Roboto Medium"/>
            </a:endParaRPr>
          </a:p>
        </p:txBody>
      </p:sp>
      <p:sp>
        <p:nvSpPr>
          <p:cNvPr id="197" name="Google Shape;197;p35"/>
          <p:cNvSpPr txBox="1"/>
          <p:nvPr/>
        </p:nvSpPr>
        <p:spPr>
          <a:xfrm>
            <a:off x="671500" y="1225500"/>
            <a:ext cx="716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latin typeface="Roboto"/>
              <a:ea typeface="Roboto"/>
              <a:cs typeface="Roboto"/>
              <a:sym typeface="Roboto"/>
            </a:endParaRPr>
          </a:p>
        </p:txBody>
      </p:sp>
      <p:sp>
        <p:nvSpPr>
          <p:cNvPr id="198" name="Google Shape;198;p35"/>
          <p:cNvSpPr txBox="1"/>
          <p:nvPr/>
        </p:nvSpPr>
        <p:spPr>
          <a:xfrm>
            <a:off x="671500" y="1225500"/>
            <a:ext cx="7167000" cy="269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i="1" lang="en-GB">
                <a:solidFill>
                  <a:schemeClr val="dk1"/>
                </a:solidFill>
                <a:latin typeface="Roboto"/>
                <a:ea typeface="Roboto"/>
                <a:cs typeface="Roboto"/>
                <a:sym typeface="Roboto"/>
              </a:rPr>
              <a:t>The technical environment is set. The concepts are understood. The tools are connected.</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What remains is the most important element — the standard held for oneself.</a:t>
            </a:r>
            <a:r>
              <a:rPr lang="en-GB">
                <a:solidFill>
                  <a:schemeClr val="dk1"/>
                </a:solidFill>
                <a:latin typeface="Roboto"/>
                <a:ea typeface="Roboto"/>
                <a:cs typeface="Roboto"/>
                <a:sym typeface="Roboto"/>
              </a:rPr>
              <a:t> </a:t>
            </a:r>
            <a:r>
              <a:rPr i="1" lang="en-GB">
                <a:solidFill>
                  <a:schemeClr val="dk1"/>
                </a:solidFill>
                <a:latin typeface="Roboto"/>
                <a:ea typeface="Roboto"/>
                <a:cs typeface="Roboto"/>
                <a:sym typeface="Roboto"/>
              </a:rPr>
              <a:t>That standard, built and maintained from Day 4 onwards, is what the program is really about.</a:t>
            </a:r>
            <a:endParaRPr i="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GB">
                <a:solidFill>
                  <a:schemeClr val="dk1"/>
                </a:solidFill>
                <a:latin typeface="Roboto"/>
                <a:ea typeface="Roboto"/>
                <a:cs typeface="Roboto"/>
                <a:sym typeface="Roboto"/>
              </a:rPr>
              <a:t>Reflect every week without fail</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Practice interviews early and often</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Track growth honestly over time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Build portfolio from day one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GB">
                <a:solidFill>
                  <a:schemeClr val="dk1"/>
                </a:solidFill>
                <a:latin typeface="Roboto"/>
                <a:ea typeface="Roboto"/>
                <a:cs typeface="Roboto"/>
                <a:sym typeface="Roboto"/>
              </a:rPr>
              <a:t>The certificate reflects the effort</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i="1">
              <a:solidFill>
                <a:schemeClr val="dk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2308800" y="2285400"/>
            <a:ext cx="4526400" cy="572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sz="2400">
                <a:solidFill>
                  <a:srgbClr val="434343"/>
                </a:solidFill>
                <a:latin typeface="Roboto Light"/>
                <a:ea typeface="Roboto Light"/>
                <a:cs typeface="Roboto Light"/>
                <a:sym typeface="Roboto Light"/>
              </a:rPr>
              <a:t>Have Questions?</a:t>
            </a:r>
            <a:endParaRPr sz="2400">
              <a:solidFill>
                <a:srgbClr val="434343"/>
              </a:solidFill>
              <a:latin typeface="Roboto Light"/>
              <a:ea typeface="Roboto Light"/>
              <a:cs typeface="Roboto Light"/>
              <a:sym typeface="Roboto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7" name="Shape 207"/>
        <p:cNvGrpSpPr/>
        <p:nvPr/>
      </p:nvGrpSpPr>
      <p:grpSpPr>
        <a:xfrm>
          <a:off x="0" y="0"/>
          <a:ext cx="0" cy="0"/>
          <a:chOff x="0" y="0"/>
          <a:chExt cx="0" cy="0"/>
        </a:xfrm>
      </p:grpSpPr>
      <p:pic>
        <p:nvPicPr>
          <p:cNvPr id="208" name="Google Shape;208;p37"/>
          <p:cNvPicPr preferRelativeResize="0"/>
          <p:nvPr/>
        </p:nvPicPr>
        <p:blipFill>
          <a:blip r:embed="rId3">
            <a:alphaModFix/>
          </a:blip>
          <a:stretch>
            <a:fillRect/>
          </a:stretch>
        </p:blipFill>
        <p:spPr>
          <a:xfrm>
            <a:off x="2738237" y="1911028"/>
            <a:ext cx="3667526" cy="1321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