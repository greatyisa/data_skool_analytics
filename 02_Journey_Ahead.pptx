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embeddedFontLst>
    <p:embeddedFont>
      <p:font typeface="Roboto"/>
      <p:regular r:id="rId32"/>
      <p:bold r:id="rId33"/>
      <p:italic r:id="rId34"/>
      <p:boldItalic r:id="rId35"/>
    </p:embeddedFont>
    <p:embeddedFont>
      <p:font typeface="Roboto Medium"/>
      <p:regular r:id="rId36"/>
      <p:bold r:id="rId37"/>
      <p:italic r:id="rId38"/>
      <p:boldItalic r:id="rId39"/>
    </p:embeddedFont>
    <p:embeddedFont>
      <p:font typeface="Roboto Light"/>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Light-regular.fntdata"/><Relationship Id="rId20" Type="http://schemas.openxmlformats.org/officeDocument/2006/relationships/slide" Target="slides/slide15.xml"/><Relationship Id="rId42" Type="http://schemas.openxmlformats.org/officeDocument/2006/relationships/font" Target="fonts/RobotoLight-italic.fntdata"/><Relationship Id="rId41" Type="http://schemas.openxmlformats.org/officeDocument/2006/relationships/font" Target="fonts/RobotoLight-bold.fntdata"/><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font" Target="fonts/RobotoLight-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bold.fntdata"/><Relationship Id="rId10" Type="http://schemas.openxmlformats.org/officeDocument/2006/relationships/slide" Target="slides/slide5.xml"/><Relationship Id="rId32" Type="http://schemas.openxmlformats.org/officeDocument/2006/relationships/font" Target="fonts/Roboto-regular.fntdata"/><Relationship Id="rId13" Type="http://schemas.openxmlformats.org/officeDocument/2006/relationships/slide" Target="slides/slide8.xml"/><Relationship Id="rId35" Type="http://schemas.openxmlformats.org/officeDocument/2006/relationships/font" Target="fonts/Roboto-boldItalic.fntdata"/><Relationship Id="rId12" Type="http://schemas.openxmlformats.org/officeDocument/2006/relationships/slide" Target="slides/slide7.xml"/><Relationship Id="rId34" Type="http://schemas.openxmlformats.org/officeDocument/2006/relationships/font" Target="fonts/Roboto-italic.fntdata"/><Relationship Id="rId15" Type="http://schemas.openxmlformats.org/officeDocument/2006/relationships/slide" Target="slides/slide10.xml"/><Relationship Id="rId37" Type="http://schemas.openxmlformats.org/officeDocument/2006/relationships/font" Target="fonts/RobotoMedium-bold.fntdata"/><Relationship Id="rId14" Type="http://schemas.openxmlformats.org/officeDocument/2006/relationships/slide" Target="slides/slide9.xml"/><Relationship Id="rId36" Type="http://schemas.openxmlformats.org/officeDocument/2006/relationships/font" Target="fonts/RobotoMedium-regular.fntdata"/><Relationship Id="rId17" Type="http://schemas.openxmlformats.org/officeDocument/2006/relationships/slide" Target="slides/slide12.xml"/><Relationship Id="rId39" Type="http://schemas.openxmlformats.org/officeDocument/2006/relationships/font" Target="fonts/RobotoMedium-boldItalic.fntdata"/><Relationship Id="rId16" Type="http://schemas.openxmlformats.org/officeDocument/2006/relationships/slide" Target="slides/slide11.xml"/><Relationship Id="rId38" Type="http://schemas.openxmlformats.org/officeDocument/2006/relationships/font" Target="fonts/RobotoMedium-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e9327ae30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e9327ae30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Introduction: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Good [morning/afternoon/evening], everyone! My name is [Your Name], and I’m excited to be here with you today.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Today, we’re going to talk about something that’s all around us—statistics and mathematics.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Engaging the Audience: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Now, math and statistics aren’t just about numbers on a page. They help us understand patterns, make predictions, and solve real-world problems.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Some people find math fascinating and fun, while others might think it’s boring. And let’s be honest—it can feel that way if we don’t understand 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Real-World Applications: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But think about this: math is everywhere!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It’s in sports, helping teams analyze player performance.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It’s in weather forecasts, predicting whether we need an umbrella tomorrow.</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It’s even in the apps we use every day, from social media to online shopping.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Making Math Fun: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When we start seeing math as a tool for discovery, it becomes exciting. It’s like solving a puzzle, uncovering patterns, and making sense of the world.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And when we understand it, it brings a smile to our faces! But if we don’t, it can be frustrating.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Closing: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So, let’s embrace the challenge, explore the possibilities, and make this journey of learning math an enjoyable one!</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3fb626590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3fb626590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Welcome everyone to the second session of Dataskools, and congratulations on continuing this exciting learning journey with us.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the first session, we explored the vision behind Data Engineering and AI Cloud and understood why these skills are shaping the future of technology.</a:t>
            </a:r>
            <a:br>
              <a:rPr lang="en-GB">
                <a:solidFill>
                  <a:schemeClr val="dk1"/>
                </a:solidFill>
              </a:rPr>
            </a:br>
            <a:r>
              <a:rPr lang="en-GB">
                <a:solidFill>
                  <a:schemeClr val="dk1"/>
                </a:solidFill>
              </a:rPr>
              <a:t>Today, we’ll move one step further and start understanding the complete structure of the program in detail.</a:t>
            </a:r>
            <a:br>
              <a:rPr lang="en-GB">
                <a:solidFill>
                  <a:schemeClr val="dk1"/>
                </a:solidFill>
              </a:rPr>
            </a:br>
            <a:r>
              <a:rPr lang="en-GB">
                <a:solidFill>
                  <a:schemeClr val="dk1"/>
                </a:solidFill>
              </a:rPr>
              <a:t>We’ll walk through the roadmap, learning tracks, projects, certifications, and the overall journey planned for you in the coming months.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session is designed to give you clarity on how the program is organized and how each module connects to real industry skills.</a:t>
            </a:r>
            <a:br>
              <a:rPr lang="en-GB">
                <a:solidFill>
                  <a:schemeClr val="dk1"/>
                </a:solidFill>
              </a:rPr>
            </a:br>
            <a:r>
              <a:rPr lang="en-GB">
                <a:solidFill>
                  <a:schemeClr val="dk1"/>
                </a:solidFill>
              </a:rPr>
              <a:t>You’ll also understand what technologies you’ll learn, how practical learning will happen, and what outcomes you can expect at every stage.</a:t>
            </a:r>
            <a:br>
              <a:rPr lang="en-GB">
                <a:solidFill>
                  <a:schemeClr val="dk1"/>
                </a:solidFill>
              </a:rPr>
            </a:br>
            <a:r>
              <a:rPr lang="en-GB">
                <a:solidFill>
                  <a:schemeClr val="dk1"/>
                </a:solidFill>
              </a:rPr>
              <a:t>Remember, every expert once started exactly where you are today — by learning the basics step by step.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So don’t worry about mastering everything immediately; focus on consistency, curiosity, and active participation.</a:t>
            </a:r>
            <a:br>
              <a:rPr lang="en-GB">
                <a:solidFill>
                  <a:schemeClr val="dk1"/>
                </a:solidFill>
              </a:rPr>
            </a:br>
            <a:r>
              <a:rPr lang="en-GB">
                <a:solidFill>
                  <a:schemeClr val="dk1"/>
                </a:solidFill>
              </a:rPr>
              <a:t>Make the most of this opportunity by asking questions, engaging in discussions, and practicing regularly throughout the program.</a:t>
            </a:r>
            <a:endParaRPr>
              <a:solidFill>
                <a:schemeClr val="dk1"/>
              </a:solidFill>
            </a:endParaRPr>
          </a:p>
          <a:p>
            <a:pPr indent="0" lvl="0" marL="0" rtl="0" algn="l">
              <a:lnSpc>
                <a:spcPct val="115000"/>
              </a:lnSpc>
              <a:spcBef>
                <a:spcPts val="1200"/>
              </a:spcBef>
              <a:spcAft>
                <a:spcPts val="1200"/>
              </a:spcAft>
              <a:buNone/>
            </a:pPr>
            <a:r>
              <a:rPr lang="en-GB">
                <a:solidFill>
                  <a:schemeClr val="dk1"/>
                </a:solidFill>
              </a:rPr>
              <a:t>Let’s begin today’s session by exploring the complete program structure and understanding the exciting roadmap ahead. </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41c314c87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41c314c87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When we designed this program, we kept one important thing in mind — most people never start because they think they are “not technical enough” </a:t>
            </a:r>
            <a:br>
              <a:rPr lang="en-GB">
                <a:solidFill>
                  <a:schemeClr val="dk1"/>
                </a:solidFill>
              </a:rPr>
            </a:br>
            <a:r>
              <a:rPr lang="en-GB">
                <a:solidFill>
                  <a:schemeClr val="dk1"/>
                </a:solidFill>
              </a:rPr>
              <a:t>or that they need years of coding experience before entering the data field. But the reality is very different. </a:t>
            </a:r>
            <a:br>
              <a:rPr lang="en-GB">
                <a:solidFill>
                  <a:schemeClr val="dk1"/>
                </a:solidFill>
              </a:rPr>
            </a:br>
            <a:r>
              <a:rPr lang="en-GB">
                <a:solidFill>
                  <a:schemeClr val="dk1"/>
                </a:solidFill>
              </a:rPr>
              <a:t>The hardest part is simply showing up and committing to the process, and by being here today, you’ve already crossed that first barrier. </a:t>
            </a:r>
            <a:br>
              <a:rPr lang="en-GB">
                <a:solidFill>
                  <a:schemeClr val="dk1"/>
                </a:solidFill>
              </a:rPr>
            </a:br>
            <a:r>
              <a:rPr lang="en-GB">
                <a:solidFill>
                  <a:schemeClr val="dk1"/>
                </a:solidFill>
              </a:rPr>
              <a:t>Over the next 24 weeks, we’re going to follow one clear and structured roadmap </a:t>
            </a:r>
            <a:br>
              <a:rPr lang="en-GB">
                <a:solidFill>
                  <a:schemeClr val="dk1"/>
                </a:solidFill>
              </a:rPr>
            </a:br>
            <a:r>
              <a:rPr lang="en-GB">
                <a:solidFill>
                  <a:schemeClr val="dk1"/>
                </a:solidFill>
              </a:rPr>
              <a:t>that takes you from beginner concepts to real-world data engineering workflows. </a:t>
            </a:r>
            <a:br>
              <a:rPr lang="en-GB">
                <a:solidFill>
                  <a:schemeClr val="dk1"/>
                </a:solidFill>
              </a:rPr>
            </a:br>
            <a:r>
              <a:rPr lang="en-GB">
                <a:solidFill>
                  <a:schemeClr val="dk1"/>
                </a:solidFill>
              </a:rPr>
              <a:t>You’ll learn how modern teams work with data using cloud tools, AI-assisted workflows, dashboards, databases, and automation. </a:t>
            </a:r>
            <a:br>
              <a:rPr lang="en-GB">
                <a:solidFill>
                  <a:schemeClr val="dk1"/>
                </a:solidFill>
              </a:rPr>
            </a:br>
            <a:br>
              <a:rPr lang="en-GB">
                <a:solidFill>
                  <a:schemeClr val="dk1"/>
                </a:solidFill>
              </a:rPr>
            </a:br>
            <a:r>
              <a:rPr lang="en-GB">
                <a:solidFill>
                  <a:schemeClr val="dk1"/>
                </a:solidFill>
              </a:rPr>
              <a:t>We are not expecting perfection from day one, and you do not need a computer science degree to succeed here. </a:t>
            </a:r>
            <a:br>
              <a:rPr lang="en-GB">
                <a:solidFill>
                  <a:schemeClr val="dk1"/>
                </a:solidFill>
              </a:rPr>
            </a:br>
            <a:r>
              <a:rPr lang="en-GB">
                <a:solidFill>
                  <a:schemeClr val="dk1"/>
                </a:solidFill>
              </a:rPr>
              <a:t>What matters much more is consistency, curiosity, and the willingness to keep learning even when topics feel unfamiliar at first. </a:t>
            </a:r>
            <a:br>
              <a:rPr lang="en-GB">
                <a:solidFill>
                  <a:schemeClr val="dk1"/>
                </a:solidFill>
              </a:rPr>
            </a:br>
            <a:r>
              <a:rPr lang="en-GB">
                <a:solidFill>
                  <a:schemeClr val="dk1"/>
                </a:solidFill>
              </a:rPr>
              <a:t>Some concepts may take time to click, and that is completely normal. </a:t>
            </a:r>
            <a:br>
              <a:rPr lang="en-GB">
                <a:solidFill>
                  <a:schemeClr val="dk1"/>
                </a:solidFill>
              </a:rPr>
            </a:br>
            <a:br>
              <a:rPr lang="en-GB">
                <a:solidFill>
                  <a:schemeClr val="dk1"/>
                </a:solidFill>
              </a:rPr>
            </a:br>
            <a:r>
              <a:rPr lang="en-GB">
                <a:solidFill>
                  <a:schemeClr val="dk1"/>
                </a:solidFill>
              </a:rPr>
              <a:t>This program is designed to help you build confidence gradually through hands-on work, projects, and guided practice. </a:t>
            </a:r>
            <a:br>
              <a:rPr lang="en-GB">
                <a:solidFill>
                  <a:schemeClr val="dk1"/>
                </a:solidFill>
              </a:rPr>
            </a:br>
            <a:r>
              <a:rPr lang="en-GB">
                <a:solidFill>
                  <a:schemeClr val="dk1"/>
                </a:solidFill>
              </a:rPr>
              <a:t>So focus less on trying to know everything immediately, and more on showing up every week and progressing one step at a time.</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e90b9ecb37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e90b9ecb37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This program is designed for people who want a practical and structured path into the data industry, </a:t>
            </a:r>
            <a:br>
              <a:rPr lang="en-GB">
                <a:solidFill>
                  <a:schemeClr val="dk1"/>
                </a:solidFill>
              </a:rPr>
            </a:br>
            <a:r>
              <a:rPr lang="en-GB">
                <a:solidFill>
                  <a:schemeClr val="dk1"/>
                </a:solidFill>
              </a:rPr>
              <a:t>especially those who may not come from a traditional tech background. Many of our students are already </a:t>
            </a:r>
            <a:br>
              <a:rPr lang="en-GB">
                <a:solidFill>
                  <a:schemeClr val="dk1"/>
                </a:solidFill>
              </a:rPr>
            </a:br>
            <a:r>
              <a:rPr lang="en-GB">
                <a:solidFill>
                  <a:schemeClr val="dk1"/>
                </a:solidFill>
              </a:rPr>
              <a:t>working in areas like administration, finance, operations, logistics, support, or business roles where data is part of daily work, </a:t>
            </a:r>
            <a:br>
              <a:rPr lang="en-GB">
                <a:solidFill>
                  <a:schemeClr val="dk1"/>
                </a:solidFill>
              </a:rPr>
            </a:br>
            <a:r>
              <a:rPr lang="en-GB">
                <a:solidFill>
                  <a:schemeClr val="dk1"/>
                </a:solidFill>
              </a:rPr>
              <a:t>even if they don’t realize it yet. Some are newcomers to Germany looking for stable and future-oriented career opportunities </a:t>
            </a:r>
            <a:br>
              <a:rPr lang="en-GB">
                <a:solidFill>
                  <a:schemeClr val="dk1"/>
                </a:solidFill>
              </a:rPr>
            </a:br>
            <a:r>
              <a:rPr lang="en-GB">
                <a:solidFill>
                  <a:schemeClr val="dk1"/>
                </a:solidFill>
              </a:rPr>
              <a:t>in a market where demand for data skills continues to grow. Others have already tried learning online through </a:t>
            </a:r>
            <a:br>
              <a:rPr lang="en-GB">
                <a:solidFill>
                  <a:schemeClr val="dk1"/>
                </a:solidFill>
              </a:rPr>
            </a:br>
            <a:br>
              <a:rPr lang="en-GB">
                <a:solidFill>
                  <a:schemeClr val="dk1"/>
                </a:solidFill>
              </a:rPr>
            </a:br>
            <a:r>
              <a:rPr lang="en-GB">
                <a:solidFill>
                  <a:schemeClr val="dk1"/>
                </a:solidFill>
              </a:rPr>
              <a:t>YouTube videos or random courses but struggled because there was no roadmap, accountability, or support system to keep them moving forward. </a:t>
            </a:r>
            <a:br>
              <a:rPr lang="en-GB">
                <a:solidFill>
                  <a:schemeClr val="dk1"/>
                </a:solidFill>
              </a:rPr>
            </a:br>
            <a:r>
              <a:rPr lang="en-GB">
                <a:solidFill>
                  <a:schemeClr val="dk1"/>
                </a:solidFill>
              </a:rPr>
              <a:t>This program is different because the goal is not simply to complete lessons or collect certificates — </a:t>
            </a:r>
            <a:br>
              <a:rPr lang="en-GB">
                <a:solidFill>
                  <a:schemeClr val="dk1"/>
                </a:solidFill>
              </a:rPr>
            </a:br>
            <a:r>
              <a:rPr lang="en-GB">
                <a:solidFill>
                  <a:schemeClr val="dk1"/>
                </a:solidFill>
              </a:rPr>
              <a:t>the goal is to build real, job-relevant skills that can help you transition into professional opportunities. </a:t>
            </a:r>
            <a:br>
              <a:rPr lang="en-GB">
                <a:solidFill>
                  <a:schemeClr val="dk1"/>
                </a:solidFill>
              </a:rPr>
            </a:br>
            <a:br>
              <a:rPr lang="en-GB">
                <a:solidFill>
                  <a:schemeClr val="dk1"/>
                </a:solidFill>
              </a:rPr>
            </a:br>
            <a:r>
              <a:rPr lang="en-GB">
                <a:solidFill>
                  <a:schemeClr val="dk1"/>
                </a:solidFill>
              </a:rPr>
              <a:t>At the same time, we want to be realistic and transparent: this journey does require commitment and consistency. You do not need to study full-time, but you should be ready to dedicate around 8 to 10 focused hours each week to practice, projects, and learning. If you can stay consistent with that effort over 24 weeks, the transformation can be significant.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e90b9ecb37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e90b9ecb37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By the end of this program, you won’t just learn about data — you’ll learn how to think, communicate, and work like a modern data professional. </a:t>
            </a:r>
            <a:br>
              <a:rPr lang="en-GB">
                <a:solidFill>
                  <a:schemeClr val="dk1"/>
                </a:solidFill>
              </a:rPr>
            </a:br>
            <a:r>
              <a:rPr lang="en-GB">
                <a:solidFill>
                  <a:schemeClr val="dk1"/>
                </a:solidFill>
              </a:rPr>
              <a:t>Throughout these 24 weeks, you’ll build job-ready skills that align with real industry expectations and gain practical experience with tools </a:t>
            </a:r>
            <a:br>
              <a:rPr lang="en-GB">
                <a:solidFill>
                  <a:schemeClr val="dk1"/>
                </a:solidFill>
              </a:rPr>
            </a:br>
            <a:r>
              <a:rPr lang="en-GB">
                <a:solidFill>
                  <a:schemeClr val="dk1"/>
                </a:solidFill>
              </a:rPr>
              <a:t>and technologies used in Data Engineering and AI Cloud environments today.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You’ll work on real portfolio projects that help you apply concepts in practical situations while </a:t>
            </a:r>
            <a:br>
              <a:rPr lang="en-GB">
                <a:solidFill>
                  <a:schemeClr val="dk1"/>
                </a:solidFill>
              </a:rPr>
            </a:br>
            <a:r>
              <a:rPr lang="en-GB">
                <a:solidFill>
                  <a:schemeClr val="dk1"/>
                </a:solidFill>
              </a:rPr>
              <a:t>also creating work you can confidently showcase to employers. </a:t>
            </a:r>
            <a:br>
              <a:rPr lang="en-GB">
                <a:solidFill>
                  <a:schemeClr val="dk1"/>
                </a:solidFill>
              </a:rPr>
            </a:br>
            <a:r>
              <a:rPr lang="en-GB">
                <a:solidFill>
                  <a:schemeClr val="dk1"/>
                </a:solidFill>
              </a:rPr>
              <a:t>Along the journey, you’ll also prepare for industry-recognized certifications that </a:t>
            </a:r>
            <a:br>
              <a:rPr lang="en-GB">
                <a:solidFill>
                  <a:schemeClr val="dk1"/>
                </a:solidFill>
              </a:rPr>
            </a:br>
            <a:r>
              <a:rPr lang="en-GB">
                <a:solidFill>
                  <a:schemeClr val="dk1"/>
                </a:solidFill>
              </a:rPr>
              <a:t>strengthen your professional profile and validate the skills you develop during the program.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More importantly, this program is designed to build confidence through consistent hands-on practice, problem solving, and real-world learning approaches. You’ll gain exposure to technologies like SQL, Python, Power BI, cloud platforms, analytics workflows, and AI-driven processes while understanding how businesses actually use data to make decisions.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You’ll also have the opportunity to explore specialization tracks based on your interests and career goals, helping you move toward high-demand roles in the data and cloud ecosystem. Alongside technical growth, you’ll become part of a learning community and professional network that grows with you throughout the journey.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By the time you complete the program, you’ll not only have knowledge, but also the practical mindset, project experience, and confidence needed to step into real-world opportunities with clarity and direction.</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e90b9ecb37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e90b9ecb37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program has been carefully designed as a 24-week structured learning journey that gradually builds your skills step by step. Instead of overwhelming you with too much information at once, the learning is divided into five focused phases, where each phase builds naturally on the previous one. This approach helps you develop a strong foundation before moving into more advanced concepts and real-world applications.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Throughout the program, you’ll attend weekly sessions that combine guided learning with practical projects and hands-on exercises. The goal is not just to understand concepts theoretically, but to apply them in ways that reflect how data professionals actually work in industry environments.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To make sure you stay supported throughout the journey, you’ll also be part of an active Slack community where you can ask questions, collaborate with peers, share progress, and receive day-to-day guidance. Learning becomes much easier when you’re surrounded by a supportive network and consistent interaction.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Along the way, there will be regular skill checks and practical assessments to help track your progress and identify areas where you can improve further. You’ll also receive mentor-led feedback throughout the program so that you always have direction, clarity, and support while developing your skills.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Most importantly, this program focuses on real work, not just theory. Every module is designed to help you build practical experience, business understanding, and confidence so that by the end of the 24 weeks, you’re not only knowledgeable, but also prepared for real-world opportunities in Data Engineering and AI Cloud.</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e90b9ecb37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e90b9ecb37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Every week in this program has a clear purpose, and every phase is designed to move you closer to a specific goal. </a:t>
            </a:r>
            <a:br>
              <a:rPr lang="en-GB">
                <a:solidFill>
                  <a:schemeClr val="dk1"/>
                </a:solidFill>
              </a:rPr>
            </a:br>
            <a:r>
              <a:rPr lang="en-GB">
                <a:solidFill>
                  <a:schemeClr val="dk1"/>
                </a:solidFill>
              </a:rPr>
              <a:t>The journey begins with building strong foundations in data and analytics during Weeks 1 to 4, </a:t>
            </a:r>
            <a:br>
              <a:rPr lang="en-GB">
                <a:solidFill>
                  <a:schemeClr val="dk1"/>
                </a:solidFill>
              </a:rPr>
            </a:br>
            <a:r>
              <a:rPr lang="en-GB">
                <a:solidFill>
                  <a:schemeClr val="dk1"/>
                </a:solidFill>
              </a:rPr>
              <a:t>followed by learning how to create dashboards and business insights using Power BI in Weeks 5 to 8. </a:t>
            </a:r>
            <a:br>
              <a:rPr lang="en-GB">
                <a:solidFill>
                  <a:schemeClr val="dk1"/>
                </a:solidFill>
              </a:rPr>
            </a:br>
            <a:r>
              <a:rPr lang="en-GB">
                <a:solidFill>
                  <a:schemeClr val="dk1"/>
                </a:solidFill>
              </a:rPr>
              <a:t>From Weeks 9 to 14, you’ll focus on SQL fundamentals and learn how data is stored, queried, and transformed in real systems.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Weeks 15 to 20, you’ll move into Python and machine learning, where you’ll begin working with automation, analysis, </a:t>
            </a:r>
            <a:br>
              <a:rPr lang="en-GB">
                <a:solidFill>
                  <a:schemeClr val="dk1"/>
                </a:solidFill>
              </a:rPr>
            </a:br>
            <a:r>
              <a:rPr lang="en-GB">
                <a:solidFill>
                  <a:schemeClr val="dk1"/>
                </a:solidFill>
              </a:rPr>
              <a:t>and AI-driven workflows. </a:t>
            </a:r>
            <a:br>
              <a:rPr lang="en-GB">
                <a:solidFill>
                  <a:schemeClr val="dk1"/>
                </a:solidFill>
              </a:rPr>
            </a:br>
            <a:br>
              <a:rPr lang="en-GB">
                <a:solidFill>
                  <a:schemeClr val="dk1"/>
                </a:solidFill>
              </a:rPr>
            </a:br>
            <a:r>
              <a:rPr lang="en-GB">
                <a:solidFill>
                  <a:schemeClr val="dk1"/>
                </a:solidFill>
              </a:rPr>
              <a:t>Finally, during Weeks 21 to 24, you’ll enter your specialization track based on your strengths and performance, </a:t>
            </a:r>
            <a:br>
              <a:rPr lang="en-GB">
                <a:solidFill>
                  <a:schemeClr val="dk1"/>
                </a:solidFill>
              </a:rPr>
            </a:br>
            <a:r>
              <a:rPr lang="en-GB">
                <a:solidFill>
                  <a:schemeClr val="dk1"/>
                </a:solidFill>
              </a:rPr>
              <a:t>choosing between Azure Big Data or Advanced Power BI.</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As we move through the program later, we’ll explore each phase in detail step by step. </a:t>
            </a:r>
            <a:br>
              <a:rPr lang="en-GB">
                <a:solidFill>
                  <a:schemeClr val="dk1"/>
                </a:solidFill>
              </a:rPr>
            </a:br>
            <a:r>
              <a:rPr lang="en-GB">
                <a:solidFill>
                  <a:schemeClr val="dk1"/>
                </a:solidFill>
              </a:rPr>
              <a:t>But overall, the structure is designed around one clear goal — </a:t>
            </a:r>
            <a:br>
              <a:rPr lang="en-GB">
                <a:solidFill>
                  <a:schemeClr val="dk1"/>
                </a:solidFill>
              </a:rPr>
            </a:br>
            <a:r>
              <a:rPr lang="en-GB">
                <a:solidFill>
                  <a:schemeClr val="dk1"/>
                </a:solidFill>
              </a:rPr>
              <a:t>helping you build practical, employable skills for real opportunities in the data and AI industry.</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3fe61a9d5e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3fe61a9d5e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the first phase of the program, you’ll begin by understanding what data analytics really means and how companies use data to make decisions every day. Through relatable real-world examples like Netflix recommendations, FIFA statistics, and movie datasets, you’ll start seeing how data connects directly to business and user experiences.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You’ll also focus on building the right career mindset and learning habits needed to succeed in a fast-changing technology field. Alongside that, we’ll introduce important concepts in maths and statistics and explain why they matter in analytics, reporting, machine learning, and AI-driven systems.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As part of this phase, you’ll get an introduction to AI in the world of data and understand how modern companies combine analytics with intelligent tools and automation. You’ll also learn ETL processes in a simple and beginner-friendly way — understanding how data is collected, cleaned, transformed, and prepared for analysis.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To make learning practical from the very beginning, Google Sheets will become your first hands-on tool for organizing, exploring, and working with data before moving into more advanced platforms later in the program.</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e90b9ecb37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e90b9ecb37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Your environment shapes your growth, and the first phase of this program is designed to help you </a:t>
            </a:r>
            <a:br>
              <a:rPr lang="en-GB">
                <a:solidFill>
                  <a:schemeClr val="dk1"/>
                </a:solidFill>
              </a:rPr>
            </a:br>
            <a:r>
              <a:rPr lang="en-GB">
                <a:solidFill>
                  <a:schemeClr val="dk1"/>
                </a:solidFill>
              </a:rPr>
              <a:t>build the right foundation from both a technical and mindset perspective. </a:t>
            </a:r>
            <a:br>
              <a:rPr lang="en-GB">
                <a:solidFill>
                  <a:schemeClr val="dk1"/>
                </a:solidFill>
              </a:rPr>
            </a:br>
            <a:r>
              <a:rPr lang="en-GB">
                <a:solidFill>
                  <a:schemeClr val="dk1"/>
                </a:solidFill>
              </a:rPr>
              <a:t>You’ll begin by understanding what data analytics really means and how organizations use data to solve problems, improve decisions, and create better user experiences.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To make learning engaging and relatable, we’ll explore real-world use cases from platforms like Netflix, FIFA, </a:t>
            </a:r>
            <a:br>
              <a:rPr lang="en-GB">
                <a:solidFill>
                  <a:schemeClr val="dk1"/>
                </a:solidFill>
              </a:rPr>
            </a:br>
            <a:r>
              <a:rPr lang="en-GB">
                <a:solidFill>
                  <a:schemeClr val="dk1"/>
                </a:solidFill>
              </a:rPr>
              <a:t>and movie datasets so you can see how data is applied in everyday business scenarios. </a:t>
            </a:r>
            <a:br>
              <a:rPr lang="en-GB">
                <a:solidFill>
                  <a:schemeClr val="dk1"/>
                </a:solidFill>
              </a:rPr>
            </a:br>
            <a:r>
              <a:rPr lang="en-GB">
                <a:solidFill>
                  <a:schemeClr val="dk1"/>
                </a:solidFill>
              </a:rPr>
              <a:t>Alongside technical learning, we’ll also focus on career mindset, learning habits, and the importance of consistency, curiosity, and structured thinking in building long-term success in the tech industry.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You’ll be introduced to essential maths and statistics concepts and understand why </a:t>
            </a:r>
            <a:br>
              <a:rPr lang="en-GB">
                <a:solidFill>
                  <a:schemeClr val="dk1"/>
                </a:solidFill>
              </a:rPr>
            </a:br>
            <a:r>
              <a:rPr lang="en-GB">
                <a:solidFill>
                  <a:schemeClr val="dk1"/>
                </a:solidFill>
              </a:rPr>
              <a:t>they play such an important role in analytics, reporting, machine learning, and AI systems. </a:t>
            </a:r>
            <a:br>
              <a:rPr lang="en-GB">
                <a:solidFill>
                  <a:schemeClr val="dk1"/>
                </a:solidFill>
              </a:rPr>
            </a:br>
            <a:r>
              <a:rPr lang="en-GB">
                <a:solidFill>
                  <a:schemeClr val="dk1"/>
                </a:solidFill>
              </a:rPr>
              <a:t>We’ll also simplify concepts like ETL processes so you can clearly understand how data moves, transforms, and becomes useful for analysis and business insights.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As part of your practical learning journey, Google Sheets will serve as your first hands-on tool, </a:t>
            </a:r>
            <a:br>
              <a:rPr lang="en-GB">
                <a:solidFill>
                  <a:schemeClr val="dk1"/>
                </a:solidFill>
              </a:rPr>
            </a:br>
            <a:r>
              <a:rPr lang="en-GB">
                <a:solidFill>
                  <a:schemeClr val="dk1"/>
                </a:solidFill>
              </a:rPr>
              <a:t>helping you become comfortable working with data before gradually transitioning into </a:t>
            </a:r>
            <a:br>
              <a:rPr lang="en-GB">
                <a:solidFill>
                  <a:schemeClr val="dk1"/>
                </a:solidFill>
              </a:rPr>
            </a:br>
            <a:r>
              <a:rPr lang="en-GB">
                <a:solidFill>
                  <a:schemeClr val="dk1"/>
                </a:solidFill>
              </a:rPr>
              <a:t>more advanced technologies later in the program.</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e933d9ed8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e933d9ed8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Data without a story is just noise, and in this phase of the program, </a:t>
            </a:r>
            <a:br>
              <a:rPr lang="en-GB">
                <a:solidFill>
                  <a:schemeClr val="dk1"/>
                </a:solidFill>
              </a:rPr>
            </a:br>
            <a:r>
              <a:rPr lang="en-GB">
                <a:solidFill>
                  <a:schemeClr val="dk1"/>
                </a:solidFill>
              </a:rPr>
              <a:t>you’ll learn how to turn raw information into meaningful insights that people can actually understand and act upon. </a:t>
            </a:r>
            <a:br>
              <a:rPr lang="en-GB">
                <a:solidFill>
                  <a:schemeClr val="dk1"/>
                </a:solidFill>
              </a:rPr>
            </a:br>
            <a:br>
              <a:rPr lang="en-GB">
                <a:solidFill>
                  <a:schemeClr val="dk1"/>
                </a:solidFill>
              </a:rPr>
            </a:br>
            <a:r>
              <a:rPr lang="en-GB">
                <a:solidFill>
                  <a:schemeClr val="dk1"/>
                </a:solidFill>
              </a:rPr>
              <a:t>Using Power BI, you’ll learn how to connect, clean, and transform data from different sources and </a:t>
            </a:r>
            <a:br>
              <a:rPr lang="en-GB">
                <a:solidFill>
                  <a:schemeClr val="dk1"/>
                </a:solidFill>
              </a:rPr>
            </a:br>
            <a:r>
              <a:rPr lang="en-GB">
                <a:solidFill>
                  <a:schemeClr val="dk1"/>
                </a:solidFill>
              </a:rPr>
              <a:t>build professional dashboards that reflect real business reporting environments.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You’ll also explore built-in AI features such as Key Influencers and Q&amp;A visuals, </a:t>
            </a:r>
            <a:br>
              <a:rPr lang="en-GB">
                <a:solidFill>
                  <a:schemeClr val="dk1"/>
                </a:solidFill>
              </a:rPr>
            </a:br>
            <a:r>
              <a:rPr lang="en-GB">
                <a:solidFill>
                  <a:schemeClr val="dk1"/>
                </a:solidFill>
              </a:rPr>
              <a:t>which allow you to discover patterns in data and interact with reports using natural language queries. </a:t>
            </a:r>
            <a:br>
              <a:rPr lang="en-GB">
                <a:solidFill>
                  <a:schemeClr val="dk1"/>
                </a:solidFill>
              </a:rPr>
            </a:br>
            <a:r>
              <a:rPr lang="en-GB">
                <a:solidFill>
                  <a:schemeClr val="dk1"/>
                </a:solidFill>
              </a:rPr>
              <a:t>Through real business case studies and practical projects, </a:t>
            </a:r>
            <a:br>
              <a:rPr lang="en-GB">
                <a:solidFill>
                  <a:schemeClr val="dk1"/>
                </a:solidFill>
              </a:rPr>
            </a:br>
            <a:r>
              <a:rPr lang="en-GB">
                <a:solidFill>
                  <a:schemeClr val="dk1"/>
                </a:solidFill>
              </a:rPr>
              <a:t>you’ll understand how companies use dashboards to monitor performance, identify trends, and support decision-making.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Beyond the technical side, this phase also focuses heavily on data storytelling — </a:t>
            </a:r>
            <a:br>
              <a:rPr lang="en-GB">
                <a:solidFill>
                  <a:schemeClr val="dk1"/>
                </a:solidFill>
              </a:rPr>
            </a:br>
            <a:r>
              <a:rPr lang="en-GB">
                <a:solidFill>
                  <a:schemeClr val="dk1"/>
                </a:solidFill>
              </a:rPr>
              <a:t>learning how to present information clearly, communicate insights effectively, and build confidence in explaining your findings to others. </a:t>
            </a:r>
            <a:br>
              <a:rPr lang="en-GB">
                <a:solidFill>
                  <a:schemeClr val="dk1"/>
                </a:solidFill>
              </a:rPr>
            </a:br>
            <a:r>
              <a:rPr lang="en-GB">
                <a:solidFill>
                  <a:schemeClr val="dk1"/>
                </a:solidFill>
              </a:rPr>
              <a:t>The goal is not just to create reports, but to tell meaningful stories with data that drive understanding and action.</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e90b9ecb37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e90b9ecb37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Turning raw data into stories is one of the most valuable skills in analytics, because the best analysts don’t just find insights —</a:t>
            </a:r>
            <a:br>
              <a:rPr lang="en-GB">
                <a:solidFill>
                  <a:schemeClr val="dk1"/>
                </a:solidFill>
              </a:rPr>
            </a:br>
            <a:r>
              <a:rPr lang="en-GB">
                <a:solidFill>
                  <a:schemeClr val="dk1"/>
                </a:solidFill>
              </a:rPr>
              <a:t> they know how to communicate them in a way that drives action. In this phase of the program, </a:t>
            </a:r>
            <a:br>
              <a:rPr lang="en-GB">
                <a:solidFill>
                  <a:schemeClr val="dk1"/>
                </a:solidFill>
              </a:rPr>
            </a:br>
            <a:r>
              <a:rPr lang="en-GB">
                <a:solidFill>
                  <a:schemeClr val="dk1"/>
                </a:solidFill>
              </a:rPr>
              <a:t>you’ll learn how to clean, transform, and visualize data so that complex information becomes clear, meaningful, and easy to understand.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You’ll also learn the importance of understanding your audience before building dashboards or reports. </a:t>
            </a:r>
            <a:br>
              <a:rPr lang="en-GB">
                <a:solidFill>
                  <a:schemeClr val="dk1"/>
                </a:solidFill>
              </a:rPr>
            </a:br>
            <a:r>
              <a:rPr lang="en-GB">
                <a:solidFill>
                  <a:schemeClr val="dk1"/>
                </a:solidFill>
              </a:rPr>
              <a:t>Different people need different insights, and choosing the right chart, layout, and visual approach can completely change how effectively your message is understood.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Throughout the learning process, you’ll focus on highlighting what actually matters instead of overwhelming users </a:t>
            </a:r>
            <a:br>
              <a:rPr lang="en-GB">
                <a:solidFill>
                  <a:schemeClr val="dk1"/>
                </a:solidFill>
              </a:rPr>
            </a:br>
            <a:r>
              <a:rPr lang="en-GB">
                <a:solidFill>
                  <a:schemeClr val="dk1"/>
                </a:solidFill>
              </a:rPr>
              <a:t>with unnecessary information or overly complicated visuals. The goal is not just to create attractive dashboards, </a:t>
            </a:r>
            <a:br>
              <a:rPr lang="en-GB">
                <a:solidFill>
                  <a:schemeClr val="dk1"/>
                </a:solidFill>
              </a:rPr>
            </a:br>
            <a:r>
              <a:rPr lang="en-GB">
                <a:solidFill>
                  <a:schemeClr val="dk1"/>
                </a:solidFill>
              </a:rPr>
              <a:t>but to build reports that help businesses make better decisions with confidence.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By working through real examples and practical projects, you’ll develop the ability to simplify complex data, </a:t>
            </a:r>
            <a:br>
              <a:rPr lang="en-GB">
                <a:solidFill>
                  <a:schemeClr val="dk1"/>
                </a:solidFill>
              </a:rPr>
            </a:br>
            <a:r>
              <a:rPr lang="en-GB">
                <a:solidFill>
                  <a:schemeClr val="dk1"/>
                </a:solidFill>
              </a:rPr>
              <a:t>present insights clearly, and create business-focused dashboards that deliver real impact rather than just pretty visuals.</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e933d9ed85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e933d9ed85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a:solidFill>
                  <a:schemeClr val="dk1"/>
                </a:solidFill>
              </a:rPr>
              <a:t>In this phase of the program, </a:t>
            </a:r>
            <a:br>
              <a:rPr lang="en-GB">
                <a:solidFill>
                  <a:schemeClr val="dk1"/>
                </a:solidFill>
              </a:rPr>
            </a:br>
            <a:r>
              <a:rPr lang="en-GB">
                <a:solidFill>
                  <a:schemeClr val="dk1"/>
                </a:solidFill>
              </a:rPr>
              <a:t>you’ll learn how to clean, transform, and visualize data so that complex information becomes clear, meaningful, and easy to understand.</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You’ll also learn the importance of understanding your audience before building dashboards or reports. </a:t>
            </a:r>
            <a:br>
              <a:rPr lang="en-GB">
                <a:solidFill>
                  <a:schemeClr val="dk1"/>
                </a:solidFill>
              </a:rPr>
            </a:br>
            <a:r>
              <a:rPr lang="en-GB">
                <a:solidFill>
                  <a:schemeClr val="dk1"/>
                </a:solidFill>
              </a:rPr>
              <a:t>Different people need different insights, and choosing the right chart, layout, and visual approach can completely change how effectively your message is understood.</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Throughout the learning process, you’ll focus on highlighting what actually matters instead of overwhelming users </a:t>
            </a:r>
            <a:br>
              <a:rPr lang="en-GB">
                <a:solidFill>
                  <a:schemeClr val="dk1"/>
                </a:solidFill>
              </a:rPr>
            </a:br>
            <a:r>
              <a:rPr lang="en-GB">
                <a:solidFill>
                  <a:schemeClr val="dk1"/>
                </a:solidFill>
              </a:rPr>
              <a:t>with unnecessary information or overly complicated visuals. The goal is not just to create attractive dashboards, </a:t>
            </a:r>
            <a:br>
              <a:rPr lang="en-GB">
                <a:solidFill>
                  <a:schemeClr val="dk1"/>
                </a:solidFill>
              </a:rPr>
            </a:br>
            <a:r>
              <a:rPr lang="en-GB">
                <a:solidFill>
                  <a:schemeClr val="dk1"/>
                </a:solidFill>
              </a:rPr>
              <a:t>but to build reports that help businesses make better decisions with confidence.</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By working through real examples and practical projects, you’ll develop the ability to simplify complex data, </a:t>
            </a:r>
            <a:br>
              <a:rPr lang="en-GB">
                <a:solidFill>
                  <a:schemeClr val="dk1"/>
                </a:solidFill>
              </a:rPr>
            </a:br>
            <a:r>
              <a:rPr lang="en-GB">
                <a:solidFill>
                  <a:schemeClr val="dk1"/>
                </a:solidFill>
              </a:rPr>
              <a:t>present insights clearly, and create business-focused dashboards that deliver real impact rather than just pretty visuals.</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e90b9ecb37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e90b9ecb37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If data is gold, SQL is the shovel that helps you uncover valuable insights from massive amounts of information. </a:t>
            </a:r>
            <a:br>
              <a:rPr lang="en-GB">
                <a:solidFill>
                  <a:schemeClr val="dk1"/>
                </a:solidFill>
              </a:rPr>
            </a:br>
            <a:r>
              <a:rPr lang="en-GB">
                <a:solidFill>
                  <a:schemeClr val="dk1"/>
                </a:solidFill>
              </a:rPr>
              <a:t>During Weeks 9 to 14, you’ll learn the fundamentals of databases and understand how data is structured, stored, and connected across systems.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You’ll begin writing SQL queries to extract, filter, join, and aggregate real datasets while developing the skills </a:t>
            </a:r>
            <a:br>
              <a:rPr lang="en-GB">
                <a:solidFill>
                  <a:schemeClr val="dk1"/>
                </a:solidFill>
              </a:rPr>
            </a:br>
            <a:r>
              <a:rPr lang="en-GB">
                <a:solidFill>
                  <a:schemeClr val="dk1"/>
                </a:solidFill>
              </a:rPr>
              <a:t>needed to prepare data for analytics, reporting, and machine learning workflows. </a:t>
            </a:r>
            <a:br>
              <a:rPr lang="en-GB">
                <a:solidFill>
                  <a:schemeClr val="dk1"/>
                </a:solidFill>
              </a:rPr>
            </a:br>
            <a:r>
              <a:rPr lang="en-GB">
                <a:solidFill>
                  <a:schemeClr val="dk1"/>
                </a:solidFill>
              </a:rPr>
              <a:t>As you progress, you’ll also understand how SQL plays a major role in building AI-ready data pipelines and supporting modern data-driven applications.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phase is highly practical and focused on real-world usage, because SQL is one of the most essential skills </a:t>
            </a:r>
            <a:br>
              <a:rPr lang="en-GB">
                <a:solidFill>
                  <a:schemeClr val="dk1"/>
                </a:solidFill>
              </a:rPr>
            </a:br>
            <a:r>
              <a:rPr lang="en-GB">
                <a:solidFill>
                  <a:schemeClr val="dk1"/>
                </a:solidFill>
              </a:rPr>
              <a:t>across almost every data-related role — from analytics and business intelligence to data engineering and AI.</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e90b9ecb37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e90b9ecb37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SQL is the language every data professional needs because it sits at the center of almost every modern data workflow. </a:t>
            </a:r>
            <a:br>
              <a:rPr lang="en-GB">
                <a:solidFill>
                  <a:schemeClr val="dk1"/>
                </a:solidFill>
              </a:rPr>
            </a:br>
            <a:r>
              <a:rPr lang="en-GB">
                <a:solidFill>
                  <a:schemeClr val="dk1"/>
                </a:solidFill>
              </a:rPr>
              <a:t>Whether you work in analytics, business intelligence, data engineering, or AI, SQL is one of the most widely used and valuable skills across the industry. </a:t>
            </a:r>
            <a:br>
              <a:rPr lang="en-GB">
                <a:solidFill>
                  <a:schemeClr val="dk1"/>
                </a:solidFill>
              </a:rPr>
            </a:br>
            <a:r>
              <a:rPr lang="en-GB">
                <a:solidFill>
                  <a:schemeClr val="dk1"/>
                </a:solidFill>
              </a:rPr>
              <a:t>The reason is simple — data lives inside databases, and SQL is how professionals access, organize, and work with that data efficiently.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this phase, you’ll understand why SQL appears in the majority of data-related job postings and why companies across every industry rely on it daily. </a:t>
            </a:r>
            <a:br>
              <a:rPr lang="en-GB">
                <a:solidFill>
                  <a:schemeClr val="dk1"/>
                </a:solidFill>
              </a:rPr>
            </a:br>
            <a:r>
              <a:rPr lang="en-GB">
                <a:solidFill>
                  <a:schemeClr val="dk1"/>
                </a:solidFill>
              </a:rPr>
              <a:t>You’ll also see how SQL connects seamlessly with tools like Power BI, Python, and Azure, </a:t>
            </a:r>
            <a:br>
              <a:rPr lang="en-GB">
                <a:solidFill>
                  <a:schemeClr val="dk1"/>
                </a:solidFill>
              </a:rPr>
            </a:br>
            <a:r>
              <a:rPr lang="en-GB">
                <a:solidFill>
                  <a:schemeClr val="dk1"/>
                </a:solidFill>
              </a:rPr>
              <a:t>making it a foundational skill for reporting, automation, cloud workflows, and machine learning pipelines.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One of the biggest advantages of learning SQL is that it scales with your career. </a:t>
            </a:r>
            <a:br>
              <a:rPr lang="en-GB">
                <a:solidFill>
                  <a:schemeClr val="dk1"/>
                </a:solidFill>
              </a:rPr>
            </a:br>
            <a:r>
              <a:rPr lang="en-GB">
                <a:solidFill>
                  <a:schemeClr val="dk1"/>
                </a:solidFill>
              </a:rPr>
              <a:t>The same core concepts are used in startups, large enterprises, analytics teams, and AI environments. </a:t>
            </a:r>
            <a:br>
              <a:rPr lang="en-GB">
                <a:solidFill>
                  <a:schemeClr val="dk1"/>
                </a:solidFill>
              </a:rPr>
            </a:br>
            <a:r>
              <a:rPr lang="en-GB">
                <a:solidFill>
                  <a:schemeClr val="dk1"/>
                </a:solidFill>
              </a:rPr>
              <a:t>Once you master SQL, it becomes a skill you can apply almost everywhere in the world of data and technology.</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3fe61a9d5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3fe61a9d5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During Weeks 15 to 20, you’ll begin transitioning from working with data to building intelligent and automated solutions using Python and Machine Learning. This is the phase where analysts start thinking more like engineers by learning how to automate tasks, process large datasets efficiently, and build predictive models using real workflows.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You’ll start with Python fundamentals for data work and then move into powerful libraries like Pandas and NumPy for data manipulation and analysis. As you progress, you’ll explore Scikit-learn and understand how machine learning models are built, trained, tested, and used for predictions in practical scenarios.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focus throughout this phase is on real machine learning workflows rather than only theory. You’ll understand how automation replaces repetitive manual work and how modern companies use AI-driven systems to solve business problems more efficiently. Toward the end of this phase, you’ll also complete a skills assessment that helps identify your strengths and guides you toward the specialization track best suited for your growth and career goals.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e90b9ecb37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e90b9ecb37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Your skills, strengths, and interests will help determine the specialization track that fits you best, because there’s no single “correct” path in the world of data — only the path that aligns best with your abilities and career goals. At the end of Week 20, you’ll complete a skills assessment designed to evaluate both your technical understanding and your learning interests.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Based on your performance and progression throughout the program, you’ll be guided toward one of two specialization tracks. Track A focuses on Azure Big Data, where you’ll work with cloud technologies, large-scale data systems, and AI-driven workflows. Track B focuses on Advanced Power BI, where you’ll deepen your expertise in enterprise reporting, advanced dashboards, and business intelligence solutions.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Both tracks are designed to lead toward strong career opportunities, and mentors will help guide your decision based on where you can grow and succeed most effectively. The goal is not to move sideways, but to move forward into a specialization that builds on the skills you’ve already developed throughout the program.</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e90b9ecb37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e90b9ecb37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Track A — Big Data with Azure is designed for learners who want to think bigger, work with large-scale systems, and build solutions that operate in modern cloud environments. In this specialization, you’ll explore technologies like Azure Data Lake and Azure Synapse to understand how organizations store, manage, and process massive amounts of data in the cloud.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You’ll also work with ML Studio and cloud-based AI tools to gain exposure to advanced analytics and machine learning workflows used in enterprise environments. As the projects become more practical and industry-focused, you’ll learn how enterprise-level data pipelines are designed to move, transform, and prepare data efficiently at scale.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track is especially valuable for those interested in cloud technologies, data engineering, and AI-driven infrastructure. It also helps prepare you for certifications like DP-900, giving you both practical experience and recognized credentials that support your career growth in the cloud and data ecosystem.</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e933d9ed85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e933d9ed8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Track B — Power BI Advanced is designed for learners who want to master one of the most widely used business intelligence tools in the industry and become highly skilled in data visualization and reporting. In this specialization, you’ll move beyond basic dashboards and begin working with advanced DAX functions and formulas to create more dynamic, intelligent, and business-focused reports.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You’ll also learn how to connect Power BI with cloud-based data sources and work with larger, more complex datasets commonly used in real organizations. Through practical projects and real-world reporting scenarios, you’ll develop the ability to build KPI-driven executive dashboards that support strategic business decisions and performance tracking.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track focuses heavily on professional reporting standards, business storytelling, and scalable dashboard design, helping you build skills that are highly valued in analytics and business intelligence roles. You’ll also have optional access to a Coursera Power BI specialization for additional learning and certification support. Overall, this pathway is ideal for learners aiming toward advanced analytics, reporting expertise, and future leadership roles in business intelligence.</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e90b9ecb37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e90b9ecb37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certifications in this program are designed to represent real skill and practical understanding, not just course completion. These are credentials that are respected across the global data and cloud industry, and they help demonstrate that you can apply your knowledge in real-world environments.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Throughout the journey, you’ll have the opportunity to prepare for certifications such as Azure Data Fundamentals DP-900, SnowPro Core Certification, and the dbt Analytics Engineering Certification. Each of these certifications focuses on important areas of modern data work, including cloud platforms, data engineering workflows, analytics transformation, and enterprise data practices.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These certifications are not handed out automatically — they are earned through learning, practice, assessments, and demonstrated understanding. The program is structured to guide you step by step through the preparation process with mentor support, skill checks, and hands-on exercises so that you build both confidence and technical capability before attempting the exams.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Because these certifications are globally recognized, employers immediately understand the value they represent. They help strengthen your professional profile and show that you’ve developed industry-relevant skills that align with modern data and AI careers.</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e90b9ecb37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e90b9ecb37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Azure Data Fundamentals DP-900 is one of the most valuable entry-level cloud certifications for anyone starting a career in data and cloud technologies. It provides a strong foundation in Azure data services, cloud concepts, analytics workflows, and modern data storage solutions used by enterprises around the world.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certification is especially relevant in the German job market, where many major organizations rely heavily on Microsoft Azure for their cloud infrastructure and data operations. Companies such as Siemens, Bayer, Volkswagen, and Deutsche Telekom work extensively with cloud-based technologies and enterprise-scale data systems.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As a baseline cloud certification, DP-900 helps validate your understanding of cloud data concepts and serves as an important entry point into cloud data, analytics, and engineering roles. It demonstrates to employers that you understand the fundamentals of modern cloud platforms and are prepared to continue growing into more advanced technical roles in the data ecosystem.</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90b9ecb37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e90b9ecb37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SnowPro Core Certification is one of the most valuable credentials for modern cloud data professionals because it focuses on Snowflake, one of the leading cloud data warehouse platforms used by organizations worldwide. As businesses continue moving their data infrastructure to the cloud, Snowflake has become a major part of modern analytics and data engineering environments.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the German market especially, Snowflake skills are in high demand, appearing in thousands of local job postings across analytics, cloud, and data engineering roles. Many modern, data-driven companies rely on Snowflake because of its scalability, cloud-native architecture, and ability to support large-scale analytics efficiently.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SnowPro Core Certification helps validate your understanding of cloud data warehouse concepts, data storage, querying, performance, and platform fundamentals. It’s considered one of the most in-demand certifications in today’s data industry and can significantly strengthen your profile for cloud-focused and enterprise data roles.</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e933d9ed85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e933d9ed8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dbt Analytics Engineering Certification focuses on one of the most important tools in the modern data stack: dbt Labs. dbt has become the industry standard for transforming raw data into clean, reliable, and analytics-ready datasets that businesses can use for reporting, machine learning, and decision-making.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Across Germany’s growing tech and data ecosystem, companies such as Celonis, Personio, FlixBus, and Delivery Hero actively work with modern cloud data platforms and analytics engineering workflows that include dbt.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certification is especially valuable because analytics engineering is one of the fastest-growing roles in the data industry today. It bridges the gap between analytics and engineering by combining SQL, data modeling, transformation logic, and scalable workflows into one highly practical skill set.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By learning dbt early in your journey, you build experience with tools and practices already used by modern data teams worldwide. It helps future-proof your career by preparing you for the way companies increasingly manage and transform data in cloud-based environments.</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e90b9ecb37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e90b9ecb37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Certifications in this program are approached with a strong focus on real learning and genuine skill development.</a:t>
            </a:r>
            <a:br>
              <a:rPr lang="en-GB">
                <a:solidFill>
                  <a:schemeClr val="dk1"/>
                </a:solidFill>
              </a:rPr>
            </a:br>
            <a:r>
              <a:rPr lang="en-GB">
                <a:solidFill>
                  <a:schemeClr val="dk1"/>
                </a:solidFill>
              </a:rPr>
              <a:t> The goal is not simply to hand out certificates, but to help you become someone who can confidently earn and apply those credentials in real professional environments.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That’s why certifications are not automatically guaranteed by default. Before moving forward, you’ll be expected to demonstrate real understanding through practical work, assessments, and consistent performance throughout the program. This ensures that when you attempt a certification exam, you’re doing it with preparation and confidence rather than guesswork.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To support you through the process, the program includes guided preparation sessions, mock exams, practice exercises, and regular skill checks designed to measure your readiness and identify areas for improvement. Mentors will work closely with you throughout the journey to help strengthen both your technical understanding and exam confidence.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idea is simple — we only put forward candidates who are genuinely ready. The goal is not to pass by luck, but to succeed because you’ve built the knowledge, practical skills, and confidence needed to earn certifications that truly hold value in the industry.</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933d9ed85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e933d9ed85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Dataskools Certificate is earned through performance, consistency, and practical work — not just attendance.</a:t>
            </a:r>
            <a:br>
              <a:rPr lang="en-GB">
                <a:solidFill>
                  <a:schemeClr val="dk1"/>
                </a:solidFill>
              </a:rPr>
            </a:br>
            <a:r>
              <a:rPr lang="en-GB">
                <a:solidFill>
                  <a:schemeClr val="dk1"/>
                </a:solidFill>
              </a:rPr>
              <a:t> To qualify, you must maintain a minimum grade of B across all modules and successfully complete all required projects.</a:t>
            </a:r>
            <a:br>
              <a:rPr lang="en-GB">
                <a:solidFill>
                  <a:schemeClr val="dk1"/>
                </a:solidFill>
              </a:rPr>
            </a:br>
            <a:r>
              <a:rPr lang="en-GB">
                <a:solidFill>
                  <a:schemeClr val="dk1"/>
                </a:solidFill>
              </a:rPr>
              <a:t> You’ll also need to actively participate throughout the program and pass every module skill check.</a:t>
            </a:r>
            <a:br>
              <a:rPr lang="en-GB">
                <a:solidFill>
                  <a:schemeClr val="dk1"/>
                </a:solidFill>
              </a:rPr>
            </a:br>
            <a:r>
              <a:rPr lang="en-GB">
                <a:solidFill>
                  <a:schemeClr val="dk1"/>
                </a:solidFill>
              </a:rPr>
              <a:t> Completion of your specialization track is mandatory as part of the final evaluation.</a:t>
            </a:r>
            <a:br>
              <a:rPr lang="en-GB">
                <a:solidFill>
                  <a:schemeClr val="dk1"/>
                </a:solidFill>
              </a:rPr>
            </a:br>
            <a:r>
              <a:rPr lang="en-GB">
                <a:solidFill>
                  <a:schemeClr val="dk1"/>
                </a:solidFill>
              </a:rPr>
              <a:t> Your work will be reviewed by both peers and mentors to ensure industry-level readiness.</a:t>
            </a:r>
            <a:br>
              <a:rPr lang="en-GB">
                <a:solidFill>
                  <a:schemeClr val="dk1"/>
                </a:solidFill>
              </a:rPr>
            </a:br>
            <a:r>
              <a:rPr lang="en-GB">
                <a:solidFill>
                  <a:schemeClr val="dk1"/>
                </a:solidFill>
              </a:rPr>
              <a:t> This process is designed to validate real understanding, practical ability, and professional growth.</a:t>
            </a:r>
            <a:br>
              <a:rPr lang="en-GB">
                <a:solidFill>
                  <a:schemeClr val="dk1"/>
                </a:solidFill>
              </a:rPr>
            </a:br>
            <a:r>
              <a:rPr lang="en-GB">
                <a:solidFill>
                  <a:schemeClr val="dk1"/>
                </a:solidFill>
              </a:rPr>
              <a:t> The certificate represents your effort, discipline, and technical skills developed over 24 weeks.</a:t>
            </a:r>
            <a:br>
              <a:rPr lang="en-GB">
                <a:solidFill>
                  <a:schemeClr val="dk1"/>
                </a:solidFill>
              </a:rPr>
            </a:br>
            <a:r>
              <a:rPr lang="en-GB">
                <a:solidFill>
                  <a:schemeClr val="dk1"/>
                </a:solidFill>
              </a:rPr>
              <a:t> It becomes proof that you can apply knowledge in real-world data and cloud environments.</a:t>
            </a:r>
            <a:br>
              <a:rPr lang="en-GB">
                <a:solidFill>
                  <a:schemeClr val="dk1"/>
                </a:solidFill>
              </a:rPr>
            </a:br>
            <a:r>
              <a:rPr lang="en-GB">
                <a:solidFill>
                  <a:schemeClr val="dk1"/>
                </a:solidFill>
              </a:rPr>
              <a:t> You won’t just finish the program — you’ll earn recognition for the work you’ve accomplished.</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d4d2827b9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d4d2827b9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e9327ae303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e9327ae303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3"/>
          <p:cNvSpPr txBox="1"/>
          <p:nvPr>
            <p:ph type="title"/>
          </p:nvPr>
        </p:nvSpPr>
        <p:spPr>
          <a:xfrm>
            <a:off x="311700" y="2163275"/>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solidFill>
                  <a:srgbClr val="434343"/>
                </a:solidFill>
                <a:latin typeface="Roboto"/>
                <a:ea typeface="Roboto"/>
                <a:cs typeface="Roboto"/>
                <a:sym typeface="Roboto"/>
              </a:rPr>
              <a:t>Journey Ahead 🚀 </a:t>
            </a:r>
            <a:endParaRPr>
              <a:solidFill>
                <a:srgbClr val="434343"/>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 name="Shape 58"/>
        <p:cNvGrpSpPr/>
        <p:nvPr/>
      </p:nvGrpSpPr>
      <p:grpSpPr>
        <a:xfrm>
          <a:off x="0" y="0"/>
          <a:ext cx="0" cy="0"/>
          <a:chOff x="0" y="0"/>
          <a:chExt cx="0" cy="0"/>
        </a:xfrm>
      </p:grpSpPr>
      <p:sp>
        <p:nvSpPr>
          <p:cNvPr id="59" name="Google Shape;59;p14"/>
          <p:cNvSpPr txBox="1"/>
          <p:nvPr/>
        </p:nvSpPr>
        <p:spPr>
          <a:xfrm>
            <a:off x="2564250" y="1809800"/>
            <a:ext cx="4015500" cy="16416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lang="en-GB" sz="2400">
                <a:solidFill>
                  <a:srgbClr val="595959"/>
                </a:solidFill>
                <a:latin typeface="Roboto Light"/>
                <a:ea typeface="Roboto Light"/>
                <a:cs typeface="Roboto Light"/>
                <a:sym typeface="Roboto Light"/>
              </a:rPr>
              <a:t>The Program </a:t>
            </a:r>
            <a:endParaRPr sz="2400">
              <a:solidFill>
                <a:srgbClr val="595959"/>
              </a:solidFill>
              <a:latin typeface="Roboto Light"/>
              <a:ea typeface="Roboto Light"/>
              <a:cs typeface="Roboto Light"/>
              <a:sym typeface="Roboto Light"/>
            </a:endParaRPr>
          </a:p>
          <a:p>
            <a:pPr indent="0" lvl="0" marL="457200" rtl="0" algn="l">
              <a:spcBef>
                <a:spcPts val="0"/>
              </a:spcBef>
              <a:spcAft>
                <a:spcPts val="0"/>
              </a:spcAft>
              <a:buNone/>
            </a:pPr>
            <a:r>
              <a:rPr lang="en-GB" sz="2400">
                <a:solidFill>
                  <a:srgbClr val="595959"/>
                </a:solidFill>
                <a:latin typeface="Roboto Light"/>
                <a:ea typeface="Roboto Light"/>
                <a:cs typeface="Roboto Light"/>
                <a:sym typeface="Roboto Light"/>
              </a:rPr>
              <a:t>Roadmap</a:t>
            </a:r>
            <a:r>
              <a:rPr lang="en-GB" sz="2400">
                <a:solidFill>
                  <a:srgbClr val="595959"/>
                </a:solidFill>
                <a:latin typeface="Roboto Light"/>
                <a:ea typeface="Roboto Light"/>
                <a:cs typeface="Roboto Light"/>
                <a:sym typeface="Roboto Light"/>
              </a:rPr>
              <a:t> </a:t>
            </a:r>
            <a:endParaRPr sz="2400">
              <a:solidFill>
                <a:srgbClr val="595959"/>
              </a:solidFill>
              <a:latin typeface="Roboto Light"/>
              <a:ea typeface="Roboto Light"/>
              <a:cs typeface="Roboto Light"/>
              <a:sym typeface="Roboto Light"/>
            </a:endParaRPr>
          </a:p>
          <a:p>
            <a:pPr indent="0" lvl="0" marL="457200" rtl="0" algn="l">
              <a:spcBef>
                <a:spcPts val="0"/>
              </a:spcBef>
              <a:spcAft>
                <a:spcPts val="0"/>
              </a:spcAft>
              <a:buNone/>
            </a:pPr>
            <a:r>
              <a:rPr lang="en-GB" sz="2400">
                <a:solidFill>
                  <a:srgbClr val="595959"/>
                </a:solidFill>
                <a:latin typeface="Roboto Light"/>
                <a:ea typeface="Roboto Light"/>
                <a:cs typeface="Roboto Light"/>
                <a:sym typeface="Roboto Light"/>
              </a:rPr>
              <a:t>Tracks</a:t>
            </a:r>
            <a:endParaRPr sz="2400">
              <a:solidFill>
                <a:srgbClr val="595959"/>
              </a:solidFill>
              <a:latin typeface="Roboto Light"/>
              <a:ea typeface="Roboto Light"/>
              <a:cs typeface="Roboto Light"/>
              <a:sym typeface="Roboto Light"/>
            </a:endParaRPr>
          </a:p>
          <a:p>
            <a:pPr indent="0" lvl="0" marL="457200" rtl="0" algn="l">
              <a:spcBef>
                <a:spcPts val="0"/>
              </a:spcBef>
              <a:spcAft>
                <a:spcPts val="0"/>
              </a:spcAft>
              <a:buNone/>
            </a:pPr>
            <a:r>
              <a:rPr lang="en-GB" sz="2400">
                <a:solidFill>
                  <a:srgbClr val="595959"/>
                </a:solidFill>
                <a:latin typeface="Roboto Light"/>
                <a:ea typeface="Roboto Light"/>
                <a:cs typeface="Roboto Light"/>
                <a:sym typeface="Roboto Light"/>
              </a:rPr>
              <a:t>Certifications</a:t>
            </a:r>
            <a:br>
              <a:rPr lang="en-GB" sz="2400">
                <a:solidFill>
                  <a:srgbClr val="595959"/>
                </a:solidFill>
                <a:latin typeface="Roboto Light"/>
                <a:ea typeface="Roboto Light"/>
                <a:cs typeface="Roboto Light"/>
                <a:sym typeface="Roboto Light"/>
              </a:rPr>
            </a:br>
            <a:endParaRPr sz="2400">
              <a:solidFill>
                <a:srgbClr val="595959"/>
              </a:solidFill>
              <a:latin typeface="Roboto Light"/>
              <a:ea typeface="Roboto Light"/>
              <a:cs typeface="Roboto Light"/>
              <a:sym typeface="Roboto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ph type="title"/>
          </p:nvPr>
        </p:nvSpPr>
        <p:spPr>
          <a:xfrm>
            <a:off x="935050" y="1001600"/>
            <a:ext cx="7160700" cy="304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400">
                <a:solidFill>
                  <a:schemeClr val="dk2"/>
                </a:solidFill>
                <a:latin typeface="Roboto"/>
                <a:ea typeface="Roboto"/>
                <a:cs typeface="Roboto"/>
                <a:sym typeface="Roboto"/>
              </a:rPr>
              <a:t>24 weeks. </a:t>
            </a:r>
            <a:br>
              <a:rPr lang="en-GB" sz="1400">
                <a:solidFill>
                  <a:schemeClr val="dk2"/>
                </a:solidFill>
                <a:latin typeface="Roboto"/>
                <a:ea typeface="Roboto"/>
                <a:cs typeface="Roboto"/>
                <a:sym typeface="Roboto"/>
              </a:rPr>
            </a:br>
            <a:br>
              <a:rPr lang="en-GB" sz="1400">
                <a:solidFill>
                  <a:schemeClr val="dk2"/>
                </a:solidFill>
                <a:latin typeface="Roboto"/>
                <a:ea typeface="Roboto"/>
                <a:cs typeface="Roboto"/>
                <a:sym typeface="Roboto"/>
              </a:rPr>
            </a:br>
            <a:r>
              <a:rPr lang="en-GB" sz="1400">
                <a:solidFill>
                  <a:schemeClr val="dk2"/>
                </a:solidFill>
                <a:latin typeface="Roboto"/>
                <a:ea typeface="Roboto"/>
                <a:cs typeface="Roboto"/>
                <a:sym typeface="Roboto"/>
              </a:rPr>
              <a:t>One structured program. One clear goal.</a:t>
            </a:r>
            <a:br>
              <a:rPr lang="en-GB" sz="1400">
                <a:solidFill>
                  <a:schemeClr val="dk2"/>
                </a:solidFill>
                <a:latin typeface="Roboto"/>
                <a:ea typeface="Roboto"/>
                <a:cs typeface="Roboto"/>
                <a:sym typeface="Roboto"/>
              </a:rPr>
            </a:br>
            <a:endParaRPr sz="1400">
              <a:solidFill>
                <a:schemeClr val="dk2"/>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400">
                <a:solidFill>
                  <a:schemeClr val="dk2"/>
                </a:solidFill>
                <a:latin typeface="Roboto"/>
                <a:ea typeface="Roboto"/>
                <a:cs typeface="Roboto"/>
                <a:sym typeface="Roboto"/>
              </a:rPr>
              <a:t>Learn data engineering the way professionals actually work </a:t>
            </a:r>
            <a:br>
              <a:rPr lang="en-GB" sz="1400">
                <a:solidFill>
                  <a:schemeClr val="dk2"/>
                </a:solidFill>
                <a:latin typeface="Roboto"/>
                <a:ea typeface="Roboto"/>
                <a:cs typeface="Roboto"/>
                <a:sym typeface="Roboto"/>
              </a:rPr>
            </a:br>
            <a:r>
              <a:rPr lang="en-GB" sz="1400">
                <a:solidFill>
                  <a:schemeClr val="dk2"/>
                </a:solidFill>
                <a:latin typeface="Roboto"/>
                <a:ea typeface="Roboto"/>
                <a:cs typeface="Roboto"/>
                <a:sym typeface="Roboto"/>
              </a:rPr>
              <a:t>— with AI, cloud tools, and real projects</a:t>
            </a:r>
            <a:br>
              <a:rPr lang="en-GB" sz="1400">
                <a:solidFill>
                  <a:schemeClr val="dk2"/>
                </a:solidFill>
                <a:latin typeface="Roboto"/>
                <a:ea typeface="Roboto"/>
                <a:cs typeface="Roboto"/>
                <a:sym typeface="Roboto"/>
              </a:rPr>
            </a:br>
            <a:endParaRPr sz="1400">
              <a:solidFill>
                <a:schemeClr val="dk2"/>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400">
                <a:solidFill>
                  <a:schemeClr val="dk2"/>
                </a:solidFill>
                <a:latin typeface="Roboto"/>
                <a:ea typeface="Roboto"/>
                <a:cs typeface="Roboto"/>
                <a:sym typeface="Roboto"/>
              </a:rPr>
              <a:t>No CS degree needed. No prior coding required.</a:t>
            </a:r>
            <a:br>
              <a:rPr lang="en-GB" sz="1400">
                <a:solidFill>
                  <a:schemeClr val="dk2"/>
                </a:solidFill>
                <a:latin typeface="Roboto"/>
                <a:ea typeface="Roboto"/>
                <a:cs typeface="Roboto"/>
                <a:sym typeface="Roboto"/>
              </a:rPr>
            </a:br>
            <a:endParaRPr sz="1400">
              <a:solidFill>
                <a:schemeClr val="dk2"/>
              </a:solidFill>
              <a:latin typeface="Roboto"/>
              <a:ea typeface="Roboto"/>
              <a:cs typeface="Roboto"/>
              <a:sym typeface="Roboto"/>
            </a:endParaRPr>
          </a:p>
          <a:p>
            <a:pPr indent="0" lvl="0" marL="0" rtl="0" algn="l">
              <a:spcBef>
                <a:spcPts val="0"/>
              </a:spcBef>
              <a:spcAft>
                <a:spcPts val="0"/>
              </a:spcAft>
              <a:buNone/>
            </a:pPr>
            <a:r>
              <a:rPr lang="en-GB" sz="1400">
                <a:solidFill>
                  <a:schemeClr val="dk2"/>
                </a:solidFill>
                <a:latin typeface="Roboto"/>
                <a:ea typeface="Roboto"/>
                <a:cs typeface="Roboto"/>
                <a:sym typeface="Roboto"/>
              </a:rPr>
              <a:t>What you need: consistency, curiosity, </a:t>
            </a:r>
            <a:endParaRPr sz="1400">
              <a:solidFill>
                <a:schemeClr val="dk2"/>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400">
                <a:solidFill>
                  <a:schemeClr val="dk2"/>
                </a:solidFill>
                <a:latin typeface="Roboto"/>
                <a:ea typeface="Roboto"/>
                <a:cs typeface="Roboto"/>
                <a:sym typeface="Roboto"/>
              </a:rPr>
              <a:t>and a willingness to show up every week</a:t>
            </a:r>
            <a:endParaRPr sz="1400">
              <a:solidFill>
                <a:schemeClr val="dk2"/>
              </a:solidFill>
              <a:latin typeface="Roboto"/>
              <a:ea typeface="Roboto"/>
              <a:cs typeface="Roboto"/>
              <a:sym typeface="Roboto"/>
            </a:endParaRPr>
          </a:p>
          <a:p>
            <a:pPr indent="0" lvl="0" marL="0" rtl="0" algn="l">
              <a:spcBef>
                <a:spcPts val="0"/>
              </a:spcBef>
              <a:spcAft>
                <a:spcPts val="0"/>
              </a:spcAft>
              <a:buNone/>
            </a:pPr>
            <a:r>
              <a:t/>
            </a:r>
            <a:endParaRPr sz="1400">
              <a:solidFill>
                <a:schemeClr val="dk2"/>
              </a:solidFill>
              <a:latin typeface="Roboto"/>
              <a:ea typeface="Roboto"/>
              <a:cs typeface="Roboto"/>
              <a:sym typeface="Roboto"/>
            </a:endParaRPr>
          </a:p>
        </p:txBody>
      </p:sp>
      <p:pic>
        <p:nvPicPr>
          <p:cNvPr id="65" name="Google Shape;65;p15"/>
          <p:cNvPicPr preferRelativeResize="0"/>
          <p:nvPr/>
        </p:nvPicPr>
        <p:blipFill>
          <a:blip r:embed="rId3">
            <a:alphaModFix/>
          </a:blip>
          <a:stretch>
            <a:fillRect/>
          </a:stretch>
        </p:blipFill>
        <p:spPr>
          <a:xfrm>
            <a:off x="5267850" y="2640774"/>
            <a:ext cx="3224725" cy="17607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ph idx="4294967295" type="body"/>
          </p:nvPr>
        </p:nvSpPr>
        <p:spPr>
          <a:xfrm>
            <a:off x="671425" y="1152475"/>
            <a:ext cx="71670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GB" sz="1400">
                <a:solidFill>
                  <a:schemeClr val="dk1"/>
                </a:solidFill>
                <a:latin typeface="Roboto"/>
                <a:ea typeface="Roboto"/>
                <a:cs typeface="Roboto"/>
                <a:sym typeface="Roboto"/>
              </a:rPr>
              <a:t>This program is for you if:</a:t>
            </a:r>
            <a:endParaRPr sz="1400">
              <a:solidFill>
                <a:schemeClr val="dk1"/>
              </a:solidFill>
              <a:latin typeface="Roboto"/>
              <a:ea typeface="Roboto"/>
              <a:cs typeface="Roboto"/>
              <a:sym typeface="Roboto"/>
            </a:endParaRPr>
          </a:p>
          <a:p>
            <a:pPr indent="0" lvl="0" marL="0" rtl="0" algn="l">
              <a:spcBef>
                <a:spcPts val="1200"/>
              </a:spcBef>
              <a:spcAft>
                <a:spcPts val="0"/>
              </a:spcAft>
              <a:buNone/>
            </a:pPr>
            <a:r>
              <a:rPr lang="en-GB" sz="1400">
                <a:solidFill>
                  <a:schemeClr val="dk1"/>
                </a:solidFill>
                <a:latin typeface="Roboto"/>
                <a:ea typeface="Roboto"/>
                <a:cs typeface="Roboto"/>
                <a:sym typeface="Roboto"/>
              </a:rPr>
              <a:t>✓ You work in admin, finance, operations, or any field that touches data </a:t>
            </a:r>
            <a:br>
              <a:rPr lang="en-GB" sz="1400">
                <a:solidFill>
                  <a:schemeClr val="dk1"/>
                </a:solidFill>
                <a:latin typeface="Roboto"/>
                <a:ea typeface="Roboto"/>
                <a:cs typeface="Roboto"/>
                <a:sym typeface="Roboto"/>
              </a:rPr>
            </a:br>
            <a:r>
              <a:rPr lang="en-GB" sz="1400">
                <a:solidFill>
                  <a:schemeClr val="dk1"/>
                </a:solidFill>
                <a:latin typeface="Roboto"/>
                <a:ea typeface="Roboto"/>
                <a:cs typeface="Roboto"/>
                <a:sym typeface="Roboto"/>
              </a:rPr>
              <a:t>✓ You're a newcomer to Germany and want a career with real demand </a:t>
            </a:r>
            <a:br>
              <a:rPr lang="en-GB" sz="1400">
                <a:solidFill>
                  <a:schemeClr val="dk1"/>
                </a:solidFill>
                <a:latin typeface="Roboto"/>
                <a:ea typeface="Roboto"/>
                <a:cs typeface="Roboto"/>
                <a:sym typeface="Roboto"/>
              </a:rPr>
            </a:br>
            <a:r>
              <a:rPr lang="en-GB" sz="1400">
                <a:solidFill>
                  <a:schemeClr val="dk1"/>
                </a:solidFill>
                <a:latin typeface="Roboto"/>
                <a:ea typeface="Roboto"/>
                <a:cs typeface="Roboto"/>
                <a:sym typeface="Roboto"/>
              </a:rPr>
              <a:t>✓ You've tried online courses but lost momentum without structure </a:t>
            </a:r>
            <a:br>
              <a:rPr lang="en-GB" sz="1400">
                <a:solidFill>
                  <a:schemeClr val="dk1"/>
                </a:solidFill>
                <a:latin typeface="Roboto"/>
                <a:ea typeface="Roboto"/>
                <a:cs typeface="Roboto"/>
                <a:sym typeface="Roboto"/>
              </a:rPr>
            </a:br>
            <a:r>
              <a:rPr lang="en-GB" sz="1400">
                <a:solidFill>
                  <a:schemeClr val="dk1"/>
                </a:solidFill>
                <a:latin typeface="Roboto"/>
                <a:ea typeface="Roboto"/>
                <a:cs typeface="Roboto"/>
                <a:sym typeface="Roboto"/>
              </a:rPr>
              <a:t>✓ You want a job — not just a certificate </a:t>
            </a:r>
            <a:br>
              <a:rPr lang="en-GB" sz="1400">
                <a:solidFill>
                  <a:schemeClr val="dk1"/>
                </a:solidFill>
                <a:latin typeface="Roboto"/>
                <a:ea typeface="Roboto"/>
                <a:cs typeface="Roboto"/>
                <a:sym typeface="Roboto"/>
              </a:rPr>
            </a:br>
            <a:r>
              <a:rPr lang="en-GB" sz="1400">
                <a:solidFill>
                  <a:schemeClr val="dk1"/>
                </a:solidFill>
                <a:latin typeface="Roboto"/>
                <a:ea typeface="Roboto"/>
                <a:cs typeface="Roboto"/>
                <a:sym typeface="Roboto"/>
              </a:rPr>
              <a:t>✓ You can commit 35–40 hours a week for 24 weeks</a:t>
            </a:r>
            <a:endParaRPr sz="1400">
              <a:solidFill>
                <a:schemeClr val="dk1"/>
              </a:solidFill>
              <a:latin typeface="Roboto"/>
              <a:ea typeface="Roboto"/>
              <a:cs typeface="Roboto"/>
              <a:sym typeface="Roboto"/>
            </a:endParaRPr>
          </a:p>
          <a:p>
            <a:pPr indent="0" lvl="0" marL="0" rtl="0" algn="l">
              <a:spcBef>
                <a:spcPts val="1200"/>
              </a:spcBef>
              <a:spcAft>
                <a:spcPts val="1200"/>
              </a:spcAft>
              <a:buNone/>
            </a:pPr>
            <a:r>
              <a:t/>
            </a:r>
            <a:endParaRPr sz="1400">
              <a:solidFill>
                <a:schemeClr val="dk1"/>
              </a:solidFill>
              <a:latin typeface="Roboto"/>
              <a:ea typeface="Roboto"/>
              <a:cs typeface="Roboto"/>
              <a:sym typeface="Roboto"/>
            </a:endParaRPr>
          </a:p>
        </p:txBody>
      </p:sp>
      <p:sp>
        <p:nvSpPr>
          <p:cNvPr id="71" name="Google Shape;71;p16"/>
          <p:cNvSpPr txBox="1"/>
          <p:nvPr>
            <p:ph idx="4294967295"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Who This Program Is For </a:t>
            </a:r>
            <a:endParaRPr>
              <a:solidFill>
                <a:srgbClr val="434343"/>
              </a:solidFill>
              <a:latin typeface="Roboto Medium"/>
              <a:ea typeface="Roboto Medium"/>
              <a:cs typeface="Roboto Medium"/>
              <a:sym typeface="Roboto Medium"/>
            </a:endParaRPr>
          </a:p>
        </p:txBody>
      </p:sp>
      <p:pic>
        <p:nvPicPr>
          <p:cNvPr id="72" name="Google Shape;72;p16"/>
          <p:cNvPicPr preferRelativeResize="0"/>
          <p:nvPr/>
        </p:nvPicPr>
        <p:blipFill>
          <a:blip r:embed="rId3">
            <a:alphaModFix/>
          </a:blip>
          <a:stretch>
            <a:fillRect/>
          </a:stretch>
        </p:blipFill>
        <p:spPr>
          <a:xfrm>
            <a:off x="6941925" y="3050525"/>
            <a:ext cx="896500" cy="1050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idx="4294967295" type="body"/>
          </p:nvPr>
        </p:nvSpPr>
        <p:spPr>
          <a:xfrm>
            <a:off x="671425" y="1152475"/>
            <a:ext cx="71670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i="1" lang="en-GB" sz="1400">
                <a:solidFill>
                  <a:srgbClr val="434343"/>
                </a:solidFill>
                <a:latin typeface="Roboto"/>
                <a:ea typeface="Roboto"/>
                <a:cs typeface="Roboto"/>
                <a:sym typeface="Roboto"/>
              </a:rPr>
              <a:t>You won't just learn data — you'll speak it.</a:t>
            </a:r>
            <a:endParaRPr i="1" sz="1400">
              <a:solidFill>
                <a:srgbClr val="434343"/>
              </a:solidFill>
              <a:latin typeface="Roboto"/>
              <a:ea typeface="Roboto"/>
              <a:cs typeface="Roboto"/>
              <a:sym typeface="Roboto"/>
            </a:endParaRPr>
          </a:p>
          <a:p>
            <a:pPr indent="-317500" lvl="0" marL="457200" rtl="0" algn="l">
              <a:spcBef>
                <a:spcPts val="120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Job-ready skills</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Real portfolio projects</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Industry-recognized certifications</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Employer-ready confidence</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Hands-on tool experience</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A specialization track</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A network that grows with you</a:t>
            </a:r>
            <a:endParaRPr sz="1400">
              <a:solidFill>
                <a:srgbClr val="434343"/>
              </a:solidFill>
              <a:latin typeface="Roboto"/>
              <a:ea typeface="Roboto"/>
              <a:cs typeface="Roboto"/>
              <a:sym typeface="Roboto"/>
            </a:endParaRPr>
          </a:p>
          <a:p>
            <a:pPr indent="0" lvl="0" marL="0" rtl="0" algn="l">
              <a:spcBef>
                <a:spcPts val="1200"/>
              </a:spcBef>
              <a:spcAft>
                <a:spcPts val="1200"/>
              </a:spcAft>
              <a:buNone/>
            </a:pPr>
            <a:r>
              <a:t/>
            </a:r>
            <a:endParaRPr sz="1400">
              <a:solidFill>
                <a:srgbClr val="434343"/>
              </a:solidFill>
              <a:latin typeface="Roboto"/>
              <a:ea typeface="Roboto"/>
              <a:cs typeface="Roboto"/>
              <a:sym typeface="Roboto"/>
            </a:endParaRPr>
          </a:p>
        </p:txBody>
      </p:sp>
      <p:sp>
        <p:nvSpPr>
          <p:cNvPr id="78" name="Google Shape;78;p17"/>
          <p:cNvSpPr txBox="1"/>
          <p:nvPr>
            <p:ph idx="4294967295"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What You'll Walk Away With </a:t>
            </a:r>
            <a:endParaRPr>
              <a:solidFill>
                <a:srgbClr val="434343"/>
              </a:solidFill>
              <a:latin typeface="Roboto Medium"/>
              <a:ea typeface="Roboto Medium"/>
              <a:cs typeface="Roboto Medium"/>
              <a:sym typeface="Roboto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idx="4294967295" type="body"/>
          </p:nvPr>
        </p:nvSpPr>
        <p:spPr>
          <a:xfrm>
            <a:off x="671425" y="1152475"/>
            <a:ext cx="7167000" cy="3416400"/>
          </a:xfrm>
          <a:prstGeom prst="rect">
            <a:avLst/>
          </a:prstGeom>
        </p:spPr>
        <p:txBody>
          <a:bodyPr anchorCtr="0" anchor="t" bIns="91425" lIns="91425" spcFirstLastPara="1" rIns="91425" wrap="square" tIns="91425">
            <a:normAutofit/>
          </a:bodyPr>
          <a:lstStyle/>
          <a:p>
            <a:pPr indent="-317500" lvl="0" marL="457200" rtl="0" algn="l">
              <a:spcBef>
                <a:spcPts val="120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24 weeks of structured learning</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Five phases, each building on the last</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Weekly sessions with guided projects</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Slack community for daily support</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Regular skill checks along the way</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Mentor-led feedback throughout</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Real work, not just theory</a:t>
            </a:r>
            <a:endParaRPr sz="1400">
              <a:solidFill>
                <a:schemeClr val="dk1"/>
              </a:solidFill>
              <a:latin typeface="Roboto"/>
              <a:ea typeface="Roboto"/>
              <a:cs typeface="Roboto"/>
              <a:sym typeface="Roboto"/>
            </a:endParaRPr>
          </a:p>
          <a:p>
            <a:pPr indent="0" lvl="0" marL="0" rtl="0" algn="l">
              <a:spcBef>
                <a:spcPts val="1200"/>
              </a:spcBef>
              <a:spcAft>
                <a:spcPts val="1200"/>
              </a:spcAft>
              <a:buNone/>
            </a:pPr>
            <a:r>
              <a:t/>
            </a:r>
            <a:endParaRPr sz="1400">
              <a:solidFill>
                <a:schemeClr val="dk1"/>
              </a:solidFill>
              <a:latin typeface="Roboto"/>
              <a:ea typeface="Roboto"/>
              <a:cs typeface="Roboto"/>
              <a:sym typeface="Roboto"/>
            </a:endParaRPr>
          </a:p>
        </p:txBody>
      </p:sp>
      <p:sp>
        <p:nvSpPr>
          <p:cNvPr id="84" name="Google Shape;84;p18"/>
          <p:cNvSpPr txBox="1"/>
          <p:nvPr>
            <p:ph idx="4294967295"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How the Program Is Structured </a:t>
            </a:r>
            <a:endParaRPr>
              <a:solidFill>
                <a:srgbClr val="434343"/>
              </a:solidFill>
              <a:latin typeface="Roboto Medium"/>
              <a:ea typeface="Roboto Medium"/>
              <a:cs typeface="Roboto Medium"/>
              <a:sym typeface="Roboto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idx="4294967295" type="body"/>
          </p:nvPr>
        </p:nvSpPr>
        <p:spPr>
          <a:xfrm>
            <a:off x="671425" y="1152475"/>
            <a:ext cx="71670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i="1" lang="en-GB" sz="1400">
                <a:solidFill>
                  <a:schemeClr val="dk1"/>
                </a:solidFill>
                <a:latin typeface="Roboto"/>
                <a:ea typeface="Roboto"/>
                <a:cs typeface="Roboto"/>
                <a:sym typeface="Roboto"/>
              </a:rPr>
              <a:t>Every week has a purpose. Every phase has a destination.</a:t>
            </a:r>
            <a:r>
              <a:rPr lang="en-GB" sz="1400">
                <a:solidFill>
                  <a:schemeClr val="dk1"/>
                </a:solidFill>
                <a:latin typeface="Roboto"/>
                <a:ea typeface="Roboto"/>
                <a:cs typeface="Roboto"/>
                <a:sym typeface="Roboto"/>
              </a:rPr>
              <a:t> </a:t>
            </a:r>
            <a:endParaRPr sz="1400">
              <a:solidFill>
                <a:schemeClr val="dk1"/>
              </a:solidFill>
              <a:latin typeface="Roboto"/>
              <a:ea typeface="Roboto"/>
              <a:cs typeface="Roboto"/>
              <a:sym typeface="Roboto"/>
            </a:endParaRPr>
          </a:p>
          <a:p>
            <a:pPr indent="-317500" lvl="0" marL="457200" rtl="0" algn="l">
              <a:spcBef>
                <a:spcPts val="120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Weeks 1–4: Data &amp; analytics foundations</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Weeks 5–8: Power BI dashboards</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Weeks 9–14: SQL fundamentals</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Weeks 15–20: Python &amp; machine learning</a:t>
            </a:r>
            <a:endParaRPr sz="1400">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sz="1400">
                <a:solidFill>
                  <a:schemeClr val="dk1"/>
                </a:solidFill>
                <a:latin typeface="Roboto"/>
                <a:ea typeface="Roboto"/>
                <a:cs typeface="Roboto"/>
                <a:sym typeface="Roboto"/>
              </a:rPr>
              <a:t>Weeks 21–24: Your specialization track</a:t>
            </a:r>
            <a:endParaRPr sz="1400">
              <a:solidFill>
                <a:schemeClr val="dk1"/>
              </a:solidFill>
              <a:latin typeface="Roboto"/>
              <a:ea typeface="Roboto"/>
              <a:cs typeface="Roboto"/>
              <a:sym typeface="Roboto"/>
            </a:endParaRPr>
          </a:p>
          <a:p>
            <a:pPr indent="0" lvl="0" marL="0" rtl="0" algn="l">
              <a:spcBef>
                <a:spcPts val="1200"/>
              </a:spcBef>
              <a:spcAft>
                <a:spcPts val="0"/>
              </a:spcAft>
              <a:buClr>
                <a:schemeClr val="dk1"/>
              </a:buClr>
              <a:buSzPts val="1100"/>
              <a:buFont typeface="Arial"/>
              <a:buNone/>
            </a:pPr>
            <a:r>
              <a:rPr lang="en-GB" sz="1400">
                <a:solidFill>
                  <a:schemeClr val="dk1"/>
                </a:solidFill>
                <a:latin typeface="Roboto"/>
                <a:ea typeface="Roboto"/>
                <a:cs typeface="Roboto"/>
                <a:sym typeface="Roboto"/>
              </a:rPr>
              <a:t>Two tracks based on your skills</a:t>
            </a:r>
            <a:endParaRPr sz="1400">
              <a:solidFill>
                <a:schemeClr val="dk1"/>
              </a:solidFill>
              <a:latin typeface="Roboto"/>
              <a:ea typeface="Roboto"/>
              <a:cs typeface="Roboto"/>
              <a:sym typeface="Roboto"/>
            </a:endParaRPr>
          </a:p>
          <a:p>
            <a:pPr indent="0" lvl="0" marL="0" rtl="0" algn="l">
              <a:spcBef>
                <a:spcPts val="1200"/>
              </a:spcBef>
              <a:spcAft>
                <a:spcPts val="0"/>
              </a:spcAft>
              <a:buClr>
                <a:schemeClr val="dk1"/>
              </a:buClr>
              <a:buSzPts val="1100"/>
              <a:buFont typeface="Arial"/>
              <a:buNone/>
            </a:pPr>
            <a:r>
              <a:rPr lang="en-GB" sz="1400">
                <a:solidFill>
                  <a:schemeClr val="dk1"/>
                </a:solidFill>
                <a:latin typeface="Roboto"/>
                <a:ea typeface="Roboto"/>
                <a:cs typeface="Roboto"/>
                <a:sym typeface="Roboto"/>
              </a:rPr>
              <a:t>One clear goal: employability</a:t>
            </a:r>
            <a:endParaRPr sz="1400">
              <a:solidFill>
                <a:schemeClr val="dk1"/>
              </a:solidFill>
              <a:latin typeface="Roboto"/>
              <a:ea typeface="Roboto"/>
              <a:cs typeface="Roboto"/>
              <a:sym typeface="Roboto"/>
            </a:endParaRPr>
          </a:p>
          <a:p>
            <a:pPr indent="0" lvl="0" marL="0" rtl="0" algn="l">
              <a:spcBef>
                <a:spcPts val="1200"/>
              </a:spcBef>
              <a:spcAft>
                <a:spcPts val="1200"/>
              </a:spcAft>
              <a:buNone/>
            </a:pPr>
            <a:r>
              <a:t/>
            </a:r>
            <a:endParaRPr sz="1400">
              <a:solidFill>
                <a:schemeClr val="dk1"/>
              </a:solidFill>
              <a:latin typeface="Roboto"/>
              <a:ea typeface="Roboto"/>
              <a:cs typeface="Roboto"/>
              <a:sym typeface="Roboto"/>
            </a:endParaRPr>
          </a:p>
        </p:txBody>
      </p:sp>
      <p:sp>
        <p:nvSpPr>
          <p:cNvPr id="90" name="Google Shape;90;p19"/>
          <p:cNvSpPr txBox="1"/>
          <p:nvPr>
            <p:ph idx="4294967295"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Your 24-Week Roadmap Overview </a:t>
            </a:r>
            <a:endParaRPr>
              <a:solidFill>
                <a:srgbClr val="434343"/>
              </a:solidFill>
              <a:latin typeface="Roboto Medium"/>
              <a:ea typeface="Roboto Medium"/>
              <a:cs typeface="Roboto Medium"/>
              <a:sym typeface="Roboto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Week 1–4: Data Analytics Foundations </a:t>
            </a:r>
            <a:endParaRPr>
              <a:solidFill>
                <a:srgbClr val="434343"/>
              </a:solidFill>
              <a:latin typeface="Roboto Medium"/>
              <a:ea typeface="Roboto Medium"/>
              <a:cs typeface="Roboto Medium"/>
              <a:sym typeface="Roboto Medium"/>
            </a:endParaRPr>
          </a:p>
        </p:txBody>
      </p:sp>
      <p:sp>
        <p:nvSpPr>
          <p:cNvPr id="96" name="Google Shape;96;p20"/>
          <p:cNvSpPr txBox="1"/>
          <p:nvPr>
            <p:ph idx="4294967295" type="body"/>
          </p:nvPr>
        </p:nvSpPr>
        <p:spPr>
          <a:xfrm>
            <a:off x="671425" y="1152475"/>
            <a:ext cx="71670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i="1" lang="en-GB" sz="1400">
                <a:solidFill>
                  <a:srgbClr val="434343"/>
                </a:solidFill>
                <a:latin typeface="Roboto"/>
                <a:ea typeface="Roboto"/>
                <a:cs typeface="Roboto"/>
                <a:sym typeface="Roboto"/>
              </a:rPr>
              <a:t>Before you run the data, understand it. </a:t>
            </a:r>
            <a:endParaRPr i="1" sz="1400">
              <a:solidFill>
                <a:srgbClr val="434343"/>
              </a:solidFill>
              <a:latin typeface="Roboto"/>
              <a:ea typeface="Roboto"/>
              <a:cs typeface="Roboto"/>
              <a:sym typeface="Roboto"/>
            </a:endParaRPr>
          </a:p>
          <a:p>
            <a:pPr indent="-317500" lvl="0" marL="457200" rtl="0" algn="l">
              <a:spcBef>
                <a:spcPts val="120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What data analytics really means</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Real-world use cases: Netflix, FIFA, movies</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Career mindset and learning habits</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Maths, statistics, and why they matter</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Introduction to AI in data</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ETL processes explained simply</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Google Sheets as your first tool</a:t>
            </a:r>
            <a:endParaRPr sz="1400">
              <a:solidFill>
                <a:srgbClr val="434343"/>
              </a:solidFill>
              <a:latin typeface="Roboto"/>
              <a:ea typeface="Roboto"/>
              <a:cs typeface="Roboto"/>
              <a:sym typeface="Roboto"/>
            </a:endParaRPr>
          </a:p>
          <a:p>
            <a:pPr indent="0" lvl="0" marL="0" rtl="0" algn="l">
              <a:spcBef>
                <a:spcPts val="1200"/>
              </a:spcBef>
              <a:spcAft>
                <a:spcPts val="1200"/>
              </a:spcAft>
              <a:buNone/>
            </a:pPr>
            <a:r>
              <a:t/>
            </a:r>
            <a:endParaRPr i="1" sz="1400">
              <a:solidFill>
                <a:srgbClr val="434343"/>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1"/>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GB">
                <a:solidFill>
                  <a:srgbClr val="434343"/>
                </a:solidFill>
                <a:latin typeface="Roboto Medium"/>
                <a:ea typeface="Roboto Medium"/>
                <a:cs typeface="Roboto Medium"/>
                <a:sym typeface="Roboto Medium"/>
              </a:rPr>
              <a:t>Tools &amp; Mindset From Day One</a:t>
            </a:r>
            <a:endParaRPr>
              <a:solidFill>
                <a:srgbClr val="434343"/>
              </a:solidFill>
              <a:latin typeface="Roboto Medium"/>
              <a:ea typeface="Roboto Medium"/>
              <a:cs typeface="Roboto Medium"/>
              <a:sym typeface="Roboto Medium"/>
            </a:endParaRPr>
          </a:p>
          <a:p>
            <a:pPr indent="0" lvl="0" marL="0" rtl="0" algn="l">
              <a:spcBef>
                <a:spcPts val="0"/>
              </a:spcBef>
              <a:spcAft>
                <a:spcPts val="0"/>
              </a:spcAft>
              <a:buClr>
                <a:schemeClr val="dk1"/>
              </a:buClr>
              <a:buSzPct val="39286"/>
              <a:buFont typeface="Arial"/>
              <a:buNone/>
            </a:pPr>
            <a:r>
              <a:t/>
            </a:r>
            <a:endParaRPr>
              <a:solidFill>
                <a:srgbClr val="434343"/>
              </a:solidFill>
              <a:latin typeface="Roboto Medium"/>
              <a:ea typeface="Roboto Medium"/>
              <a:cs typeface="Roboto Medium"/>
              <a:sym typeface="Roboto Medium"/>
            </a:endParaRPr>
          </a:p>
          <a:p>
            <a:pPr indent="0" lvl="0" marL="0" rtl="0" algn="l">
              <a:spcBef>
                <a:spcPts val="0"/>
              </a:spcBef>
              <a:spcAft>
                <a:spcPts val="0"/>
              </a:spcAft>
              <a:buNone/>
            </a:pPr>
            <a:r>
              <a:t/>
            </a:r>
            <a:endParaRPr>
              <a:solidFill>
                <a:srgbClr val="434343"/>
              </a:solidFill>
              <a:latin typeface="Roboto Medium"/>
              <a:ea typeface="Roboto Medium"/>
              <a:cs typeface="Roboto Medium"/>
              <a:sym typeface="Roboto Medium"/>
            </a:endParaRPr>
          </a:p>
        </p:txBody>
      </p:sp>
      <p:sp>
        <p:nvSpPr>
          <p:cNvPr id="102" name="Google Shape;102;p21"/>
          <p:cNvSpPr txBox="1"/>
          <p:nvPr>
            <p:ph idx="4294967295" type="body"/>
          </p:nvPr>
        </p:nvSpPr>
        <p:spPr>
          <a:xfrm>
            <a:off x="671425" y="1152475"/>
            <a:ext cx="71670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i="1" lang="en-GB" sz="1400">
                <a:solidFill>
                  <a:srgbClr val="434343"/>
                </a:solidFill>
                <a:latin typeface="Roboto"/>
                <a:ea typeface="Roboto"/>
                <a:cs typeface="Roboto"/>
                <a:sym typeface="Roboto"/>
              </a:rPr>
              <a:t>Your environment shapes your growth. </a:t>
            </a:r>
            <a:endParaRPr i="1" sz="1400">
              <a:solidFill>
                <a:srgbClr val="434343"/>
              </a:solidFill>
              <a:latin typeface="Roboto"/>
              <a:ea typeface="Roboto"/>
              <a:cs typeface="Roboto"/>
              <a:sym typeface="Roboto"/>
            </a:endParaRPr>
          </a:p>
          <a:p>
            <a:pPr indent="-317500" lvl="0" marL="457200" rtl="0" algn="l">
              <a:spcBef>
                <a:spcPts val="120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What data analytics really means</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Real-world use cases: Netflix, FIFA, movies</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Career mindset and learning habits</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Maths, statistics, and why they matter</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Introduction to AI in data</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ETL processes explained simply</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Google Sheets as your first tool</a:t>
            </a:r>
            <a:endParaRPr sz="1400">
              <a:solidFill>
                <a:srgbClr val="434343"/>
              </a:solidFill>
              <a:latin typeface="Roboto"/>
              <a:ea typeface="Roboto"/>
              <a:cs typeface="Roboto"/>
              <a:sym typeface="Roboto"/>
            </a:endParaRPr>
          </a:p>
          <a:p>
            <a:pPr indent="0" lvl="0" marL="0" rtl="0" algn="l">
              <a:spcBef>
                <a:spcPts val="1200"/>
              </a:spcBef>
              <a:spcAft>
                <a:spcPts val="1200"/>
              </a:spcAft>
              <a:buNone/>
            </a:pPr>
            <a:r>
              <a:t/>
            </a:r>
            <a:endParaRPr i="1" sz="1400">
              <a:solidFill>
                <a:srgbClr val="434343"/>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2"/>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Week 5–8: Power BI Essentials </a:t>
            </a:r>
            <a:endParaRPr>
              <a:solidFill>
                <a:srgbClr val="434343"/>
              </a:solidFill>
              <a:latin typeface="Roboto Medium"/>
              <a:ea typeface="Roboto Medium"/>
              <a:cs typeface="Roboto Medium"/>
              <a:sym typeface="Roboto Medium"/>
            </a:endParaRPr>
          </a:p>
        </p:txBody>
      </p:sp>
      <p:sp>
        <p:nvSpPr>
          <p:cNvPr id="108" name="Google Shape;108;p22"/>
          <p:cNvSpPr txBox="1"/>
          <p:nvPr>
            <p:ph idx="4294967295" type="body"/>
          </p:nvPr>
        </p:nvSpPr>
        <p:spPr>
          <a:xfrm>
            <a:off x="671425" y="1152475"/>
            <a:ext cx="71670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i="1" lang="en-GB" sz="1400">
                <a:solidFill>
                  <a:srgbClr val="434343"/>
                </a:solidFill>
                <a:latin typeface="Roboto"/>
                <a:ea typeface="Roboto"/>
                <a:cs typeface="Roboto"/>
                <a:sym typeface="Roboto"/>
              </a:rPr>
              <a:t>Data without a story is just noise. </a:t>
            </a:r>
            <a:endParaRPr i="1" sz="1400">
              <a:solidFill>
                <a:srgbClr val="434343"/>
              </a:solidFill>
              <a:latin typeface="Roboto"/>
              <a:ea typeface="Roboto"/>
              <a:cs typeface="Roboto"/>
              <a:sym typeface="Roboto"/>
            </a:endParaRPr>
          </a:p>
          <a:p>
            <a:pPr indent="-317500" lvl="0" marL="457200" rtl="0" algn="l">
              <a:spcBef>
                <a:spcPts val="120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Connect and transform raw data</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Build professional dashboards</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Use AI visuals like Key Influencers</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Q&amp;A visual for natural language queries</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Real business case studies</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Data storytelling techniques</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Present insights with confidence</a:t>
            </a:r>
            <a:endParaRPr sz="1400">
              <a:solidFill>
                <a:srgbClr val="434343"/>
              </a:solidFill>
              <a:latin typeface="Roboto"/>
              <a:ea typeface="Roboto"/>
              <a:cs typeface="Roboto"/>
              <a:sym typeface="Roboto"/>
            </a:endParaRPr>
          </a:p>
          <a:p>
            <a:pPr indent="0" lvl="0" marL="0" rtl="0" algn="l">
              <a:spcBef>
                <a:spcPts val="1200"/>
              </a:spcBef>
              <a:spcAft>
                <a:spcPts val="1200"/>
              </a:spcAft>
              <a:buNone/>
            </a:pPr>
            <a:r>
              <a:t/>
            </a:r>
            <a:endParaRPr i="1" sz="1400">
              <a:solidFill>
                <a:srgbClr val="434343"/>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3"/>
          <p:cNvSpPr txBox="1"/>
          <p:nvPr/>
        </p:nvSpPr>
        <p:spPr>
          <a:xfrm>
            <a:off x="671500" y="1225500"/>
            <a:ext cx="71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pic>
        <p:nvPicPr>
          <p:cNvPr id="114" name="Google Shape;114;p23"/>
          <p:cNvPicPr preferRelativeResize="0"/>
          <p:nvPr/>
        </p:nvPicPr>
        <p:blipFill>
          <a:blip r:embed="rId3">
            <a:alphaModFix/>
          </a:blip>
          <a:stretch>
            <a:fillRect/>
          </a:stretch>
        </p:blipFill>
        <p:spPr>
          <a:xfrm>
            <a:off x="0" y="0"/>
            <a:ext cx="7375326" cy="41267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4"/>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Turning Raw Data Into Stories </a:t>
            </a:r>
            <a:endParaRPr>
              <a:solidFill>
                <a:srgbClr val="434343"/>
              </a:solidFill>
              <a:latin typeface="Roboto Medium"/>
              <a:ea typeface="Roboto Medium"/>
              <a:cs typeface="Roboto Medium"/>
              <a:sym typeface="Roboto Medium"/>
            </a:endParaRPr>
          </a:p>
        </p:txBody>
      </p:sp>
      <p:sp>
        <p:nvSpPr>
          <p:cNvPr id="120" name="Google Shape;120;p24"/>
          <p:cNvSpPr txBox="1"/>
          <p:nvPr/>
        </p:nvSpPr>
        <p:spPr>
          <a:xfrm>
            <a:off x="671500" y="1225500"/>
            <a:ext cx="71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121" name="Google Shape;121;p24"/>
          <p:cNvSpPr txBox="1"/>
          <p:nvPr>
            <p:ph idx="4294967295" type="body"/>
          </p:nvPr>
        </p:nvSpPr>
        <p:spPr>
          <a:xfrm>
            <a:off x="671425" y="1152475"/>
            <a:ext cx="71670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i="1" lang="en-GB" sz="1400">
                <a:solidFill>
                  <a:srgbClr val="434343"/>
                </a:solidFill>
                <a:latin typeface="Roboto"/>
                <a:ea typeface="Roboto"/>
                <a:cs typeface="Roboto"/>
                <a:sym typeface="Roboto"/>
              </a:rPr>
              <a:t>The best analysts don't just find insights — they sell them. </a:t>
            </a:r>
            <a:endParaRPr i="1" sz="1400">
              <a:solidFill>
                <a:srgbClr val="434343"/>
              </a:solidFill>
              <a:latin typeface="Roboto"/>
              <a:ea typeface="Roboto"/>
              <a:cs typeface="Roboto"/>
              <a:sym typeface="Roboto"/>
            </a:endParaRPr>
          </a:p>
          <a:p>
            <a:pPr indent="-317500" lvl="0" marL="457200" rtl="0" algn="l">
              <a:spcBef>
                <a:spcPts val="120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Clean, transform, and visualize data</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Understand your audience first</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Choose the right chart every time</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Highlight what actually matters</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Drive decisions with your dashboards</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Make complex simple</a:t>
            </a:r>
            <a:endParaRPr sz="1400">
              <a:solidFill>
                <a:srgbClr val="434343"/>
              </a:solidFill>
              <a:latin typeface="Roboto"/>
              <a:ea typeface="Roboto"/>
              <a:cs typeface="Roboto"/>
              <a:sym typeface="Roboto"/>
            </a:endParaRPr>
          </a:p>
          <a:p>
            <a:pPr indent="-317500" lvl="0" marL="457200" rtl="0" algn="l">
              <a:spcBef>
                <a:spcPts val="0"/>
              </a:spcBef>
              <a:spcAft>
                <a:spcPts val="0"/>
              </a:spcAft>
              <a:buClr>
                <a:srgbClr val="434343"/>
              </a:buClr>
              <a:buSzPts val="1400"/>
              <a:buFont typeface="Roboto"/>
              <a:buChar char="●"/>
            </a:pPr>
            <a:r>
              <a:rPr lang="en-GB" sz="1400">
                <a:solidFill>
                  <a:srgbClr val="434343"/>
                </a:solidFill>
                <a:latin typeface="Roboto"/>
                <a:ea typeface="Roboto"/>
                <a:cs typeface="Roboto"/>
                <a:sym typeface="Roboto"/>
              </a:rPr>
              <a:t>Business impact over pretty visuals</a:t>
            </a:r>
            <a:endParaRPr sz="1400">
              <a:solidFill>
                <a:srgbClr val="434343"/>
              </a:solidFill>
              <a:latin typeface="Roboto"/>
              <a:ea typeface="Roboto"/>
              <a:cs typeface="Roboto"/>
              <a:sym typeface="Roboto"/>
            </a:endParaRPr>
          </a:p>
          <a:p>
            <a:pPr indent="0" lvl="0" marL="0" rtl="0" algn="l">
              <a:spcBef>
                <a:spcPts val="1200"/>
              </a:spcBef>
              <a:spcAft>
                <a:spcPts val="1200"/>
              </a:spcAft>
              <a:buNone/>
            </a:pPr>
            <a:r>
              <a:t/>
            </a:r>
            <a:endParaRPr i="1" sz="1400">
              <a:solidFill>
                <a:srgbClr val="434343"/>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Week 9–14: SQL Fundamentals </a:t>
            </a:r>
            <a:endParaRPr>
              <a:solidFill>
                <a:srgbClr val="434343"/>
              </a:solidFill>
              <a:latin typeface="Roboto Medium"/>
              <a:ea typeface="Roboto Medium"/>
              <a:cs typeface="Roboto Medium"/>
              <a:sym typeface="Roboto Medium"/>
            </a:endParaRPr>
          </a:p>
        </p:txBody>
      </p:sp>
      <p:sp>
        <p:nvSpPr>
          <p:cNvPr id="127" name="Google Shape;127;p25"/>
          <p:cNvSpPr txBox="1"/>
          <p:nvPr/>
        </p:nvSpPr>
        <p:spPr>
          <a:xfrm>
            <a:off x="671500" y="1225500"/>
            <a:ext cx="71670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a:latin typeface="Roboto"/>
                <a:ea typeface="Roboto"/>
                <a:cs typeface="Roboto"/>
                <a:sym typeface="Roboto"/>
              </a:rPr>
              <a:t>If data is gold, SQL is the shovel. </a:t>
            </a:r>
            <a:endParaRPr i="1">
              <a:latin typeface="Roboto"/>
              <a:ea typeface="Roboto"/>
              <a:cs typeface="Roboto"/>
              <a:sym typeface="Roboto"/>
            </a:endParaRPr>
          </a:p>
          <a:p>
            <a:pPr indent="0" lvl="0" marL="0" rtl="0" algn="l">
              <a:spcBef>
                <a:spcPts val="0"/>
              </a:spcBef>
              <a:spcAft>
                <a:spcPts val="0"/>
              </a:spcAft>
              <a:buNone/>
            </a:pPr>
            <a:r>
              <a:t/>
            </a:r>
            <a:endParaRPr i="1">
              <a:latin typeface="Roboto"/>
              <a:ea typeface="Roboto"/>
              <a:cs typeface="Roboto"/>
              <a:sym typeface="Roboto"/>
            </a:endParaRPr>
          </a:p>
          <a:p>
            <a:pPr indent="-317500" lvl="0" marL="457200" rtl="0" algn="l">
              <a:spcBef>
                <a:spcPts val="0"/>
              </a:spcBef>
              <a:spcAft>
                <a:spcPts val="0"/>
              </a:spcAft>
              <a:buSzPts val="1400"/>
              <a:buFont typeface="Roboto"/>
              <a:buChar char="●"/>
            </a:pPr>
            <a:r>
              <a:rPr lang="en-GB">
                <a:latin typeface="Roboto"/>
                <a:ea typeface="Roboto"/>
                <a:cs typeface="Roboto"/>
                <a:sym typeface="Roboto"/>
              </a:rPr>
              <a:t>Understand database structure and logic</a:t>
            </a:r>
            <a:endParaRPr>
              <a:latin typeface="Roboto"/>
              <a:ea typeface="Roboto"/>
              <a:cs typeface="Roboto"/>
              <a:sym typeface="Roboto"/>
            </a:endParaRPr>
          </a:p>
          <a:p>
            <a:pPr indent="-317500" lvl="0" marL="457200" rtl="0" algn="l">
              <a:spcBef>
                <a:spcPts val="0"/>
              </a:spcBef>
              <a:spcAft>
                <a:spcPts val="0"/>
              </a:spcAft>
              <a:buSzPts val="1400"/>
              <a:buFont typeface="Roboto"/>
              <a:buChar char="●"/>
            </a:pPr>
            <a:r>
              <a:rPr lang="en-GB">
                <a:latin typeface="Roboto"/>
                <a:ea typeface="Roboto"/>
                <a:cs typeface="Roboto"/>
                <a:sym typeface="Roboto"/>
              </a:rPr>
              <a:t>Write queries to extract real data</a:t>
            </a:r>
            <a:endParaRPr>
              <a:latin typeface="Roboto"/>
              <a:ea typeface="Roboto"/>
              <a:cs typeface="Roboto"/>
              <a:sym typeface="Roboto"/>
            </a:endParaRPr>
          </a:p>
          <a:p>
            <a:pPr indent="-317500" lvl="0" marL="457200" rtl="0" algn="l">
              <a:spcBef>
                <a:spcPts val="0"/>
              </a:spcBef>
              <a:spcAft>
                <a:spcPts val="0"/>
              </a:spcAft>
              <a:buSzPts val="1400"/>
              <a:buFont typeface="Roboto"/>
              <a:buChar char="●"/>
            </a:pPr>
            <a:r>
              <a:rPr lang="en-GB">
                <a:latin typeface="Roboto"/>
                <a:ea typeface="Roboto"/>
                <a:cs typeface="Roboto"/>
                <a:sym typeface="Roboto"/>
              </a:rPr>
              <a:t>Filter, join, and aggregate like a pro</a:t>
            </a:r>
            <a:endParaRPr>
              <a:latin typeface="Roboto"/>
              <a:ea typeface="Roboto"/>
              <a:cs typeface="Roboto"/>
              <a:sym typeface="Roboto"/>
            </a:endParaRPr>
          </a:p>
          <a:p>
            <a:pPr indent="-317500" lvl="0" marL="457200" rtl="0" algn="l">
              <a:spcBef>
                <a:spcPts val="0"/>
              </a:spcBef>
              <a:spcAft>
                <a:spcPts val="0"/>
              </a:spcAft>
              <a:buSzPts val="1400"/>
              <a:buFont typeface="Roboto"/>
              <a:buChar char="●"/>
            </a:pPr>
            <a:r>
              <a:rPr lang="en-GB">
                <a:latin typeface="Roboto"/>
                <a:ea typeface="Roboto"/>
                <a:cs typeface="Roboto"/>
                <a:sym typeface="Roboto"/>
              </a:rPr>
              <a:t>Prepare data for analytics and ML</a:t>
            </a:r>
            <a:endParaRPr>
              <a:latin typeface="Roboto"/>
              <a:ea typeface="Roboto"/>
              <a:cs typeface="Roboto"/>
              <a:sym typeface="Roboto"/>
            </a:endParaRPr>
          </a:p>
          <a:p>
            <a:pPr indent="-317500" lvl="0" marL="457200" rtl="0" algn="l">
              <a:spcBef>
                <a:spcPts val="0"/>
              </a:spcBef>
              <a:spcAft>
                <a:spcPts val="0"/>
              </a:spcAft>
              <a:buSzPts val="1400"/>
              <a:buFont typeface="Roboto"/>
              <a:buChar char="●"/>
            </a:pPr>
            <a:r>
              <a:rPr lang="en-GB">
                <a:latin typeface="Roboto"/>
                <a:ea typeface="Roboto"/>
                <a:cs typeface="Roboto"/>
                <a:sym typeface="Roboto"/>
              </a:rPr>
              <a:t>Build AI-ready data pipelines</a:t>
            </a:r>
            <a:endParaRPr>
              <a:latin typeface="Roboto"/>
              <a:ea typeface="Roboto"/>
              <a:cs typeface="Roboto"/>
              <a:sym typeface="Roboto"/>
            </a:endParaRPr>
          </a:p>
          <a:p>
            <a:pPr indent="-317500" lvl="0" marL="457200" rtl="0" algn="l">
              <a:spcBef>
                <a:spcPts val="0"/>
              </a:spcBef>
              <a:spcAft>
                <a:spcPts val="0"/>
              </a:spcAft>
              <a:buSzPts val="1400"/>
              <a:buFont typeface="Roboto"/>
              <a:buChar char="●"/>
            </a:pPr>
            <a:r>
              <a:rPr lang="en-GB">
                <a:latin typeface="Roboto"/>
                <a:ea typeface="Roboto"/>
                <a:cs typeface="Roboto"/>
                <a:sym typeface="Roboto"/>
              </a:rPr>
              <a:t>Work with real datasets</a:t>
            </a:r>
            <a:endParaRPr>
              <a:latin typeface="Roboto"/>
              <a:ea typeface="Roboto"/>
              <a:cs typeface="Roboto"/>
              <a:sym typeface="Roboto"/>
            </a:endParaRPr>
          </a:p>
          <a:p>
            <a:pPr indent="-317500" lvl="0" marL="457200" rtl="0" algn="l">
              <a:spcBef>
                <a:spcPts val="0"/>
              </a:spcBef>
              <a:spcAft>
                <a:spcPts val="0"/>
              </a:spcAft>
              <a:buSzPts val="1400"/>
              <a:buFont typeface="Roboto"/>
              <a:buChar char="●"/>
            </a:pPr>
            <a:r>
              <a:rPr lang="en-GB">
                <a:latin typeface="Roboto"/>
                <a:ea typeface="Roboto"/>
                <a:cs typeface="Roboto"/>
                <a:sym typeface="Roboto"/>
              </a:rPr>
              <a:t>SQL is used in every data role</a:t>
            </a:r>
            <a:endParaRPr>
              <a:latin typeface="Roboto"/>
              <a:ea typeface="Roboto"/>
              <a:cs typeface="Roboto"/>
              <a:sym typeface="Roboto"/>
            </a:endParaRPr>
          </a:p>
          <a:p>
            <a:pPr indent="0" lvl="0" marL="0" rtl="0" algn="l">
              <a:spcBef>
                <a:spcPts val="0"/>
              </a:spcBef>
              <a:spcAft>
                <a:spcPts val="0"/>
              </a:spcAft>
              <a:buNone/>
            </a:pPr>
            <a:r>
              <a:t/>
            </a:r>
            <a:endParaRPr>
              <a:latin typeface="Roboto"/>
              <a:ea typeface="Roboto"/>
              <a:cs typeface="Roboto"/>
              <a:sym typeface="Roboto"/>
            </a:endParaRPr>
          </a:p>
        </p:txBody>
      </p:sp>
      <p:pic>
        <p:nvPicPr>
          <p:cNvPr id="128" name="Google Shape;128;p25"/>
          <p:cNvPicPr preferRelativeResize="0"/>
          <p:nvPr/>
        </p:nvPicPr>
        <p:blipFill>
          <a:blip r:embed="rId3">
            <a:alphaModFix/>
          </a:blip>
          <a:stretch>
            <a:fillRect/>
          </a:stretch>
        </p:blipFill>
        <p:spPr>
          <a:xfrm>
            <a:off x="5638025" y="2571750"/>
            <a:ext cx="2115969" cy="15783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6"/>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The Language Every Data Pro Needs </a:t>
            </a:r>
            <a:endParaRPr>
              <a:solidFill>
                <a:srgbClr val="434343"/>
              </a:solidFill>
              <a:latin typeface="Roboto Medium"/>
              <a:ea typeface="Roboto Medium"/>
              <a:cs typeface="Roboto Medium"/>
              <a:sym typeface="Roboto Medium"/>
            </a:endParaRPr>
          </a:p>
        </p:txBody>
      </p:sp>
      <p:sp>
        <p:nvSpPr>
          <p:cNvPr id="134" name="Google Shape;134;p26"/>
          <p:cNvSpPr txBox="1"/>
          <p:nvPr/>
        </p:nvSpPr>
        <p:spPr>
          <a:xfrm>
            <a:off x="671500" y="1225500"/>
            <a:ext cx="71670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i="1" lang="en-GB">
                <a:solidFill>
                  <a:schemeClr val="dk1"/>
                </a:solidFill>
                <a:latin typeface="Roboto"/>
                <a:ea typeface="Roboto"/>
                <a:cs typeface="Roboto"/>
                <a:sym typeface="Roboto"/>
              </a:rPr>
              <a:t>You can't avoid SQL. You shouldn't want to. </a:t>
            </a:r>
            <a:endParaRPr i="1">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GB">
                <a:solidFill>
                  <a:schemeClr val="dk1"/>
                </a:solidFill>
                <a:latin typeface="Roboto"/>
                <a:ea typeface="Roboto"/>
                <a:cs typeface="Roboto"/>
                <a:sym typeface="Roboto"/>
              </a:rPr>
              <a:t>Used across every industry</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Works with Power BI, Python, Azure</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Appears in 90% of data job postings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Foundation for machine learning pipelines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Scales from startup to enterprise</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Learned once, used forever</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Master it here, use it everywhere</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a:solidFill>
                <a:schemeClr val="dk1"/>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7"/>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Week 15–20: Python &amp; Machine Learning </a:t>
            </a:r>
            <a:endParaRPr>
              <a:solidFill>
                <a:srgbClr val="434343"/>
              </a:solidFill>
              <a:latin typeface="Roboto Medium"/>
              <a:ea typeface="Roboto Medium"/>
              <a:cs typeface="Roboto Medium"/>
              <a:sym typeface="Roboto Medium"/>
            </a:endParaRPr>
          </a:p>
        </p:txBody>
      </p:sp>
      <p:sp>
        <p:nvSpPr>
          <p:cNvPr id="140" name="Google Shape;140;p27"/>
          <p:cNvSpPr txBox="1"/>
          <p:nvPr/>
        </p:nvSpPr>
        <p:spPr>
          <a:xfrm>
            <a:off x="671500" y="1225500"/>
            <a:ext cx="71670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i="1" lang="en-GB">
                <a:solidFill>
                  <a:schemeClr val="dk1"/>
                </a:solidFill>
                <a:latin typeface="Roboto"/>
                <a:ea typeface="Roboto"/>
                <a:cs typeface="Roboto"/>
                <a:sym typeface="Roboto"/>
              </a:rPr>
              <a:t>This is where analysts become engineers. </a:t>
            </a:r>
            <a:endParaRPr i="1">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GB">
                <a:solidFill>
                  <a:schemeClr val="dk1"/>
                </a:solidFill>
                <a:latin typeface="Roboto"/>
                <a:ea typeface="Roboto"/>
                <a:cs typeface="Roboto"/>
                <a:sym typeface="Roboto"/>
              </a:rPr>
              <a:t>Python basics for data work</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Pandas and NumPy for data manipulation</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Scikit-learn for machine learning models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Training, testing, and predictions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Real ML workflows from scratch</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Automation over manual work</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Skills assessment to guide your track</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a:solidFill>
                <a:schemeClr val="dk1"/>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8"/>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Your Skills Decide Your Track </a:t>
            </a:r>
            <a:endParaRPr>
              <a:solidFill>
                <a:srgbClr val="434343"/>
              </a:solidFill>
              <a:latin typeface="Roboto Medium"/>
              <a:ea typeface="Roboto Medium"/>
              <a:cs typeface="Roboto Medium"/>
              <a:sym typeface="Roboto Medium"/>
            </a:endParaRPr>
          </a:p>
        </p:txBody>
      </p:sp>
      <p:sp>
        <p:nvSpPr>
          <p:cNvPr id="146" name="Google Shape;146;p28"/>
          <p:cNvSpPr txBox="1"/>
          <p:nvPr/>
        </p:nvSpPr>
        <p:spPr>
          <a:xfrm>
            <a:off x="671500" y="1225500"/>
            <a:ext cx="71670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a:solidFill>
                  <a:schemeClr val="dk1"/>
                </a:solidFill>
                <a:latin typeface="Roboto"/>
                <a:ea typeface="Roboto"/>
                <a:cs typeface="Roboto"/>
                <a:sym typeface="Roboto"/>
              </a:rPr>
              <a:t>There's no wrong path — only the right one for you. </a:t>
            </a:r>
            <a:br>
              <a:rPr i="1" lang="en-GB">
                <a:solidFill>
                  <a:schemeClr val="dk1"/>
                </a:solidFill>
                <a:latin typeface="Roboto"/>
                <a:ea typeface="Roboto"/>
                <a:cs typeface="Roboto"/>
                <a:sym typeface="Roboto"/>
              </a:rPr>
            </a:br>
            <a:endParaRPr i="1">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Assessment at end of Week 20</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Based on performance and interest</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Track A: Azure Big Data</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Track B: Power BI Advanced</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Both lead to strong career outcomes</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Mentors guide your decision</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You move forward, not sideways</a:t>
            </a:r>
            <a:endParaRPr>
              <a:solidFill>
                <a:schemeClr val="dk1"/>
              </a:solidFill>
              <a:latin typeface="Roboto"/>
              <a:ea typeface="Roboto"/>
              <a:cs typeface="Roboto"/>
              <a:sym typeface="Roboto"/>
            </a:endParaRPr>
          </a:p>
          <a:p>
            <a:pPr indent="0" lvl="0" marL="0" rtl="0" algn="l">
              <a:spcBef>
                <a:spcPts val="0"/>
              </a:spcBef>
              <a:spcAft>
                <a:spcPts val="0"/>
              </a:spcAft>
              <a:buNone/>
            </a:pPr>
            <a:r>
              <a:t/>
            </a:r>
            <a:endParaRPr>
              <a:solidFill>
                <a:schemeClr val="dk1"/>
              </a:solidFill>
              <a:latin typeface="Roboto"/>
              <a:ea typeface="Roboto"/>
              <a:cs typeface="Roboto"/>
              <a:sym typeface="Roboto"/>
            </a:endParaRPr>
          </a:p>
        </p:txBody>
      </p:sp>
      <p:pic>
        <p:nvPicPr>
          <p:cNvPr id="147" name="Google Shape;147;p28"/>
          <p:cNvPicPr preferRelativeResize="0"/>
          <p:nvPr/>
        </p:nvPicPr>
        <p:blipFill>
          <a:blip r:embed="rId3">
            <a:alphaModFix/>
          </a:blip>
          <a:stretch>
            <a:fillRect/>
          </a:stretch>
        </p:blipFill>
        <p:spPr>
          <a:xfrm>
            <a:off x="5940400" y="2440822"/>
            <a:ext cx="2353000" cy="23745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9"/>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Track A — Big Data With Azure </a:t>
            </a:r>
            <a:endParaRPr>
              <a:solidFill>
                <a:srgbClr val="434343"/>
              </a:solidFill>
              <a:latin typeface="Roboto Medium"/>
              <a:ea typeface="Roboto Medium"/>
              <a:cs typeface="Roboto Medium"/>
              <a:sym typeface="Roboto Medium"/>
            </a:endParaRPr>
          </a:p>
        </p:txBody>
      </p:sp>
      <p:sp>
        <p:nvSpPr>
          <p:cNvPr id="153" name="Google Shape;153;p29"/>
          <p:cNvSpPr txBox="1"/>
          <p:nvPr/>
        </p:nvSpPr>
        <p:spPr>
          <a:xfrm>
            <a:off x="671500" y="1225500"/>
            <a:ext cx="71670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rgbClr val="434343"/>
                </a:solidFill>
                <a:latin typeface="Roboto"/>
                <a:ea typeface="Roboto"/>
                <a:cs typeface="Roboto"/>
                <a:sym typeface="Roboto"/>
              </a:rPr>
              <a:t>Think bigger. Build for scale.</a:t>
            </a:r>
            <a:endParaRPr i="1">
              <a:solidFill>
                <a:srgbClr val="434343"/>
              </a:solidFill>
              <a:latin typeface="Roboto"/>
              <a:ea typeface="Roboto"/>
              <a:cs typeface="Roboto"/>
              <a:sym typeface="Roboto"/>
            </a:endParaRPr>
          </a:p>
          <a:p>
            <a:pPr indent="-317500" lvl="0" marL="457200" rtl="0" algn="l">
              <a:lnSpc>
                <a:spcPct val="115000"/>
              </a:lnSpc>
              <a:spcBef>
                <a:spcPts val="1200"/>
              </a:spcBef>
              <a:spcAft>
                <a:spcPts val="0"/>
              </a:spcAft>
              <a:buClr>
                <a:srgbClr val="434343"/>
              </a:buClr>
              <a:buSzPts val="1400"/>
              <a:buFont typeface="Roboto"/>
              <a:buChar char="●"/>
            </a:pPr>
            <a:r>
              <a:rPr lang="en-GB">
                <a:solidFill>
                  <a:srgbClr val="434343"/>
                </a:solidFill>
                <a:latin typeface="Roboto"/>
                <a:ea typeface="Roboto"/>
                <a:cs typeface="Roboto"/>
                <a:sym typeface="Roboto"/>
              </a:rPr>
              <a:t>Azure Data Lake and Synapse</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Managing massive datasets in the cloud</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ML Studio for advanced modelling</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AI tools for cloud-based analytics</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Enterprise-level data pipelines</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Prepares you for DP-900 certification</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The path to cloud data engineering</a:t>
            </a:r>
            <a:endParaRPr>
              <a:solidFill>
                <a:srgbClr val="434343"/>
              </a:solidFill>
              <a:latin typeface="Roboto"/>
              <a:ea typeface="Roboto"/>
              <a:cs typeface="Roboto"/>
              <a:sym typeface="Roboto"/>
            </a:endParaRPr>
          </a:p>
          <a:p>
            <a:pPr indent="0" lvl="0" marL="0" rtl="0" algn="l">
              <a:spcBef>
                <a:spcPts val="1200"/>
              </a:spcBef>
              <a:spcAft>
                <a:spcPts val="0"/>
              </a:spcAft>
              <a:buNone/>
            </a:pPr>
            <a:r>
              <a:t/>
            </a:r>
            <a:endParaRPr>
              <a:solidFill>
                <a:schemeClr val="dk1"/>
              </a:solidFill>
              <a:latin typeface="Roboto"/>
              <a:ea typeface="Roboto"/>
              <a:cs typeface="Roboto"/>
              <a:sym typeface="Roboto"/>
            </a:endParaRPr>
          </a:p>
        </p:txBody>
      </p:sp>
      <p:pic>
        <p:nvPicPr>
          <p:cNvPr id="154" name="Google Shape;154;p29"/>
          <p:cNvPicPr preferRelativeResize="0"/>
          <p:nvPr/>
        </p:nvPicPr>
        <p:blipFill>
          <a:blip r:embed="rId3">
            <a:alphaModFix/>
          </a:blip>
          <a:stretch>
            <a:fillRect/>
          </a:stretch>
        </p:blipFill>
        <p:spPr>
          <a:xfrm>
            <a:off x="5691200" y="2383446"/>
            <a:ext cx="2147300" cy="1702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0"/>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Track B — Power BI Advanced </a:t>
            </a:r>
            <a:endParaRPr>
              <a:solidFill>
                <a:srgbClr val="434343"/>
              </a:solidFill>
              <a:latin typeface="Roboto Medium"/>
              <a:ea typeface="Roboto Medium"/>
              <a:cs typeface="Roboto Medium"/>
              <a:sym typeface="Roboto Medium"/>
            </a:endParaRPr>
          </a:p>
        </p:txBody>
      </p:sp>
      <p:sp>
        <p:nvSpPr>
          <p:cNvPr id="160" name="Google Shape;160;p30"/>
          <p:cNvSpPr txBox="1"/>
          <p:nvPr/>
        </p:nvSpPr>
        <p:spPr>
          <a:xfrm>
            <a:off x="671500" y="1225500"/>
            <a:ext cx="71670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rgbClr val="434343"/>
                </a:solidFill>
                <a:latin typeface="Roboto"/>
                <a:ea typeface="Roboto"/>
                <a:cs typeface="Roboto"/>
                <a:sym typeface="Roboto"/>
              </a:rPr>
              <a:t>Master the tool that runs business intelligence.</a:t>
            </a:r>
            <a:endParaRPr i="1">
              <a:solidFill>
                <a:srgbClr val="434343"/>
              </a:solidFill>
              <a:latin typeface="Roboto"/>
              <a:ea typeface="Roboto"/>
              <a:cs typeface="Roboto"/>
              <a:sym typeface="Roboto"/>
            </a:endParaRPr>
          </a:p>
          <a:p>
            <a:pPr indent="-317500" lvl="0" marL="457200" rtl="0" algn="l">
              <a:lnSpc>
                <a:spcPct val="115000"/>
              </a:lnSpc>
              <a:spcBef>
                <a:spcPts val="1200"/>
              </a:spcBef>
              <a:spcAft>
                <a:spcPts val="0"/>
              </a:spcAft>
              <a:buClr>
                <a:srgbClr val="434343"/>
              </a:buClr>
              <a:buSzPts val="1400"/>
              <a:buFont typeface="Roboto"/>
              <a:buChar char="●"/>
            </a:pPr>
            <a:r>
              <a:rPr lang="en-GB">
                <a:solidFill>
                  <a:srgbClr val="434343"/>
                </a:solidFill>
                <a:latin typeface="Roboto"/>
                <a:ea typeface="Roboto"/>
                <a:cs typeface="Roboto"/>
                <a:sym typeface="Roboto"/>
              </a:rPr>
              <a:t>Advanced DAX functions and formulas</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Connect to cloud data sources</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Build KPI-driven executive dashboards</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Real-world reporting projects</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Large dataset handling</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Optional Coursera specialization access</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The path to BI leadership roles</a:t>
            </a:r>
            <a:endParaRPr>
              <a:solidFill>
                <a:srgbClr val="434343"/>
              </a:solidFill>
              <a:latin typeface="Roboto"/>
              <a:ea typeface="Roboto"/>
              <a:cs typeface="Roboto"/>
              <a:sym typeface="Roboto"/>
            </a:endParaRPr>
          </a:p>
          <a:p>
            <a:pPr indent="0" lvl="0" marL="0" rtl="0" algn="l">
              <a:spcBef>
                <a:spcPts val="1200"/>
              </a:spcBef>
              <a:spcAft>
                <a:spcPts val="0"/>
              </a:spcAft>
              <a:buNone/>
            </a:pPr>
            <a:r>
              <a:t/>
            </a:r>
            <a:endParaRPr>
              <a:solidFill>
                <a:schemeClr val="dk1"/>
              </a:solidFill>
              <a:latin typeface="Roboto"/>
              <a:ea typeface="Roboto"/>
              <a:cs typeface="Roboto"/>
              <a:sym typeface="Roboto"/>
            </a:endParaRPr>
          </a:p>
        </p:txBody>
      </p:sp>
      <p:pic>
        <p:nvPicPr>
          <p:cNvPr id="161" name="Google Shape;161;p30"/>
          <p:cNvPicPr preferRelativeResize="0"/>
          <p:nvPr/>
        </p:nvPicPr>
        <p:blipFill>
          <a:blip r:embed="rId3">
            <a:alphaModFix/>
          </a:blip>
          <a:stretch>
            <a:fillRect/>
          </a:stretch>
        </p:blipFill>
        <p:spPr>
          <a:xfrm>
            <a:off x="5646700" y="2163850"/>
            <a:ext cx="1890450" cy="18633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1"/>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The 3 External Certifications You Can Earn </a:t>
            </a:r>
            <a:endParaRPr>
              <a:solidFill>
                <a:srgbClr val="434343"/>
              </a:solidFill>
              <a:latin typeface="Roboto Medium"/>
              <a:ea typeface="Roboto Medium"/>
              <a:cs typeface="Roboto Medium"/>
              <a:sym typeface="Roboto Medium"/>
            </a:endParaRPr>
          </a:p>
        </p:txBody>
      </p:sp>
      <p:sp>
        <p:nvSpPr>
          <p:cNvPr id="167" name="Google Shape;167;p31"/>
          <p:cNvSpPr txBox="1"/>
          <p:nvPr/>
        </p:nvSpPr>
        <p:spPr>
          <a:xfrm>
            <a:off x="671500" y="1225500"/>
            <a:ext cx="71670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rgbClr val="434343"/>
                </a:solidFill>
                <a:latin typeface="Roboto"/>
                <a:ea typeface="Roboto"/>
                <a:cs typeface="Roboto"/>
                <a:sym typeface="Roboto"/>
              </a:rPr>
              <a:t>Certifications don't come free here — they come earned.</a:t>
            </a:r>
            <a:endParaRPr i="1">
              <a:solidFill>
                <a:srgbClr val="434343"/>
              </a:solidFill>
              <a:latin typeface="Roboto"/>
              <a:ea typeface="Roboto"/>
              <a:cs typeface="Roboto"/>
              <a:sym typeface="Roboto"/>
            </a:endParaRPr>
          </a:p>
          <a:p>
            <a:pPr indent="-317500" lvl="0" marL="457200" rtl="0" algn="l">
              <a:lnSpc>
                <a:spcPct val="115000"/>
              </a:lnSpc>
              <a:spcBef>
                <a:spcPts val="1200"/>
              </a:spcBef>
              <a:spcAft>
                <a:spcPts val="0"/>
              </a:spcAft>
              <a:buClr>
                <a:srgbClr val="434343"/>
              </a:buClr>
              <a:buSzPts val="1400"/>
              <a:buFont typeface="Roboto"/>
              <a:buChar char="●"/>
            </a:pPr>
            <a:r>
              <a:rPr lang="en-GB">
                <a:solidFill>
                  <a:srgbClr val="434343"/>
                </a:solidFill>
                <a:latin typeface="Roboto"/>
                <a:ea typeface="Roboto"/>
                <a:cs typeface="Roboto"/>
                <a:sym typeface="Roboto"/>
              </a:rPr>
              <a:t>Azure Data Fundamentals DP-900</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SnowPro Core Certification</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dbt Analytics Engineering Certification</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You must prove your knowledge first</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We guide, assess, and prepare you</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Globally recognized credentials</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Employers know exactly what they mean</a:t>
            </a:r>
            <a:endParaRPr>
              <a:solidFill>
                <a:srgbClr val="434343"/>
              </a:solidFill>
              <a:latin typeface="Roboto"/>
              <a:ea typeface="Roboto"/>
              <a:cs typeface="Roboto"/>
              <a:sym typeface="Roboto"/>
            </a:endParaRPr>
          </a:p>
          <a:p>
            <a:pPr indent="0" lvl="0" marL="0" rtl="0" algn="l">
              <a:spcBef>
                <a:spcPts val="1200"/>
              </a:spcBef>
              <a:spcAft>
                <a:spcPts val="0"/>
              </a:spcAft>
              <a:buNone/>
            </a:pPr>
            <a:r>
              <a:t/>
            </a:r>
            <a:endParaRPr>
              <a:solidFill>
                <a:srgbClr val="434343"/>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2"/>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Azure Data Fundamentals DP-900 </a:t>
            </a:r>
            <a:endParaRPr>
              <a:solidFill>
                <a:srgbClr val="434343"/>
              </a:solidFill>
              <a:latin typeface="Roboto Medium"/>
              <a:ea typeface="Roboto Medium"/>
              <a:cs typeface="Roboto Medium"/>
              <a:sym typeface="Roboto Medium"/>
            </a:endParaRPr>
          </a:p>
        </p:txBody>
      </p:sp>
      <p:sp>
        <p:nvSpPr>
          <p:cNvPr id="173" name="Google Shape;173;p32"/>
          <p:cNvSpPr txBox="1"/>
          <p:nvPr/>
        </p:nvSpPr>
        <p:spPr>
          <a:xfrm>
            <a:off x="671500" y="1225500"/>
            <a:ext cx="71670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rgbClr val="434343"/>
                </a:solidFill>
                <a:latin typeface="Roboto"/>
                <a:ea typeface="Roboto"/>
                <a:cs typeface="Roboto"/>
                <a:sym typeface="Roboto"/>
              </a:rPr>
              <a:t>The cloud credential every enterprise in Germany trusts.</a:t>
            </a:r>
            <a:endParaRPr i="1">
              <a:solidFill>
                <a:srgbClr val="434343"/>
              </a:solidFill>
              <a:latin typeface="Roboto"/>
              <a:ea typeface="Roboto"/>
              <a:cs typeface="Roboto"/>
              <a:sym typeface="Roboto"/>
            </a:endParaRPr>
          </a:p>
          <a:p>
            <a:pPr indent="-317500" lvl="0" marL="457200" rtl="0" algn="l">
              <a:lnSpc>
                <a:spcPct val="115000"/>
              </a:lnSpc>
              <a:spcBef>
                <a:spcPts val="1200"/>
              </a:spcBef>
              <a:spcAft>
                <a:spcPts val="0"/>
              </a:spcAft>
              <a:buClr>
                <a:srgbClr val="434343"/>
              </a:buClr>
              <a:buSzPts val="1400"/>
              <a:buFont typeface="Roboto"/>
              <a:buChar char="●"/>
            </a:pPr>
            <a:r>
              <a:rPr lang="en-GB">
                <a:solidFill>
                  <a:srgbClr val="434343"/>
                </a:solidFill>
                <a:latin typeface="Roboto"/>
                <a:ea typeface="Roboto"/>
                <a:cs typeface="Roboto"/>
                <a:sym typeface="Roboto"/>
              </a:rPr>
              <a:t>Baseline certification for cloud data</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Covers Azure data services and concepts</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Trusted by Siemens, Bayer, Volkswagen</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Deutsche Telekom runs on Azure</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Entry point to cloud data roles</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Validates your cloud understanding</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A must-have for the German market</a:t>
            </a:r>
            <a:endParaRPr>
              <a:solidFill>
                <a:srgbClr val="434343"/>
              </a:solidFill>
              <a:latin typeface="Roboto"/>
              <a:ea typeface="Roboto"/>
              <a:cs typeface="Roboto"/>
              <a:sym typeface="Roboto"/>
            </a:endParaRPr>
          </a:p>
          <a:p>
            <a:pPr indent="0" lvl="0" marL="0" rtl="0" algn="l">
              <a:spcBef>
                <a:spcPts val="1200"/>
              </a:spcBef>
              <a:spcAft>
                <a:spcPts val="0"/>
              </a:spcAft>
              <a:buNone/>
            </a:pPr>
            <a:r>
              <a:t/>
            </a:r>
            <a:endParaRPr i="1">
              <a:solidFill>
                <a:srgbClr val="434343"/>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3"/>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SnowPro Core Certification </a:t>
            </a:r>
            <a:endParaRPr>
              <a:solidFill>
                <a:srgbClr val="434343"/>
              </a:solidFill>
              <a:latin typeface="Roboto Medium"/>
              <a:ea typeface="Roboto Medium"/>
              <a:cs typeface="Roboto Medium"/>
              <a:sym typeface="Roboto Medium"/>
            </a:endParaRPr>
          </a:p>
        </p:txBody>
      </p:sp>
      <p:sp>
        <p:nvSpPr>
          <p:cNvPr id="179" name="Google Shape;179;p33"/>
          <p:cNvSpPr txBox="1"/>
          <p:nvPr/>
        </p:nvSpPr>
        <p:spPr>
          <a:xfrm>
            <a:off x="671500" y="1225500"/>
            <a:ext cx="71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Roboto"/>
              <a:ea typeface="Roboto"/>
              <a:cs typeface="Roboto"/>
              <a:sym typeface="Roboto"/>
            </a:endParaRPr>
          </a:p>
        </p:txBody>
      </p:sp>
      <p:sp>
        <p:nvSpPr>
          <p:cNvPr id="180" name="Google Shape;180;p33"/>
          <p:cNvSpPr txBox="1"/>
          <p:nvPr/>
        </p:nvSpPr>
        <p:spPr>
          <a:xfrm>
            <a:off x="671500" y="1225500"/>
            <a:ext cx="71670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rgbClr val="434343"/>
                </a:solidFill>
                <a:latin typeface="Roboto"/>
                <a:ea typeface="Roboto"/>
                <a:cs typeface="Roboto"/>
                <a:sym typeface="Roboto"/>
              </a:rPr>
              <a:t>3,200+ German job postings. One certification.</a:t>
            </a:r>
            <a:endParaRPr i="1">
              <a:solidFill>
                <a:srgbClr val="434343"/>
              </a:solidFill>
              <a:latin typeface="Roboto"/>
              <a:ea typeface="Roboto"/>
              <a:cs typeface="Roboto"/>
              <a:sym typeface="Roboto"/>
            </a:endParaRPr>
          </a:p>
          <a:p>
            <a:pPr indent="-317500" lvl="0" marL="457200" rtl="0" algn="l">
              <a:lnSpc>
                <a:spcPct val="115000"/>
              </a:lnSpc>
              <a:spcBef>
                <a:spcPts val="1200"/>
              </a:spcBef>
              <a:spcAft>
                <a:spcPts val="0"/>
              </a:spcAft>
              <a:buClr>
                <a:srgbClr val="434343"/>
              </a:buClr>
              <a:buSzPts val="1400"/>
              <a:buFont typeface="Roboto"/>
              <a:buChar char="●"/>
            </a:pPr>
            <a:r>
              <a:rPr lang="en-GB">
                <a:solidFill>
                  <a:srgbClr val="434343"/>
                </a:solidFill>
                <a:latin typeface="Roboto"/>
                <a:ea typeface="Roboto"/>
                <a:cs typeface="Roboto"/>
                <a:sym typeface="Roboto"/>
              </a:rPr>
              <a:t>Snowflake is the #1 cloud data warehouse</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Largest German market share in its category</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Appears in thousands of local job ads</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Commands a real salary premium</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Used by modern data-driven companies</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Validates cloud data warehouse skills</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One of the most in-demand credentials today</a:t>
            </a:r>
            <a:endParaRPr>
              <a:solidFill>
                <a:srgbClr val="434343"/>
              </a:solidFill>
              <a:latin typeface="Roboto"/>
              <a:ea typeface="Roboto"/>
              <a:cs typeface="Roboto"/>
              <a:sym typeface="Roboto"/>
            </a:endParaRPr>
          </a:p>
          <a:p>
            <a:pPr indent="0" lvl="0" marL="0" rtl="0" algn="l">
              <a:spcBef>
                <a:spcPts val="1200"/>
              </a:spcBef>
              <a:spcAft>
                <a:spcPts val="0"/>
              </a:spcAft>
              <a:buNone/>
            </a:pPr>
            <a:r>
              <a:t/>
            </a:r>
            <a:endParaRPr i="1">
              <a:solidFill>
                <a:srgbClr val="434343"/>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4"/>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dbt Analytics Engineering Certification </a:t>
            </a:r>
            <a:endParaRPr>
              <a:solidFill>
                <a:srgbClr val="434343"/>
              </a:solidFill>
              <a:latin typeface="Roboto Medium"/>
              <a:ea typeface="Roboto Medium"/>
              <a:cs typeface="Roboto Medium"/>
              <a:sym typeface="Roboto Medium"/>
            </a:endParaRPr>
          </a:p>
        </p:txBody>
      </p:sp>
      <p:sp>
        <p:nvSpPr>
          <p:cNvPr id="186" name="Google Shape;186;p34"/>
          <p:cNvSpPr txBox="1"/>
          <p:nvPr/>
        </p:nvSpPr>
        <p:spPr>
          <a:xfrm>
            <a:off x="671500" y="1225500"/>
            <a:ext cx="71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Roboto"/>
              <a:ea typeface="Roboto"/>
              <a:cs typeface="Roboto"/>
              <a:sym typeface="Roboto"/>
            </a:endParaRPr>
          </a:p>
        </p:txBody>
      </p:sp>
      <p:sp>
        <p:nvSpPr>
          <p:cNvPr id="187" name="Google Shape;187;p34"/>
          <p:cNvSpPr txBox="1"/>
          <p:nvPr/>
        </p:nvSpPr>
        <p:spPr>
          <a:xfrm>
            <a:off x="671500" y="1225500"/>
            <a:ext cx="71670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chemeClr val="dk1"/>
                </a:solidFill>
                <a:latin typeface="Roboto"/>
                <a:ea typeface="Roboto"/>
                <a:cs typeface="Roboto"/>
                <a:sym typeface="Roboto"/>
              </a:rPr>
              <a:t>The credential the modern data stack is built on.</a:t>
            </a:r>
            <a:endParaRPr i="1">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GB">
                <a:solidFill>
                  <a:schemeClr val="dk1"/>
                </a:solidFill>
                <a:latin typeface="Roboto"/>
                <a:ea typeface="Roboto"/>
                <a:cs typeface="Roboto"/>
                <a:sym typeface="Roboto"/>
              </a:rPr>
              <a:t>dbt is the standard for data transformation</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Listed in roles at Celonis and Personio</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Flixbus and Delivery Hero hire dbt users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Germany's most exciting data employers want this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Analytics engineering is the fastest growing role</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Bridges the gap between data and engineering</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Future-proof your career from day one</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i="1">
              <a:solidFill>
                <a:srgbClr val="434343"/>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5"/>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en-GB">
                <a:solidFill>
                  <a:srgbClr val="434343"/>
                </a:solidFill>
                <a:latin typeface="Roboto Medium"/>
                <a:ea typeface="Roboto Medium"/>
                <a:cs typeface="Roboto Medium"/>
                <a:sym typeface="Roboto Medium"/>
              </a:rPr>
              <a:t>How External Certifications Work Here</a:t>
            </a:r>
            <a:endParaRPr>
              <a:solidFill>
                <a:srgbClr val="434343"/>
              </a:solidFill>
              <a:latin typeface="Roboto Medium"/>
              <a:ea typeface="Roboto Medium"/>
              <a:cs typeface="Roboto Medium"/>
              <a:sym typeface="Roboto Medium"/>
            </a:endParaRPr>
          </a:p>
          <a:p>
            <a:pPr indent="0" lvl="0" marL="0" rtl="0" algn="l">
              <a:spcBef>
                <a:spcPts val="1200"/>
              </a:spcBef>
              <a:spcAft>
                <a:spcPts val="0"/>
              </a:spcAft>
              <a:buNone/>
            </a:pPr>
            <a:r>
              <a:t/>
            </a:r>
            <a:endParaRPr>
              <a:solidFill>
                <a:srgbClr val="434343"/>
              </a:solidFill>
              <a:latin typeface="Roboto Medium"/>
              <a:ea typeface="Roboto Medium"/>
              <a:cs typeface="Roboto Medium"/>
              <a:sym typeface="Roboto Medium"/>
            </a:endParaRPr>
          </a:p>
        </p:txBody>
      </p:sp>
      <p:sp>
        <p:nvSpPr>
          <p:cNvPr id="193" name="Google Shape;193;p35"/>
          <p:cNvSpPr txBox="1"/>
          <p:nvPr/>
        </p:nvSpPr>
        <p:spPr>
          <a:xfrm>
            <a:off x="671500" y="1225500"/>
            <a:ext cx="71670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rgbClr val="434343"/>
                </a:solidFill>
                <a:latin typeface="Roboto"/>
                <a:ea typeface="Roboto"/>
                <a:cs typeface="Roboto"/>
                <a:sym typeface="Roboto"/>
              </a:rPr>
              <a:t>We don't hand out certificates. We build people who earn them.</a:t>
            </a:r>
            <a:endParaRPr i="1">
              <a:solidFill>
                <a:srgbClr val="434343"/>
              </a:solidFill>
              <a:latin typeface="Roboto"/>
              <a:ea typeface="Roboto"/>
              <a:cs typeface="Roboto"/>
              <a:sym typeface="Roboto"/>
            </a:endParaRPr>
          </a:p>
          <a:p>
            <a:pPr indent="-317500" lvl="0" marL="457200" rtl="0" algn="l">
              <a:lnSpc>
                <a:spcPct val="115000"/>
              </a:lnSpc>
              <a:spcBef>
                <a:spcPts val="1200"/>
              </a:spcBef>
              <a:spcAft>
                <a:spcPts val="0"/>
              </a:spcAft>
              <a:buClr>
                <a:srgbClr val="434343"/>
              </a:buClr>
              <a:buSzPts val="1400"/>
              <a:buFont typeface="Roboto"/>
              <a:buChar char="●"/>
            </a:pPr>
            <a:r>
              <a:rPr lang="en-GB">
                <a:solidFill>
                  <a:srgbClr val="434343"/>
                </a:solidFill>
                <a:latin typeface="Roboto"/>
                <a:ea typeface="Roboto"/>
                <a:cs typeface="Roboto"/>
                <a:sym typeface="Roboto"/>
              </a:rPr>
              <a:t>Certifications are not guaranteed by default</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You must demonstrate real knowledge</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We assess your readiness first</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Guided prep sessions are included</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Mock exams and skill checks provided</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We only put forward confident candidates</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Pass because you're ready, not lucky</a:t>
            </a:r>
            <a:endParaRPr>
              <a:solidFill>
                <a:srgbClr val="434343"/>
              </a:solidFill>
              <a:latin typeface="Roboto"/>
              <a:ea typeface="Roboto"/>
              <a:cs typeface="Roboto"/>
              <a:sym typeface="Roboto"/>
            </a:endParaRPr>
          </a:p>
          <a:p>
            <a:pPr indent="0" lvl="0" marL="0" rtl="0" algn="l">
              <a:spcBef>
                <a:spcPts val="1200"/>
              </a:spcBef>
              <a:spcAft>
                <a:spcPts val="0"/>
              </a:spcAft>
              <a:buNone/>
            </a:pPr>
            <a:r>
              <a:t/>
            </a:r>
            <a:endParaRPr i="1">
              <a:solidFill>
                <a:srgbClr val="434343"/>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6"/>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en-GB">
                <a:solidFill>
                  <a:srgbClr val="434343"/>
                </a:solidFill>
                <a:latin typeface="Roboto Medium"/>
                <a:ea typeface="Roboto Medium"/>
                <a:cs typeface="Roboto Medium"/>
                <a:sym typeface="Roboto Medium"/>
              </a:rPr>
              <a:t>Earn Your Dataskools Certificate </a:t>
            </a:r>
            <a:endParaRPr>
              <a:solidFill>
                <a:srgbClr val="434343"/>
              </a:solidFill>
              <a:latin typeface="Roboto Medium"/>
              <a:ea typeface="Roboto Medium"/>
              <a:cs typeface="Roboto Medium"/>
              <a:sym typeface="Roboto Medium"/>
            </a:endParaRPr>
          </a:p>
          <a:p>
            <a:pPr indent="0" lvl="0" marL="0" rtl="0" algn="l">
              <a:spcBef>
                <a:spcPts val="1200"/>
              </a:spcBef>
              <a:spcAft>
                <a:spcPts val="0"/>
              </a:spcAft>
              <a:buNone/>
            </a:pPr>
            <a:r>
              <a:t/>
            </a:r>
            <a:endParaRPr>
              <a:solidFill>
                <a:srgbClr val="434343"/>
              </a:solidFill>
              <a:latin typeface="Roboto Medium"/>
              <a:ea typeface="Roboto Medium"/>
              <a:cs typeface="Roboto Medium"/>
              <a:sym typeface="Roboto Medium"/>
            </a:endParaRPr>
          </a:p>
        </p:txBody>
      </p:sp>
      <p:sp>
        <p:nvSpPr>
          <p:cNvPr id="199" name="Google Shape;199;p36"/>
          <p:cNvSpPr txBox="1"/>
          <p:nvPr/>
        </p:nvSpPr>
        <p:spPr>
          <a:xfrm>
            <a:off x="671500" y="1225500"/>
            <a:ext cx="71670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rgbClr val="434343"/>
                </a:solidFill>
                <a:latin typeface="Roboto"/>
                <a:ea typeface="Roboto"/>
                <a:cs typeface="Roboto"/>
                <a:sym typeface="Roboto"/>
              </a:rPr>
              <a:t>Prove you're ready. Then wear it with pride.</a:t>
            </a:r>
            <a:endParaRPr i="1">
              <a:solidFill>
                <a:srgbClr val="434343"/>
              </a:solidFill>
              <a:latin typeface="Roboto"/>
              <a:ea typeface="Roboto"/>
              <a:cs typeface="Roboto"/>
              <a:sym typeface="Roboto"/>
            </a:endParaRPr>
          </a:p>
          <a:p>
            <a:pPr indent="-317500" lvl="0" marL="457200" rtl="0" algn="l">
              <a:lnSpc>
                <a:spcPct val="115000"/>
              </a:lnSpc>
              <a:spcBef>
                <a:spcPts val="1200"/>
              </a:spcBef>
              <a:spcAft>
                <a:spcPts val="0"/>
              </a:spcAft>
              <a:buClr>
                <a:srgbClr val="434343"/>
              </a:buClr>
              <a:buSzPts val="1400"/>
              <a:buFont typeface="Roboto"/>
              <a:buChar char="●"/>
            </a:pPr>
            <a:r>
              <a:rPr lang="en-GB">
                <a:solidFill>
                  <a:srgbClr val="434343"/>
                </a:solidFill>
                <a:latin typeface="Roboto"/>
                <a:ea typeface="Roboto"/>
                <a:cs typeface="Roboto"/>
                <a:sym typeface="Roboto"/>
              </a:rPr>
              <a:t>Minimum grade B across all modules</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All projects submitted and approved</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Active participation throughout the program</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Passed all module skill checks</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Completed your specialization track</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Peer review and mentor sign-off</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Your proof of work, not just attendance</a:t>
            </a:r>
            <a:endParaRPr>
              <a:solidFill>
                <a:srgbClr val="434343"/>
              </a:solidFill>
              <a:latin typeface="Roboto"/>
              <a:ea typeface="Roboto"/>
              <a:cs typeface="Roboto"/>
              <a:sym typeface="Roboto"/>
            </a:endParaRPr>
          </a:p>
          <a:p>
            <a:pPr indent="0" lvl="0" marL="0" rtl="0" algn="l">
              <a:spcBef>
                <a:spcPts val="1200"/>
              </a:spcBef>
              <a:spcAft>
                <a:spcPts val="0"/>
              </a:spcAft>
              <a:buNone/>
            </a:pPr>
            <a:r>
              <a:t/>
            </a:r>
            <a:endParaRPr i="1">
              <a:solidFill>
                <a:srgbClr val="434343"/>
              </a:solidFill>
              <a:latin typeface="Roboto"/>
              <a:ea typeface="Roboto"/>
              <a:cs typeface="Roboto"/>
              <a:sym typeface="Roboto"/>
            </a:endParaRPr>
          </a:p>
        </p:txBody>
      </p:sp>
      <p:pic>
        <p:nvPicPr>
          <p:cNvPr id="200" name="Google Shape;200;p36"/>
          <p:cNvPicPr preferRelativeResize="0"/>
          <p:nvPr/>
        </p:nvPicPr>
        <p:blipFill>
          <a:blip r:embed="rId3">
            <a:alphaModFix/>
          </a:blip>
          <a:stretch>
            <a:fillRect/>
          </a:stretch>
        </p:blipFill>
        <p:spPr>
          <a:xfrm>
            <a:off x="6024400" y="2571744"/>
            <a:ext cx="2174176" cy="16939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7"/>
          <p:cNvSpPr txBox="1"/>
          <p:nvPr>
            <p:ph type="title"/>
          </p:nvPr>
        </p:nvSpPr>
        <p:spPr>
          <a:xfrm>
            <a:off x="2308800" y="2285400"/>
            <a:ext cx="45264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sz="2400">
                <a:solidFill>
                  <a:srgbClr val="434343"/>
                </a:solidFill>
                <a:latin typeface="Roboto Light"/>
                <a:ea typeface="Roboto Light"/>
                <a:cs typeface="Roboto Light"/>
                <a:sym typeface="Roboto Light"/>
              </a:rPr>
              <a:t>Have Questions?</a:t>
            </a:r>
            <a:endParaRPr sz="2400">
              <a:solidFill>
                <a:srgbClr val="434343"/>
              </a:solidFill>
              <a:latin typeface="Roboto Light"/>
              <a:ea typeface="Roboto Light"/>
              <a:cs typeface="Roboto Light"/>
              <a:sym typeface="Roboto 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9" name="Shape 209"/>
        <p:cNvGrpSpPr/>
        <p:nvPr/>
      </p:nvGrpSpPr>
      <p:grpSpPr>
        <a:xfrm>
          <a:off x="0" y="0"/>
          <a:ext cx="0" cy="0"/>
          <a:chOff x="0" y="0"/>
          <a:chExt cx="0" cy="0"/>
        </a:xfrm>
      </p:grpSpPr>
      <p:pic>
        <p:nvPicPr>
          <p:cNvPr id="210" name="Google Shape;210;p38"/>
          <p:cNvPicPr preferRelativeResize="0"/>
          <p:nvPr/>
        </p:nvPicPr>
        <p:blipFill>
          <a:blip r:embed="rId3">
            <a:alphaModFix/>
          </a:blip>
          <a:stretch>
            <a:fillRect/>
          </a:stretch>
        </p:blipFill>
        <p:spPr>
          <a:xfrm>
            <a:off x="2738237" y="1911028"/>
            <a:ext cx="3667526" cy="13214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