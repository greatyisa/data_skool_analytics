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Lst>
  <p:sldSz cy="5143500" cx="9144000"/>
  <p:notesSz cx="6858000" cy="9144000"/>
  <p:embeddedFontLst>
    <p:embeddedFont>
      <p:font typeface="Roboto"/>
      <p:regular r:id="rId24"/>
      <p:bold r:id="rId25"/>
      <p:italic r:id="rId26"/>
      <p:boldItalic r:id="rId27"/>
    </p:embeddedFont>
    <p:embeddedFont>
      <p:font typeface="Roboto Medium"/>
      <p:regular r:id="rId28"/>
      <p:bold r:id="rId29"/>
      <p:italic r:id="rId30"/>
      <p:boldItalic r:id="rId31"/>
    </p:embeddedFont>
    <p:embeddedFont>
      <p:font typeface="Roboto Light"/>
      <p:regular r:id="rId32"/>
      <p:bold r:id="rId33"/>
      <p:italic r:id="rId34"/>
      <p:boldItalic r:id="rId3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font" Target="fonts/Roboto-regular.fntdata"/><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Roboto-italic.fntdata"/><Relationship Id="rId25" Type="http://schemas.openxmlformats.org/officeDocument/2006/relationships/font" Target="fonts/Roboto-bold.fntdata"/><Relationship Id="rId28" Type="http://schemas.openxmlformats.org/officeDocument/2006/relationships/font" Target="fonts/RobotoMedium-regular.fntdata"/><Relationship Id="rId27" Type="http://schemas.openxmlformats.org/officeDocument/2006/relationships/font" Target="fonts/Roboto-boldItalic.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RobotoMedium-bold.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RobotoMedium-boldItalic.fntdata"/><Relationship Id="rId30" Type="http://schemas.openxmlformats.org/officeDocument/2006/relationships/font" Target="fonts/RobotoMedium-italic.fntdata"/><Relationship Id="rId11" Type="http://schemas.openxmlformats.org/officeDocument/2006/relationships/slide" Target="slides/slide6.xml"/><Relationship Id="rId33" Type="http://schemas.openxmlformats.org/officeDocument/2006/relationships/font" Target="fonts/RobotoLight-bold.fntdata"/><Relationship Id="rId10" Type="http://schemas.openxmlformats.org/officeDocument/2006/relationships/slide" Target="slides/slide5.xml"/><Relationship Id="rId32" Type="http://schemas.openxmlformats.org/officeDocument/2006/relationships/font" Target="fonts/RobotoLight-regular.fntdata"/><Relationship Id="rId13" Type="http://schemas.openxmlformats.org/officeDocument/2006/relationships/slide" Target="slides/slide8.xml"/><Relationship Id="rId35" Type="http://schemas.openxmlformats.org/officeDocument/2006/relationships/font" Target="fonts/RobotoLight-boldItalic.fntdata"/><Relationship Id="rId12" Type="http://schemas.openxmlformats.org/officeDocument/2006/relationships/slide" Target="slides/slide7.xml"/><Relationship Id="rId34" Type="http://schemas.openxmlformats.org/officeDocument/2006/relationships/font" Target="fonts/RobotoLight-italic.fntdata"/><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2e9327ae303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g2e9327ae303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b="1" lang="en-GB">
                <a:solidFill>
                  <a:schemeClr val="dk1"/>
                </a:solidFill>
              </a:rPr>
              <a:t>Introduction:</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GB">
                <a:solidFill>
                  <a:schemeClr val="dk1"/>
                </a:solidFill>
              </a:rPr>
              <a:t>Good [morning/afternoon/evening], everyone! My name is [Your Name], and I’m excited to be here with you today.</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GB">
                <a:solidFill>
                  <a:schemeClr val="dk1"/>
                </a:solidFill>
              </a:rPr>
              <a:t>Today, we’re going to talk about something that’s all around us—statistics and mathematics.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GB">
                <a:solidFill>
                  <a:schemeClr val="dk1"/>
                </a:solidFill>
              </a:rPr>
              <a:t>Engaging the Audience:</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GB">
                <a:solidFill>
                  <a:schemeClr val="dk1"/>
                </a:solidFill>
              </a:rPr>
              <a:t>Now, math and statistics aren’t just about numbers on a page. They help us understand patterns, make predictions, and solve real-world problems.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GB">
                <a:solidFill>
                  <a:schemeClr val="dk1"/>
                </a:solidFill>
              </a:rPr>
              <a:t>Some people find math fascinating and fun, while others might think it’s boring. And let’s be honest—it can feel that way if we don’t understand it!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GB">
                <a:solidFill>
                  <a:schemeClr val="dk1"/>
                </a:solidFill>
              </a:rPr>
              <a:t>Real-World Applications:</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GB">
                <a:solidFill>
                  <a:schemeClr val="dk1"/>
                </a:solidFill>
              </a:rPr>
              <a:t>But think about this: math is everywhere!</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GB">
                <a:solidFill>
                  <a:schemeClr val="dk1"/>
                </a:solidFill>
              </a:rPr>
              <a:t>It’s in sports, helping teams analyze player performance.</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GB">
                <a:solidFill>
                  <a:schemeClr val="dk1"/>
                </a:solidFill>
              </a:rPr>
              <a:t>It’s in weather forecasts, predicting whether we need an umbrella tomorrow.</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GB">
                <a:solidFill>
                  <a:schemeClr val="dk1"/>
                </a:solidFill>
              </a:rPr>
              <a:t>It’s even in the apps we use every day, from social media to online shopping.</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GB">
                <a:solidFill>
                  <a:schemeClr val="dk1"/>
                </a:solidFill>
              </a:rPr>
              <a:t>Making Math Fun:</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GB">
                <a:solidFill>
                  <a:schemeClr val="dk1"/>
                </a:solidFill>
              </a:rPr>
              <a:t>When we start seeing math as a tool for discovery, it becomes exciting. It’s like solving a puzzle, uncovering patterns, and making sense of the world.</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GB">
                <a:solidFill>
                  <a:schemeClr val="dk1"/>
                </a:solidFill>
              </a:rPr>
              <a:t>And when we understand it, it brings a smile to our faces! But if we don’t, it can be frustrating.</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GB">
                <a:solidFill>
                  <a:schemeClr val="dk1"/>
                </a:solidFill>
              </a:rPr>
              <a:t>Closing:</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GB">
                <a:solidFill>
                  <a:schemeClr val="dk1"/>
                </a:solidFill>
              </a:rPr>
              <a:t>So, let’s embrace the challenge, explore the possibilities, and make this journey of learning math an enjoyable one!</a:t>
            </a:r>
            <a:endParaRPr>
              <a:solidFill>
                <a:schemeClr val="dk1"/>
              </a:solidFill>
            </a:endParaRPr>
          </a:p>
          <a:p>
            <a:pPr indent="0" lvl="0" marL="0" rtl="0" algn="l">
              <a:lnSpc>
                <a:spcPct val="115000"/>
              </a:lnSpc>
              <a:spcBef>
                <a:spcPts val="1200"/>
              </a:spcBef>
              <a:spcAft>
                <a:spcPts val="1200"/>
              </a:spcAft>
              <a:buNone/>
            </a:pPr>
            <a:r>
              <a:t/>
            </a:r>
            <a:endParaRPr>
              <a:solidFill>
                <a:schemeClr val="dk1"/>
              </a:solidFil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g33fb626590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 name="Google Shape;57;g33fb626590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Good morning, welcome to Day 3 session.</a:t>
            </a:r>
            <a:br>
              <a:rPr lang="en-GB">
                <a:solidFill>
                  <a:schemeClr val="dk1"/>
                </a:solidFill>
              </a:rPr>
            </a:br>
            <a:r>
              <a:rPr lang="en-GB">
                <a:solidFill>
                  <a:schemeClr val="dk1"/>
                </a:solidFill>
              </a:rPr>
              <a:t> Today we will go deeper into understanding how computers actually work.</a:t>
            </a:r>
            <a:br>
              <a:rPr lang="en-GB">
                <a:solidFill>
                  <a:schemeClr val="dk1"/>
                </a:solidFill>
              </a:rPr>
            </a:br>
            <a:r>
              <a:rPr lang="en-GB">
                <a:solidFill>
                  <a:schemeClr val="dk1"/>
                </a:solidFill>
              </a:rPr>
              <a:t> Let’s move beyond just using tools and start building real clarity.</a:t>
            </a:r>
            <a:endParaRPr>
              <a:solidFill>
                <a:schemeClr val="dk1"/>
              </a:solidFill>
            </a:endParaRPr>
          </a:p>
          <a:p>
            <a:pPr indent="0" lvl="0" marL="0" rtl="0" algn="l">
              <a:lnSpc>
                <a:spcPct val="115000"/>
              </a:lnSpc>
              <a:spcBef>
                <a:spcPts val="1200"/>
              </a:spcBef>
              <a:spcAft>
                <a:spcPts val="1200"/>
              </a:spcAft>
              <a:buNone/>
            </a:pPr>
            <a:r>
              <a:rPr lang="en-GB">
                <a:solidFill>
                  <a:schemeClr val="dk1"/>
                </a:solidFill>
              </a:rPr>
              <a:t>We will discuss GUI and terminal and how they represent two different ways of interacting with a computer.</a:t>
            </a:r>
            <a:br>
              <a:rPr lang="en-GB">
                <a:solidFill>
                  <a:schemeClr val="dk1"/>
                </a:solidFill>
              </a:rPr>
            </a:br>
            <a:r>
              <a:rPr lang="en-GB">
                <a:solidFill>
                  <a:schemeClr val="dk1"/>
                </a:solidFill>
              </a:rPr>
              <a:t>We will understand when to use a graphical interface and when a command-based system is more effective.</a:t>
            </a:r>
            <a:br>
              <a:rPr lang="en-GB">
                <a:solidFill>
                  <a:schemeClr val="dk1"/>
                </a:solidFill>
              </a:rPr>
            </a:br>
            <a:r>
              <a:rPr lang="en-GB">
                <a:solidFill>
                  <a:schemeClr val="dk1"/>
                </a:solidFill>
              </a:rPr>
              <a:t>We will revisit keyboard shortcuts and why they are essential for speed and efficiency.</a:t>
            </a:r>
            <a:br>
              <a:rPr lang="en-GB">
                <a:solidFill>
                  <a:schemeClr val="dk1"/>
                </a:solidFill>
              </a:rPr>
            </a:br>
            <a:r>
              <a:rPr lang="en-GB">
                <a:solidFill>
                  <a:schemeClr val="dk1"/>
                </a:solidFill>
              </a:rPr>
              <a:t>We will practice how shortcuts reduce repetitive work and improve workflow.</a:t>
            </a:r>
            <a:br>
              <a:rPr lang="en-GB">
                <a:solidFill>
                  <a:schemeClr val="dk1"/>
                </a:solidFill>
              </a:rPr>
            </a:br>
            <a:r>
              <a:rPr lang="en-GB">
                <a:solidFill>
                  <a:schemeClr val="dk1"/>
                </a:solidFill>
              </a:rPr>
              <a:t>We will also cover a short Q&amp;A to clarify doubts from today’s concepts.</a:t>
            </a:r>
            <a:br>
              <a:rPr lang="en-GB">
                <a:solidFill>
                  <a:schemeClr val="dk1"/>
                </a:solidFill>
              </a:rPr>
            </a:br>
            <a:r>
              <a:rPr lang="en-GB">
                <a:solidFill>
                  <a:schemeClr val="dk1"/>
                </a:solidFill>
              </a:rPr>
              <a:t>The focus is on building clarity, not just usage. </a:t>
            </a:r>
            <a:endParaRPr>
              <a:solidFill>
                <a:schemeClr val="dk1"/>
              </a:solidFil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g3e90b9ecb37_0_1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 name="Google Shape;62;g3e90b9ecb37_0_1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GB">
                <a:solidFill>
                  <a:schemeClr val="dk1"/>
                </a:solidFill>
              </a:rPr>
              <a:t>Welcome to Day 3 — the point where the journey starts becoming truly technical. Day 1 introduced the roadmap and showed you where this program can take you. Day 2 focused on building your professional environment and setting up the tools you’ll use every day. Now, Day 3 shifts the focus from setup to understanding.</a:t>
            </a:r>
            <a:endParaRPr>
              <a:solidFill>
                <a:schemeClr val="dk1"/>
              </a:solidFill>
            </a:endParaRPr>
          </a:p>
          <a:p>
            <a:pPr indent="0" lvl="0" marL="0" rtl="0" algn="l">
              <a:lnSpc>
                <a:spcPct val="115000"/>
              </a:lnSpc>
              <a:spcBef>
                <a:spcPts val="1200"/>
              </a:spcBef>
              <a:spcAft>
                <a:spcPts val="0"/>
              </a:spcAft>
              <a:buNone/>
            </a:pPr>
            <a:r>
              <a:rPr lang="en-GB">
                <a:solidFill>
                  <a:schemeClr val="dk1"/>
                </a:solidFill>
              </a:rPr>
              <a:t>Today is not just about learning which buttons to click or which tools to open. It’s about understanding the concepts behind the technology and how things actually work beneath the surface. In tech, real growth happens when you move beyond memorising steps and begin thinking critically about systems, processes, and logic.</a:t>
            </a:r>
            <a:endParaRPr>
              <a:solidFill>
                <a:schemeClr val="dk1"/>
              </a:solidFill>
            </a:endParaRPr>
          </a:p>
          <a:p>
            <a:pPr indent="0" lvl="0" marL="0" rtl="0" algn="l">
              <a:lnSpc>
                <a:spcPct val="115000"/>
              </a:lnSpc>
              <a:spcBef>
                <a:spcPts val="1200"/>
              </a:spcBef>
              <a:spcAft>
                <a:spcPts val="0"/>
              </a:spcAft>
              <a:buNone/>
            </a:pPr>
            <a:r>
              <a:rPr lang="en-GB">
                <a:solidFill>
                  <a:schemeClr val="dk1"/>
                </a:solidFill>
              </a:rPr>
              <a:t>This is where the technical foundation begins to form. The ideas you learn today will support everything that comes later — from coding and data analysis to problem-solving and project work. You’ll begin connecting concepts together instead of simply following instructions. That shift in thinking is what separates passive learners from strong technical professionals.</a:t>
            </a:r>
            <a:endParaRPr>
              <a:solidFill>
                <a:schemeClr val="dk1"/>
              </a:solidFill>
            </a:endParaRPr>
          </a:p>
          <a:p>
            <a:pPr indent="0" lvl="0" marL="0" rtl="0" algn="l">
              <a:lnSpc>
                <a:spcPct val="115000"/>
              </a:lnSpc>
              <a:spcBef>
                <a:spcPts val="1200"/>
              </a:spcBef>
              <a:spcAft>
                <a:spcPts val="0"/>
              </a:spcAft>
              <a:buNone/>
            </a:pPr>
            <a:r>
              <a:rPr lang="en-GB">
                <a:solidFill>
                  <a:schemeClr val="dk1"/>
                </a:solidFill>
              </a:rPr>
              <a:t>You may notice that today feels more challenging than the previous sessions, and that’s intentional. This is the most technical day so far, but it is also one of the most valuable. Every minute of attention you give today will make future topics easier to understand and apply.</a:t>
            </a:r>
            <a:endParaRPr>
              <a:solidFill>
                <a:schemeClr val="dk1"/>
              </a:solidFill>
            </a:endParaRPr>
          </a:p>
          <a:p>
            <a:pPr indent="0" lvl="0" marL="0" rtl="0" algn="l">
              <a:spcBef>
                <a:spcPts val="1200"/>
              </a:spcBef>
              <a:spcAft>
                <a:spcPts val="0"/>
              </a:spcAft>
              <a:buNone/>
            </a:pPr>
            <a:r>
              <a:t/>
            </a:r>
            <a:endParaRPr>
              <a:solidFill>
                <a:schemeClr val="dk1"/>
              </a:solidFil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g3e941ee2a77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 name="Google Shape;68;g3e941ee2a77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Today matters because it changes the way you think about technology. Many people learn to use software by memorising steps, clicking buttons, and following tutorials without ever understanding what is happening underneath. While that may work for simple tasks, it often leads to confusion, mistakes, and dependency whenever something unexpected happens.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The difference between average and highly effective professionals is usually not the number of tools they know — it is their understanding of how those tools actually work. When you understand the concepts behind systems, workflows, and data, you stop relying on guesswork and start making informed decisions with confidence.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This is why today is such an important turning point. The tools you’ve already set up will begin to make more sense because you’ll understand the logic behind them. Instead of memorising instructions, you’ll start recognising patterns, structures, and processes that connect everything together. That deeper understanding creates independence and problem-solving ability.</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Confidence in tech is not built by pretending to know everything. It is built through understanding fundamentals well enough to figure things out when challenges appear. The stronger your foundation becomes now, the easier future topics like coding, data analysis, databases, and projects will feel later in the program.</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Most importantly, today marks the beginning of a professional mindset. Professionals don’t just ask, “What do I click?” They ask, “Why does this work?” and “How does this system behave?” Developing that mindset early will help you become more analytical, adaptable, and capable throughout your career.</a:t>
            </a:r>
            <a:endParaRPr>
              <a:solidFill>
                <a:schemeClr val="dk1"/>
              </a:solidFill>
            </a:endParaRPr>
          </a:p>
          <a:p>
            <a:pPr indent="0" lvl="0" marL="0" rtl="0" algn="l">
              <a:spcBef>
                <a:spcPts val="1200"/>
              </a:spcBef>
              <a:spcAft>
                <a:spcPts val="0"/>
              </a:spcAft>
              <a:buNone/>
            </a:pPr>
            <a:r>
              <a:t/>
            </a:r>
            <a:endParaRPr>
              <a:solidFill>
                <a:schemeClr val="dk1"/>
              </a:solidFil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g3e90b9ecb37_0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 name="Google Shape;74;g3e90b9ecb37_0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Every computer operates on two important layers: the visible layer and the underlying layer. Most people are familiar with the visible side — the windows, icons, buttons, and applications they interact with every day. This graphical environment is designed to make computers easier and more intuitive to use.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Beneath that visual layer is a text-based environment where deeper control and automation happen. This is where commands are executed, systems are managed, and many professional technical tasks are performed. While it may seem less familiar at first, this underlying layer is extremely powerful and widely used in tech industries.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Both layers serve real and important purposes. The visual layer is excellent for accessibility, navigation, and general productivity, while the text-based layer provides speed, precision, and greater control over how systems behave. Strong professionals understand when and why to use each one effectively.</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Throughout this program, you will work with both environments regularly. Learning how they connect and complement each other is a major step toward becoming more technically confident and capable.</a:t>
            </a:r>
            <a:endParaRPr>
              <a:solidFill>
                <a:schemeClr val="dk1"/>
              </a:solidFill>
            </a:endParaRPr>
          </a:p>
          <a:p>
            <a:pPr indent="0" lvl="0" marL="0" rtl="0" algn="l">
              <a:spcBef>
                <a:spcPts val="1200"/>
              </a:spcBef>
              <a:spcAft>
                <a:spcPts val="0"/>
              </a:spcAft>
              <a:buNone/>
            </a:pPr>
            <a:r>
              <a:t/>
            </a:r>
            <a:endParaRPr>
              <a:solidFill>
                <a:schemeClr val="dk1"/>
              </a:solidFil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g3e90b9ecb37_0_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 name="Google Shape;81;g3e90b9ecb37_0_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A GUI, or Graphical User Interface, is the visual way users interact with a computer system. It is what most people are familiar with — the icons, buttons, menus, windows, and visual layouts that make software easy to navigate without needing technical commands.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This interface is designed with accessibility in mind, allowing users to perform tasks through clicks, taps, and visual interactions rather than writing instructions. Because of this, GUI is often the first entry point for beginners learning how to use computers and software.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Graphical User Interfaces are used across almost all modern applications, from web browsers and mobile apps to operating systems and design tools. Their main strength is simplicity, making complex systems easier to understand and use without technical knowledge.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In summary, GUI represents the visible, user-friendly layer of computing that prioritises ease of use, while still connecting to powerful systems working behind the scenes.</a:t>
            </a:r>
            <a:endParaRPr>
              <a:solidFill>
                <a:schemeClr val="dk1"/>
              </a:solidFill>
            </a:endParaRPr>
          </a:p>
          <a:p>
            <a:pPr indent="0" lvl="0" marL="0" rtl="0" algn="l">
              <a:spcBef>
                <a:spcPts val="1200"/>
              </a:spcBef>
              <a:spcAft>
                <a:spcPts val="0"/>
              </a:spcAft>
              <a:buNone/>
            </a:pPr>
            <a:r>
              <a:t/>
            </a:r>
            <a:endParaRPr>
              <a:solidFill>
                <a:schemeClr val="dk1"/>
              </a:solidFil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g3e90b9ecb37_0_1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 name="Google Shape;87;g3e90b9ecb37_0_1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A terminal is a text-based interface that allows you to communicate directly with your computer using typed commands instead of visual elements like icons or buttons. It represents a more direct and powerful way of interacting with a system compared to graphical interfaces.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Unlike a GUI, the terminal does not rely on windows, menus, or mouse clicks. Instead, you type specific instructions, and the computer responds with output based on those commands. This makes it a very precise and controlled environment for performing tasks.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Because of this direct communication, the terminal is often faster and more efficient for certain operations, especially when working with large amounts of data, automation, or system-level tasks. It removes unnecessary visual steps and focuses purely on instructions and results.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In the world of data and technology, terminals are widely used by professionals every day. They are a standard tool in roles involving programming, data analysis, system management, and software development. Learning to use a terminal builds confidence and gives you access to a deeper level of control over how computers work.</a:t>
            </a:r>
            <a:endParaRPr>
              <a:solidFill>
                <a:schemeClr val="dk1"/>
              </a:solidFill>
            </a:endParaRPr>
          </a:p>
          <a:p>
            <a:pPr indent="0" lvl="0" marL="0" rtl="0" algn="l">
              <a:spcBef>
                <a:spcPts val="1200"/>
              </a:spcBef>
              <a:spcAft>
                <a:spcPts val="0"/>
              </a:spcAft>
              <a:buNone/>
            </a:pPr>
            <a:r>
              <a:t/>
            </a:r>
            <a:endParaRPr>
              <a:solidFill>
                <a:schemeClr val="dk1"/>
              </a:solidFil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33fe61a9d5e_0_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 name="Google Shape;94;g33fe61a9d5e_0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GUI and Terminal are two different ways of interacting with a computer, </a:t>
            </a:r>
            <a:br>
              <a:rPr lang="en-GB">
                <a:solidFill>
                  <a:schemeClr val="dk1"/>
                </a:solidFill>
              </a:rPr>
            </a:br>
            <a:r>
              <a:rPr lang="en-GB">
                <a:solidFill>
                  <a:schemeClr val="dk1"/>
                </a:solidFill>
              </a:rPr>
              <a:t>and neither is better than the other. Each serves a specific purpose, </a:t>
            </a:r>
            <a:br>
              <a:rPr lang="en-GB">
                <a:solidFill>
                  <a:schemeClr val="dk1"/>
                </a:solidFill>
              </a:rPr>
            </a:br>
            <a:r>
              <a:rPr lang="en-GB">
                <a:solidFill>
                  <a:schemeClr val="dk1"/>
                </a:solidFill>
              </a:rPr>
              <a:t>and understanding both gives you flexibility as a tech professional.</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A GUI (Graphical User Interface) is visual and accessible.</a:t>
            </a:r>
            <a:br>
              <a:rPr lang="en-GB">
                <a:solidFill>
                  <a:schemeClr val="dk1"/>
                </a:solidFill>
              </a:rPr>
            </a:br>
            <a:r>
              <a:rPr lang="en-GB">
                <a:solidFill>
                  <a:schemeClr val="dk1"/>
                </a:solidFill>
              </a:rPr>
              <a:t>It uses icons, buttons, menus, and windows to help users perform tasks easily without needing technical knowledge. </a:t>
            </a:r>
            <a:br>
              <a:rPr lang="en-GB">
                <a:solidFill>
                  <a:schemeClr val="dk1"/>
                </a:solidFill>
              </a:rPr>
            </a:br>
            <a:r>
              <a:rPr lang="en-GB">
                <a:solidFill>
                  <a:schemeClr val="dk1"/>
                </a:solidFill>
              </a:rPr>
              <a:t>It simplifies complexity by hiding the underlying processes and making systems more intuitive to navigate. </a:t>
            </a:r>
            <a:br>
              <a:rPr lang="en-GB">
                <a:solidFill>
                  <a:schemeClr val="dk1"/>
                </a:solidFill>
              </a:rPr>
            </a:br>
            <a:r>
              <a:rPr lang="en-GB">
                <a:solidFill>
                  <a:schemeClr val="dk1"/>
                </a:solidFill>
              </a:rPr>
              <a:t>This is why GUIs are widely used in everyday applications.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A Terminal, on the other hand, is precise and powerful. </a:t>
            </a:r>
            <a:br>
              <a:rPr lang="en-GB">
                <a:solidFill>
                  <a:schemeClr val="dk1"/>
                </a:solidFill>
              </a:rPr>
            </a:br>
            <a:r>
              <a:rPr lang="en-GB">
                <a:solidFill>
                  <a:schemeClr val="dk1"/>
                </a:solidFill>
              </a:rPr>
              <a:t>It allows direct communication with the computer through text-based commands. </a:t>
            </a:r>
            <a:br>
              <a:rPr lang="en-GB">
                <a:solidFill>
                  <a:schemeClr val="dk1"/>
                </a:solidFill>
              </a:rPr>
            </a:br>
            <a:r>
              <a:rPr lang="en-GB">
                <a:solidFill>
                  <a:schemeClr val="dk1"/>
                </a:solidFill>
              </a:rPr>
              <a:t>Instead of clicking through menus, you type instructions and receive immediate output. </a:t>
            </a:r>
            <a:br>
              <a:rPr lang="en-GB">
                <a:solidFill>
                  <a:schemeClr val="dk1"/>
                </a:solidFill>
              </a:rPr>
            </a:br>
            <a:r>
              <a:rPr lang="en-GB">
                <a:solidFill>
                  <a:schemeClr val="dk1"/>
                </a:solidFill>
              </a:rPr>
              <a:t>This gives you full control over the system and is especially useful for automation, data work, and technical tasks.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GUI focuses on simplicity and ease of use, while the Terminal focuses on speed, control, and efficiency. </a:t>
            </a:r>
            <a:br>
              <a:rPr lang="en-GB">
                <a:solidFill>
                  <a:schemeClr val="dk1"/>
                </a:solidFill>
              </a:rPr>
            </a:br>
            <a:r>
              <a:rPr lang="en-GB">
                <a:solidFill>
                  <a:schemeClr val="dk1"/>
                </a:solidFill>
              </a:rPr>
              <a:t>Each has its own strengths depending on the situation. A strong professional knows when to use visual tools and when to use command-based tools.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In tech roles, knowing both is a real advantage. It allows you to work more efficiently, understand systems more deeply, and adapt to different environments with confidence.</a:t>
            </a:r>
            <a:endParaRPr>
              <a:solidFill>
                <a:schemeClr val="dk1"/>
              </a:solidFill>
            </a:endParaRPr>
          </a:p>
          <a:p>
            <a:pPr indent="0" lvl="0" marL="0" rtl="0" algn="l">
              <a:spcBef>
                <a:spcPts val="1200"/>
              </a:spcBef>
              <a:spcAft>
                <a:spcPts val="0"/>
              </a:spcAft>
              <a:buNone/>
            </a:pPr>
            <a:r>
              <a:t/>
            </a:r>
            <a:endParaRPr>
              <a:solidFill>
                <a:schemeClr val="dk1"/>
              </a:solidFil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3e90b9ecb37_0_1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 name="Google Shape;100;g3e90b9ecb37_0_1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Keyboard shortcuts may seem small, but they have a massive impact on productivity over time. In professional environments, even a few seconds saved per action can add up to hours, days, or even weeks of saved time across a career. That’s why experienced users rely on shortcuts every single day.</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The biggest benefit of shortcuts is that they reduce repetitive actions. </a:t>
            </a:r>
            <a:br>
              <a:rPr lang="en-GB">
                <a:solidFill>
                  <a:schemeClr val="dk1"/>
                </a:solidFill>
              </a:rPr>
            </a:br>
            <a:r>
              <a:rPr lang="en-GB">
                <a:solidFill>
                  <a:schemeClr val="dk1"/>
                </a:solidFill>
              </a:rPr>
              <a:t>Instead of constantly navigating menus or clicking through options, </a:t>
            </a:r>
            <a:br>
              <a:rPr lang="en-GB">
                <a:solidFill>
                  <a:schemeClr val="dk1"/>
                </a:solidFill>
              </a:rPr>
            </a:br>
            <a:r>
              <a:rPr lang="en-GB">
                <a:solidFill>
                  <a:schemeClr val="dk1"/>
                </a:solidFill>
              </a:rPr>
              <a:t>you can perform tasks instantly with a simple key combination. </a:t>
            </a:r>
            <a:br>
              <a:rPr lang="en-GB">
                <a:solidFill>
                  <a:schemeClr val="dk1"/>
                </a:solidFill>
              </a:rPr>
            </a:br>
            <a:r>
              <a:rPr lang="en-GB">
                <a:solidFill>
                  <a:schemeClr val="dk1"/>
                </a:solidFill>
              </a:rPr>
              <a:t>This allows you to focus more on thinking, problem-solving, and actual work rather than manual navigation.</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Shortcuts are widely used by professionals in every technical field, from data analysts to developers and designers. </a:t>
            </a:r>
            <a:br>
              <a:rPr lang="en-GB">
                <a:solidFill>
                  <a:schemeClr val="dk1"/>
                </a:solidFill>
              </a:rPr>
            </a:br>
            <a:r>
              <a:rPr lang="en-GB">
                <a:solidFill>
                  <a:schemeClr val="dk1"/>
                </a:solidFill>
              </a:rPr>
              <a:t>They are not advanced tricks — they are standard working habits. </a:t>
            </a:r>
            <a:br>
              <a:rPr lang="en-GB">
                <a:solidFill>
                  <a:schemeClr val="dk1"/>
                </a:solidFill>
              </a:rPr>
            </a:br>
            <a:r>
              <a:rPr lang="en-GB">
                <a:solidFill>
                  <a:schemeClr val="dk1"/>
                </a:solidFill>
              </a:rPr>
              <a:t>The faster you become comfortable with them, the more natural and efficient your workflow becomes.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Speed in tech is not something you are born with; it is a skill that can be learned and improved with practice. </a:t>
            </a:r>
            <a:br>
              <a:rPr lang="en-GB">
                <a:solidFill>
                  <a:schemeClr val="dk1"/>
                </a:solidFill>
              </a:rPr>
            </a:br>
            <a:r>
              <a:rPr lang="en-GB">
                <a:solidFill>
                  <a:schemeClr val="dk1"/>
                </a:solidFill>
              </a:rPr>
              <a:t>By building the habit early, you train your hands and mind to work together more efficiently. </a:t>
            </a:r>
            <a:br>
              <a:rPr lang="en-GB">
                <a:solidFill>
                  <a:schemeClr val="dk1"/>
                </a:solidFill>
              </a:rPr>
            </a:br>
            <a:r>
              <a:rPr lang="en-GB">
                <a:solidFill>
                  <a:schemeClr val="dk1"/>
                </a:solidFill>
              </a:rPr>
              <a:t>The best time to start using shortcuts is right now, because every day you delay is a day of lost productivity.</a:t>
            </a:r>
            <a:endParaRPr>
              <a:solidFill>
                <a:schemeClr val="dk1"/>
              </a:solidFill>
            </a:endParaRPr>
          </a:p>
          <a:p>
            <a:pPr indent="0" lvl="0" marL="0" rtl="0" algn="l">
              <a:spcBef>
                <a:spcPts val="1200"/>
              </a:spcBef>
              <a:spcAft>
                <a:spcPts val="0"/>
              </a:spcAft>
              <a:buNone/>
            </a:pPr>
            <a:r>
              <a:t/>
            </a:r>
            <a:endParaRPr>
              <a:solidFill>
                <a:schemeClr val="dk1"/>
              </a:solidFil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3e933d9ed85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 name="Google Shape;106;g3e933d9ed85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These are the foundational keyboard shortcuts used across almost every tool you’ll work with in this program. </a:t>
            </a:r>
            <a:br>
              <a:rPr lang="en-GB">
                <a:solidFill>
                  <a:schemeClr val="dk1"/>
                </a:solidFill>
              </a:rPr>
            </a:br>
            <a:r>
              <a:rPr lang="en-GB">
                <a:solidFill>
                  <a:schemeClr val="dk1"/>
                </a:solidFill>
              </a:rPr>
              <a:t>They are not advanced tricks — they are basic professional skills expected in any modern tech or office environment. </a:t>
            </a:r>
            <a:br>
              <a:rPr lang="en-GB">
                <a:solidFill>
                  <a:schemeClr val="dk1"/>
                </a:solidFill>
              </a:rPr>
            </a:br>
            <a:r>
              <a:rPr lang="en-GB">
                <a:solidFill>
                  <a:schemeClr val="dk1"/>
                </a:solidFill>
              </a:rPr>
              <a:t>The goal is to make them automatic through repetition, so you don’t need to think before using them.</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 Copy — Ctrl + C allows you to quickly duplicate selected text, files, or data.</a:t>
            </a:r>
            <a:br>
              <a:rPr lang="en-GB">
                <a:solidFill>
                  <a:schemeClr val="dk1"/>
                </a:solidFill>
              </a:rPr>
            </a:br>
            <a:r>
              <a:rPr lang="en-GB">
                <a:solidFill>
                  <a:schemeClr val="dk1"/>
                </a:solidFill>
              </a:rPr>
              <a:t> Paste — Ctrl + V lets you insert copied content instantly wherever needed.</a:t>
            </a:r>
            <a:br>
              <a:rPr lang="en-GB">
                <a:solidFill>
                  <a:schemeClr val="dk1"/>
                </a:solidFill>
              </a:rPr>
            </a:br>
            <a:r>
              <a:rPr lang="en-GB">
                <a:solidFill>
                  <a:schemeClr val="dk1"/>
                </a:solidFill>
              </a:rPr>
              <a:t> Undo — Ctrl + Z helps you reverse mistakes and return to a previous state without stress.</a:t>
            </a:r>
            <a:br>
              <a:rPr lang="en-GB">
                <a:solidFill>
                  <a:schemeClr val="dk1"/>
                </a:solidFill>
              </a:rPr>
            </a:br>
            <a:r>
              <a:rPr lang="en-GB">
                <a:solidFill>
                  <a:schemeClr val="dk1"/>
                </a:solidFill>
              </a:rPr>
              <a:t> Save — Ctrl + S is one of the most important habits, ensuring your work is stored regularly and not lost.</a:t>
            </a:r>
            <a:br>
              <a:rPr lang="en-GB">
                <a:solidFill>
                  <a:schemeClr val="dk1"/>
                </a:solidFill>
              </a:rPr>
            </a:br>
            <a:r>
              <a:rPr lang="en-GB">
                <a:solidFill>
                  <a:schemeClr val="dk1"/>
                </a:solidFill>
              </a:rPr>
              <a:t> Switch windows — Alt + Tab lets you move between open applications quickly, improving multitasking and workflow speed.</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Practising these consistently will dramatically improve your efficiency. </a:t>
            </a:r>
            <a:br>
              <a:rPr lang="en-GB">
                <a:solidFill>
                  <a:schemeClr val="dk1"/>
                </a:solidFill>
              </a:rPr>
            </a:br>
            <a:r>
              <a:rPr lang="en-GB">
                <a:solidFill>
                  <a:schemeClr val="dk1"/>
                </a:solidFill>
              </a:rPr>
              <a:t>Over time, your hands will start performing these actions automatically without conscious effort. </a:t>
            </a:r>
            <a:br>
              <a:rPr lang="en-GB">
                <a:solidFill>
                  <a:schemeClr val="dk1"/>
                </a:solidFill>
              </a:rPr>
            </a:br>
            <a:r>
              <a:rPr lang="en-GB">
                <a:solidFill>
                  <a:schemeClr val="dk1"/>
                </a:solidFill>
              </a:rPr>
              <a:t>In professional environments, this kind of fluency saves time, reduces errors, </a:t>
            </a:r>
            <a:br>
              <a:rPr lang="en-GB">
                <a:solidFill>
                  <a:schemeClr val="dk1"/>
                </a:solidFill>
              </a:rPr>
            </a:br>
            <a:r>
              <a:rPr lang="en-GB">
                <a:solidFill>
                  <a:schemeClr val="dk1"/>
                </a:solidFill>
              </a:rPr>
              <a:t>and keeps you focused on actual problem-solving instead of repetitive manual actions.</a:t>
            </a:r>
            <a:endParaRPr>
              <a:solidFill>
                <a:schemeClr val="dk1"/>
              </a:solidFill>
            </a:endParaRPr>
          </a:p>
          <a:p>
            <a:pPr indent="0" lvl="0" marL="0" rtl="0" algn="l">
              <a:spcBef>
                <a:spcPts val="1200"/>
              </a:spcBef>
              <a:spcAft>
                <a:spcPts val="0"/>
              </a:spcAft>
              <a:buNone/>
            </a:pPr>
            <a:r>
              <a:t/>
            </a:r>
            <a:endParaRPr>
              <a:solidFill>
                <a:schemeClr val="dk1"/>
              </a:solidFil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3e90b9ecb37_0_1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 name="Google Shape;113;g3e90b9ecb37_0_1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Knowing shortcuts is not the same as using them fluently. Real productivity comes when these actions become automatic</a:t>
            </a:r>
            <a:br>
              <a:rPr lang="en-GB">
                <a:solidFill>
                  <a:schemeClr val="dk1"/>
                </a:solidFill>
              </a:rPr>
            </a:br>
            <a:r>
              <a:rPr lang="en-GB">
                <a:solidFill>
                  <a:schemeClr val="dk1"/>
                </a:solidFill>
              </a:rPr>
              <a:t> — when your fingers respond before you consciously think about them. </a:t>
            </a:r>
            <a:br>
              <a:rPr lang="en-GB">
                <a:solidFill>
                  <a:schemeClr val="dk1"/>
                </a:solidFill>
              </a:rPr>
            </a:br>
            <a:r>
              <a:rPr lang="en-GB">
                <a:solidFill>
                  <a:schemeClr val="dk1"/>
                </a:solidFill>
              </a:rPr>
              <a:t>This level of “automaticity” is what professionals rely on every day to work faster and with fewer errors.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The only way to reach that stage is through consistent repetition. </a:t>
            </a:r>
            <a:br>
              <a:rPr lang="en-GB">
                <a:solidFill>
                  <a:schemeClr val="dk1"/>
                </a:solidFill>
              </a:rPr>
            </a:br>
            <a:r>
              <a:rPr lang="en-GB">
                <a:solidFill>
                  <a:schemeClr val="dk1"/>
                </a:solidFill>
              </a:rPr>
              <a:t>You have to actively replace slow manual habits with shortcuts instead of relying on old patterns. </a:t>
            </a:r>
            <a:br>
              <a:rPr lang="en-GB">
                <a:solidFill>
                  <a:schemeClr val="dk1"/>
                </a:solidFill>
              </a:rPr>
            </a:br>
            <a:r>
              <a:rPr lang="en-GB">
                <a:solidFill>
                  <a:schemeClr val="dk1"/>
                </a:solidFill>
              </a:rPr>
              <a:t>Every time you copy, paste, save, or switch windows, choose the shortcut instead of the mouse.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The key is immediate application. Don’t wait to “practice later” — start using them today in real tasks. </a:t>
            </a:r>
            <a:br>
              <a:rPr lang="en-GB">
                <a:solidFill>
                  <a:schemeClr val="dk1"/>
                </a:solidFill>
              </a:rPr>
            </a:br>
            <a:r>
              <a:rPr lang="en-GB">
                <a:solidFill>
                  <a:schemeClr val="dk1"/>
                </a:solidFill>
              </a:rPr>
              <a:t>Fluency builds surprisingly quickly; with focused daily use, most people become comfortable within about a week. </a:t>
            </a:r>
            <a:br>
              <a:rPr lang="en-GB">
                <a:solidFill>
                  <a:schemeClr val="dk1"/>
                </a:solidFill>
              </a:rPr>
            </a:br>
            <a:r>
              <a:rPr lang="en-GB">
                <a:solidFill>
                  <a:schemeClr val="dk1"/>
                </a:solidFill>
              </a:rPr>
              <a:t>After that, it stops feeling like a skill you are learning and becomes part of how you naturally work.</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Once shortcuts become permanent habits, your speed, efficiency, and focus improve significantly. You spend less time on actions and more time on thinking, problem-solving, and actual learning — which is exactly how professionals operate.</a:t>
            </a:r>
            <a:endParaRPr>
              <a:solidFill>
                <a:schemeClr val="dk1"/>
              </a:solidFill>
            </a:endParaRPr>
          </a:p>
          <a:p>
            <a:pPr indent="0" lvl="0" marL="0" rtl="0" algn="l">
              <a:spcBef>
                <a:spcPts val="1200"/>
              </a:spcBef>
              <a:spcAft>
                <a:spcPts val="0"/>
              </a:spcAft>
              <a:buNone/>
            </a:pPr>
            <a:r>
              <a:t/>
            </a:r>
            <a:endParaRPr>
              <a:solidFill>
                <a:schemeClr val="dk1"/>
              </a:solidFil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3e90b9ecb37_0_1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 name="Google Shape;121;g3e90b9ecb37_0_1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An AI tool is a type of software designed to understand and respond to natural language, </a:t>
            </a:r>
            <a:br>
              <a:rPr lang="en-GB">
                <a:solidFill>
                  <a:schemeClr val="dk1"/>
                </a:solidFill>
              </a:rPr>
            </a:br>
            <a:r>
              <a:rPr lang="en-GB">
                <a:solidFill>
                  <a:schemeClr val="dk1"/>
                </a:solidFill>
              </a:rPr>
              <a:t>allowing users to interact with systems in a more intuitive and conversational way. </a:t>
            </a:r>
            <a:br>
              <a:rPr lang="en-GB">
                <a:solidFill>
                  <a:schemeClr val="dk1"/>
                </a:solidFill>
              </a:rPr>
            </a:br>
            <a:r>
              <a:rPr lang="en-GB">
                <a:solidFill>
                  <a:schemeClr val="dk1"/>
                </a:solidFill>
              </a:rPr>
              <a:t>Instead of requiring strict commands or technical syntax, you can simply describe what you need, </a:t>
            </a:r>
            <a:br>
              <a:rPr lang="en-GB">
                <a:solidFill>
                  <a:schemeClr val="dk1"/>
                </a:solidFill>
              </a:rPr>
            </a:br>
            <a:r>
              <a:rPr lang="en-GB">
                <a:solidFill>
                  <a:schemeClr val="dk1"/>
                </a:solidFill>
              </a:rPr>
              <a:t>and the tool interprets and responds accordingly.</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It’s important to understand that AI tools do not replace analytical thinking. </a:t>
            </a:r>
            <a:br>
              <a:rPr lang="en-GB">
                <a:solidFill>
                  <a:schemeClr val="dk1"/>
                </a:solidFill>
              </a:rPr>
            </a:br>
            <a:r>
              <a:rPr lang="en-GB">
                <a:solidFill>
                  <a:schemeClr val="dk1"/>
                </a:solidFill>
              </a:rPr>
              <a:t>They are designed to support and accelerate it. </a:t>
            </a:r>
            <a:br>
              <a:rPr lang="en-GB">
                <a:solidFill>
                  <a:schemeClr val="dk1"/>
                </a:solidFill>
              </a:rPr>
            </a:br>
            <a:r>
              <a:rPr lang="en-GB">
                <a:solidFill>
                  <a:schemeClr val="dk1"/>
                </a:solidFill>
              </a:rPr>
              <a:t>The real value comes from how well you use them to think faster, explore ideas, automate repetitive tasks, and improve decision-making — not from relying on them blindly.</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In modern data and tech environments, AI tools are already widely integrated into everyday workflows. </a:t>
            </a:r>
            <a:br>
              <a:rPr lang="en-GB">
                <a:solidFill>
                  <a:schemeClr val="dk1"/>
                </a:solidFill>
              </a:rPr>
            </a:br>
            <a:r>
              <a:rPr lang="en-GB">
                <a:solidFill>
                  <a:schemeClr val="dk1"/>
                </a:solidFill>
              </a:rPr>
              <a:t>Professionals use them for tasks like summarising information, generating insights, writing code, cleaning data, </a:t>
            </a:r>
            <a:br>
              <a:rPr lang="en-GB">
                <a:solidFill>
                  <a:schemeClr val="dk1"/>
                </a:solidFill>
              </a:rPr>
            </a:br>
            <a:r>
              <a:rPr lang="en-GB">
                <a:solidFill>
                  <a:schemeClr val="dk1"/>
                </a:solidFill>
              </a:rPr>
              <a:t>and improving productivity. As a result, familiarity with AI tools is quickly becoming a standard expectation rather than an optional skill.</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The professionals who are progressing the fastest are not the ones avoiding AI, but the ones learning how to use it effectively and responsibly. Understanding how to guide these tools, evaluate their output, and combine them with human judgment is a key skill in today’s industry.</a:t>
            </a:r>
            <a:endParaRPr>
              <a:solidFill>
                <a:schemeClr val="dk1"/>
              </a:solidFill>
            </a:endParaRPr>
          </a:p>
          <a:p>
            <a:pPr indent="0" lvl="0" marL="0" rtl="0" algn="l">
              <a:spcBef>
                <a:spcPts val="1200"/>
              </a:spcBef>
              <a:spcAft>
                <a:spcPts val="0"/>
              </a:spcAft>
              <a:buNone/>
            </a:pPr>
            <a:r>
              <a:t/>
            </a:r>
            <a:endParaRPr>
              <a:solidFill>
                <a:schemeClr val="dk1"/>
              </a:solidFil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3e90b9ecb37_0_1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 name="Google Shape;128;g3e90b9ecb37_0_1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AI tools in this program are not included as optional extras — </a:t>
            </a:r>
            <a:br>
              <a:rPr lang="en-GB">
                <a:solidFill>
                  <a:schemeClr val="dk1"/>
                </a:solidFill>
              </a:rPr>
            </a:br>
            <a:r>
              <a:rPr lang="en-GB">
                <a:solidFill>
                  <a:schemeClr val="dk1"/>
                </a:solidFill>
              </a:rPr>
              <a:t>they are embedded into your learning journey because they reflect how modern data professionals actually work. </a:t>
            </a:r>
            <a:br>
              <a:rPr lang="en-GB">
                <a:solidFill>
                  <a:schemeClr val="dk1"/>
                </a:solidFill>
              </a:rPr>
            </a:br>
            <a:br>
              <a:rPr lang="en-GB">
                <a:solidFill>
                  <a:schemeClr val="dk1"/>
                </a:solidFill>
              </a:rPr>
            </a:br>
            <a:r>
              <a:rPr lang="en-GB">
                <a:solidFill>
                  <a:schemeClr val="dk1"/>
                </a:solidFill>
              </a:rPr>
              <a:t>The goal is not just to learn tools individually, but to become comfortable using AI as part of a complete workflow. </a:t>
            </a:r>
            <a:br>
              <a:rPr lang="en-GB">
                <a:solidFill>
                  <a:schemeClr val="dk1"/>
                </a:solidFill>
              </a:rPr>
            </a:br>
            <a:r>
              <a:rPr lang="en-GB">
                <a:solidFill>
                  <a:schemeClr val="dk1"/>
                </a:solidFill>
              </a:rPr>
              <a:t>Early familiarity reduces confusion later and allows you to focus more on thinking and problem-solving rather than struggling with setup or syntax.</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Each tool serves a specific purpose within the data and communication pipeline. </a:t>
            </a:r>
            <a:br>
              <a:rPr lang="en-GB">
                <a:solidFill>
                  <a:schemeClr val="dk1"/>
                </a:solidFill>
              </a:rPr>
            </a:br>
            <a:r>
              <a:rPr lang="en-GB">
                <a:solidFill>
                  <a:schemeClr val="dk1"/>
                </a:solidFill>
              </a:rPr>
              <a:t>Power BI AI visuals help you explore and present data insights more efficiently by assisting with pattern detection and visual generation. </a:t>
            </a:r>
            <a:br>
              <a:rPr lang="en-GB">
                <a:solidFill>
                  <a:schemeClr val="dk1"/>
                </a:solidFill>
              </a:rPr>
            </a:br>
            <a:r>
              <a:rPr lang="en-GB">
                <a:solidFill>
                  <a:schemeClr val="dk1"/>
                </a:solidFill>
              </a:rPr>
              <a:t>GitHub Copilot supports coding by suggesting lines of code, speeding up development, and helping you learn programming patterns through real examples.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ChatGPT is used as a research and learning support tool, helping you understand concepts,</a:t>
            </a:r>
            <a:br>
              <a:rPr lang="en-GB">
                <a:solidFill>
                  <a:schemeClr val="dk1"/>
                </a:solidFill>
              </a:rPr>
            </a:br>
            <a:r>
              <a:rPr lang="en-GB">
                <a:solidFill>
                  <a:schemeClr val="dk1"/>
                </a:solidFill>
              </a:rPr>
              <a:t>summarise information, and explore ideas more effectively. </a:t>
            </a:r>
            <a:br>
              <a:rPr lang="en-GB">
                <a:solidFill>
                  <a:schemeClr val="dk1"/>
                </a:solidFill>
              </a:rPr>
            </a:br>
            <a:r>
              <a:rPr lang="en-GB">
                <a:solidFill>
                  <a:schemeClr val="dk1"/>
                </a:solidFill>
              </a:rPr>
              <a:t>Canva AI supports the creation of presentations and visual content, </a:t>
            </a:r>
            <a:br>
              <a:rPr lang="en-GB">
                <a:solidFill>
                  <a:schemeClr val="dk1"/>
                </a:solidFill>
              </a:rPr>
            </a:br>
            <a:r>
              <a:rPr lang="en-GB">
                <a:solidFill>
                  <a:schemeClr val="dk1"/>
                </a:solidFill>
              </a:rPr>
              <a:t>making it easier to communicate findings in a clear and professional way. </a:t>
            </a:r>
            <a:br>
              <a:rPr lang="en-GB">
                <a:solidFill>
                  <a:schemeClr val="dk1"/>
                </a:solidFill>
              </a:rPr>
            </a:br>
            <a:r>
              <a:rPr lang="en-GB">
                <a:solidFill>
                  <a:schemeClr val="dk1"/>
                </a:solidFill>
              </a:rPr>
              <a:t>As the program progresses, additional AI tools will be introduced to match the needs of each phase.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The key idea is that these tools are part of a larger workflow, not isolated features. </a:t>
            </a:r>
            <a:br>
              <a:rPr lang="en-GB">
                <a:solidFill>
                  <a:schemeClr val="dk1"/>
                </a:solidFill>
              </a:rPr>
            </a:br>
            <a:r>
              <a:rPr lang="en-GB">
                <a:solidFill>
                  <a:schemeClr val="dk1"/>
                </a:solidFill>
              </a:rPr>
              <a:t>The more familiar you become with them now, the less friction you will experience later when working on more complex projects. </a:t>
            </a:r>
            <a:br>
              <a:rPr lang="en-GB">
                <a:solidFill>
                  <a:schemeClr val="dk1"/>
                </a:solidFill>
              </a:rPr>
            </a:br>
            <a:r>
              <a:rPr lang="en-GB">
                <a:solidFill>
                  <a:schemeClr val="dk1"/>
                </a:solidFill>
              </a:rPr>
              <a:t>In modern data roles, the ability to work alongside AI tools is becoming a core expectation, not an advantage.</a:t>
            </a:r>
            <a:endParaRPr>
              <a:solidFill>
                <a:schemeClr val="dk1"/>
              </a:solidFill>
            </a:endParaRPr>
          </a:p>
          <a:p>
            <a:pPr indent="0" lvl="0" marL="0" rtl="0" algn="l">
              <a:spcBef>
                <a:spcPts val="1200"/>
              </a:spcBef>
              <a:spcAft>
                <a:spcPts val="0"/>
              </a:spcAft>
              <a:buNone/>
            </a:pPr>
            <a:r>
              <a:t/>
            </a:r>
            <a:endParaRPr>
              <a:solidFill>
                <a:schemeClr val="dk1"/>
              </a:solidFil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33fe61a9d5e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 name="Google Shape;134;g33fe61a9d5e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A common early mistake is treating each tool as separate and unrelated. </a:t>
            </a:r>
            <a:br>
              <a:rPr lang="en-GB">
                <a:solidFill>
                  <a:schemeClr val="dk1"/>
                </a:solidFill>
              </a:rPr>
            </a:br>
            <a:r>
              <a:rPr lang="en-GB">
                <a:solidFill>
                  <a:schemeClr val="dk1"/>
                </a:solidFill>
              </a:rPr>
              <a:t>In reality, Slack, Zoom, GitHub, Google Calendar, and your file system are not isolated platforms </a:t>
            </a:r>
            <a:br>
              <a:rPr lang="en-GB">
                <a:solidFill>
                  <a:schemeClr val="dk1"/>
                </a:solidFill>
              </a:rPr>
            </a:br>
            <a:r>
              <a:rPr lang="en-GB">
                <a:solidFill>
                  <a:schemeClr val="dk1"/>
                </a:solidFill>
              </a:rPr>
              <a:t>— they work together as one connected professional workflow.</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Slack acts as the communication layer, where updates, announcements, and collaboration happen in real time.</a:t>
            </a:r>
            <a:br>
              <a:rPr lang="en-GB">
                <a:solidFill>
                  <a:schemeClr val="dk1"/>
                </a:solidFill>
              </a:rPr>
            </a:br>
            <a:r>
              <a:rPr lang="en-GB">
                <a:solidFill>
                  <a:schemeClr val="dk1"/>
                </a:solidFill>
              </a:rPr>
              <a:t>Zoom is the live interaction layer, where sessions, classes, and meetings take place. </a:t>
            </a:r>
            <a:br>
              <a:rPr lang="en-GB">
                <a:solidFill>
                  <a:schemeClr val="dk1"/>
                </a:solidFill>
              </a:rPr>
            </a:br>
            <a:r>
              <a:rPr lang="en-GB">
                <a:solidFill>
                  <a:schemeClr val="dk1"/>
                </a:solidFill>
              </a:rPr>
              <a:t>GitHub functions as the workspace for materials, assignments, and version-controlled projects, </a:t>
            </a:r>
            <a:br>
              <a:rPr lang="en-GB">
                <a:solidFill>
                  <a:schemeClr val="dk1"/>
                </a:solidFill>
              </a:rPr>
            </a:br>
            <a:r>
              <a:rPr lang="en-GB">
                <a:solidFill>
                  <a:schemeClr val="dk1"/>
                </a:solidFill>
              </a:rPr>
              <a:t>where your technical work is stored and reviewed.</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Google Calendar brings structure to this system by managing deadlines, schedules, and reminders, ensuring you know when everything happens. Your local folders and file system support this workflow by keeping notes, downloads, and resources organised in a structured way on your device.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When you understand how these tools connect, your workflow becomes smoother and more intentional. Instead of switching between disconnected apps, you start operating within a single system where each tool has a clear role. This is how professionals work — not with separate tools, but with an integrated environment that supports communication, execution, and organisation all at once.</a:t>
            </a:r>
            <a:endParaRPr>
              <a:solidFill>
                <a:schemeClr val="dk1"/>
              </a:solidFill>
            </a:endParaRPr>
          </a:p>
          <a:p>
            <a:pPr indent="0" lvl="0" marL="0" rtl="0" algn="l">
              <a:lnSpc>
                <a:spcPct val="115000"/>
              </a:lnSpc>
              <a:spcBef>
                <a:spcPts val="1200"/>
              </a:spcBef>
              <a:spcAft>
                <a:spcPts val="1200"/>
              </a:spcAft>
              <a:buNone/>
            </a:pPr>
            <a:r>
              <a:t/>
            </a:r>
            <a:endParaRPr>
              <a:solidFill>
                <a:schemeClr val="dk1"/>
              </a:solidFil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3e90b9ecb37_0_1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0" name="Google Shape;140;g3e90b9ecb37_0_1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This program follows a single, consistent workflow built around five core tools. </a:t>
            </a:r>
            <a:br>
              <a:rPr lang="en-GB">
                <a:solidFill>
                  <a:schemeClr val="dk1"/>
                </a:solidFill>
              </a:rPr>
            </a:br>
            <a:r>
              <a:rPr lang="en-GB">
                <a:solidFill>
                  <a:schemeClr val="dk1"/>
                </a:solidFill>
              </a:rPr>
              <a:t>It repeats every week for the full 24-week duration, so understanding it early removes uncertainty </a:t>
            </a:r>
            <a:br>
              <a:rPr lang="en-GB">
                <a:solidFill>
                  <a:schemeClr val="dk1"/>
                </a:solidFill>
              </a:rPr>
            </a:br>
            <a:r>
              <a:rPr lang="en-GB">
                <a:solidFill>
                  <a:schemeClr val="dk1"/>
                </a:solidFill>
              </a:rPr>
              <a:t>and helps you focus completely on learning instead of figuring out where things are.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Announcements always begin in Slack, where updates, instructions, and communication are shared. </a:t>
            </a:r>
            <a:br>
              <a:rPr lang="en-GB">
                <a:solidFill>
                  <a:schemeClr val="dk1"/>
                </a:solidFill>
              </a:rPr>
            </a:br>
            <a:r>
              <a:rPr lang="en-GB">
                <a:solidFill>
                  <a:schemeClr val="dk1"/>
                </a:solidFill>
              </a:rPr>
              <a:t>Once a session is scheduled, you join it through Zoom, which serves as the live classroom for teaching and interaction. </a:t>
            </a:r>
            <a:br>
              <a:rPr lang="en-GB">
                <a:solidFill>
                  <a:schemeClr val="dk1"/>
                </a:solidFill>
              </a:rPr>
            </a:br>
            <a:r>
              <a:rPr lang="en-GB">
                <a:solidFill>
                  <a:schemeClr val="dk1"/>
                </a:solidFill>
              </a:rPr>
              <a:t>All learning materials, assignments, and resources are provided through GitHub, where you access and submit your work in an organised way.</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Your schedule and timing are managed through Google Calendar, which keeps track of sessions, reminders, </a:t>
            </a:r>
            <a:br>
              <a:rPr lang="en-GB">
                <a:solidFill>
                  <a:schemeClr val="dk1"/>
                </a:solidFill>
              </a:rPr>
            </a:br>
            <a:r>
              <a:rPr lang="en-GB">
                <a:solidFill>
                  <a:schemeClr val="dk1"/>
                </a:solidFill>
              </a:rPr>
              <a:t>and deadlines so you stay on time and prepared. Finally, all your personal notes, reflections, </a:t>
            </a:r>
            <a:br>
              <a:rPr lang="en-GB">
                <a:solidFill>
                  <a:schemeClr val="dk1"/>
                </a:solidFill>
              </a:rPr>
            </a:br>
            <a:r>
              <a:rPr lang="en-GB">
                <a:solidFill>
                  <a:schemeClr val="dk1"/>
                </a:solidFill>
              </a:rPr>
              <a:t>and supporting files are stored in your organised folder structure on your device / GITHUB, keeping your workspace clean and easy to navigate.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When you see this as one connected system rather than separate tools, </a:t>
            </a:r>
            <a:br>
              <a:rPr lang="en-GB">
                <a:solidFill>
                  <a:schemeClr val="dk1"/>
                </a:solidFill>
              </a:rPr>
            </a:br>
            <a:r>
              <a:rPr lang="en-GB">
                <a:solidFill>
                  <a:schemeClr val="dk1"/>
                </a:solidFill>
              </a:rPr>
              <a:t>everything becomes simpler and more predictable. </a:t>
            </a:r>
            <a:br>
              <a:rPr lang="en-GB">
                <a:solidFill>
                  <a:schemeClr val="dk1"/>
                </a:solidFill>
              </a:rPr>
            </a:br>
            <a:r>
              <a:rPr lang="en-GB">
                <a:solidFill>
                  <a:schemeClr val="dk1"/>
                </a:solidFill>
              </a:rPr>
              <a:t>The workflow stays the same every week, allowing you to build strong habits and focus your energy on actual learning and skill development instead of logistics.</a:t>
            </a:r>
            <a:endParaRPr>
              <a:solidFill>
                <a:schemeClr val="dk1"/>
              </a:solidFill>
            </a:endParaRPr>
          </a:p>
          <a:p>
            <a:pPr indent="0" lvl="0" marL="0" rtl="0" algn="l">
              <a:lnSpc>
                <a:spcPct val="115000"/>
              </a:lnSpc>
              <a:spcBef>
                <a:spcPts val="1200"/>
              </a:spcBef>
              <a:spcAft>
                <a:spcPts val="1200"/>
              </a:spcAft>
              <a:buNone/>
            </a:pPr>
            <a:r>
              <a:t/>
            </a:r>
            <a:endParaRPr>
              <a:solidFill>
                <a:schemeClr val="dk1"/>
              </a:solidFil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g3e90b9ecb37_0_2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7" name="Google Shape;147;g3e90b9ecb37_0_2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In just three days, a complete professional working environment has been established. </a:t>
            </a:r>
            <a:br>
              <a:rPr lang="en-GB">
                <a:solidFill>
                  <a:schemeClr val="dk1"/>
                </a:solidFill>
              </a:rPr>
            </a:br>
            <a:r>
              <a:rPr lang="en-GB">
                <a:solidFill>
                  <a:schemeClr val="dk1"/>
                </a:solidFill>
              </a:rPr>
              <a:t>What began as setup and orientation has now evolved into a structured system where tools, workflows, and core concepts all connect into one clear learning ecosystem.</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The necessary tools have been installed and configured, ensuring you are ready to work in a real-world-style environment. </a:t>
            </a:r>
            <a:br>
              <a:rPr lang="en-GB">
                <a:solidFill>
                  <a:schemeClr val="dk1"/>
                </a:solidFill>
              </a:rPr>
            </a:br>
            <a:r>
              <a:rPr lang="en-GB">
                <a:solidFill>
                  <a:schemeClr val="dk1"/>
                </a:solidFill>
              </a:rPr>
              <a:t>Keyboard shortcuts are not just theory — they are being practised and gradually becoming part of your daily workflow to improve speed and efficiency.</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The terminal is no longer something unfamiliar or intimidating; it is now understood as a powerful interface for direct system interaction. Alongside this, AI tools have been introduced and explored, giving you exposure to how modern professionals accelerate their work and improve productivity.</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Most importantly, the full workflow is now clear and connected. You understand how communication, scheduling, learning materials, and personal organisation all fit together into a single system. This is the same type of setup a junior data professional would be expected to walk into on day one of a job.</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With this foundation in place, the focus now shifts away from setup and towards applying these tools and concepts effectively in real learning and problem-solving scenarios.</a:t>
            </a:r>
            <a:endParaRPr>
              <a:solidFill>
                <a:schemeClr val="dk1"/>
              </a:solidFill>
            </a:endParaRPr>
          </a:p>
          <a:p>
            <a:pPr indent="0" lvl="0" marL="0" rtl="0" algn="l">
              <a:lnSpc>
                <a:spcPct val="115000"/>
              </a:lnSpc>
              <a:spcBef>
                <a:spcPts val="1200"/>
              </a:spcBef>
              <a:spcAft>
                <a:spcPts val="1200"/>
              </a:spcAft>
              <a:buNone/>
            </a:pPr>
            <a:r>
              <a:t/>
            </a:r>
            <a:endParaRPr>
              <a:solidFill>
                <a:schemeClr val="dk1"/>
              </a:solidFil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2d4d2827b9b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2d4d2827b9b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g2e9327ae303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9" name="Google Shape;159;g2e9327ae303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xml"/><Relationship Id="rId3"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 Id="rId3"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 Id="rId3"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3" name="Shape 53"/>
        <p:cNvGrpSpPr/>
        <p:nvPr/>
      </p:nvGrpSpPr>
      <p:grpSpPr>
        <a:xfrm>
          <a:off x="0" y="0"/>
          <a:ext cx="0" cy="0"/>
          <a:chOff x="0" y="0"/>
          <a:chExt cx="0" cy="0"/>
        </a:xfrm>
      </p:grpSpPr>
      <p:sp>
        <p:nvSpPr>
          <p:cNvPr id="54" name="Google Shape;54;p13"/>
          <p:cNvSpPr txBox="1"/>
          <p:nvPr>
            <p:ph type="title"/>
          </p:nvPr>
        </p:nvSpPr>
        <p:spPr>
          <a:xfrm>
            <a:off x="311700" y="2163275"/>
            <a:ext cx="8520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GB">
                <a:solidFill>
                  <a:srgbClr val="434343"/>
                </a:solidFill>
                <a:latin typeface="Roboto"/>
                <a:ea typeface="Roboto"/>
                <a:cs typeface="Roboto"/>
                <a:sym typeface="Roboto"/>
              </a:rPr>
              <a:t>How Your Computer Works</a:t>
            </a:r>
            <a:endParaRPr>
              <a:solidFill>
                <a:srgbClr val="434343"/>
              </a:solidFill>
              <a:latin typeface="Roboto"/>
              <a:ea typeface="Roboto"/>
              <a:cs typeface="Roboto"/>
              <a:sym typeface="Roboto"/>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8" name="Shape 58"/>
        <p:cNvGrpSpPr/>
        <p:nvPr/>
      </p:nvGrpSpPr>
      <p:grpSpPr>
        <a:xfrm>
          <a:off x="0" y="0"/>
          <a:ext cx="0" cy="0"/>
          <a:chOff x="0" y="0"/>
          <a:chExt cx="0" cy="0"/>
        </a:xfrm>
      </p:grpSpPr>
      <p:sp>
        <p:nvSpPr>
          <p:cNvPr id="59" name="Google Shape;59;p14"/>
          <p:cNvSpPr txBox="1"/>
          <p:nvPr/>
        </p:nvSpPr>
        <p:spPr>
          <a:xfrm>
            <a:off x="2564250" y="1809800"/>
            <a:ext cx="4015500" cy="1641600"/>
          </a:xfrm>
          <a:prstGeom prst="rect">
            <a:avLst/>
          </a:prstGeom>
          <a:noFill/>
          <a:ln>
            <a:noFill/>
          </a:ln>
        </p:spPr>
        <p:txBody>
          <a:bodyPr anchorCtr="0" anchor="t" bIns="91425" lIns="91425" spcFirstLastPara="1" rIns="91425" wrap="square" tIns="91425">
            <a:noAutofit/>
          </a:bodyPr>
          <a:lstStyle/>
          <a:p>
            <a:pPr indent="0" lvl="0" marL="457200" rtl="0" algn="l">
              <a:spcBef>
                <a:spcPts val="0"/>
              </a:spcBef>
              <a:spcAft>
                <a:spcPts val="0"/>
              </a:spcAft>
              <a:buClr>
                <a:schemeClr val="dk1"/>
              </a:buClr>
              <a:buSzPts val="1100"/>
              <a:buFont typeface="Arial"/>
              <a:buNone/>
            </a:pPr>
            <a:r>
              <a:rPr lang="en-GB" sz="2400">
                <a:solidFill>
                  <a:srgbClr val="595959"/>
                </a:solidFill>
                <a:latin typeface="Roboto Light"/>
                <a:ea typeface="Roboto Light"/>
                <a:cs typeface="Roboto Light"/>
                <a:sym typeface="Roboto Light"/>
              </a:rPr>
              <a:t>Day 4</a:t>
            </a:r>
            <a:endParaRPr sz="2400">
              <a:solidFill>
                <a:srgbClr val="595959"/>
              </a:solidFill>
              <a:latin typeface="Roboto Light"/>
              <a:ea typeface="Roboto Light"/>
              <a:cs typeface="Roboto Light"/>
              <a:sym typeface="Roboto Light"/>
            </a:endParaRPr>
          </a:p>
          <a:p>
            <a:pPr indent="0" lvl="0" marL="457200" rtl="0" algn="l">
              <a:spcBef>
                <a:spcPts val="0"/>
              </a:spcBef>
              <a:spcAft>
                <a:spcPts val="0"/>
              </a:spcAft>
              <a:buClr>
                <a:schemeClr val="dk1"/>
              </a:buClr>
              <a:buSzPts val="1100"/>
              <a:buFont typeface="Arial"/>
              <a:buNone/>
            </a:pPr>
            <a:r>
              <a:rPr lang="en-GB" sz="2400">
                <a:solidFill>
                  <a:srgbClr val="595959"/>
                </a:solidFill>
                <a:latin typeface="Roboto Light"/>
                <a:ea typeface="Roboto Light"/>
                <a:cs typeface="Roboto Light"/>
                <a:sym typeface="Roboto Light"/>
              </a:rPr>
              <a:t>GUI/ Terminal</a:t>
            </a:r>
            <a:endParaRPr sz="2400">
              <a:solidFill>
                <a:srgbClr val="595959"/>
              </a:solidFill>
              <a:latin typeface="Roboto Light"/>
              <a:ea typeface="Roboto Light"/>
              <a:cs typeface="Roboto Light"/>
              <a:sym typeface="Roboto Light"/>
            </a:endParaRPr>
          </a:p>
          <a:p>
            <a:pPr indent="0" lvl="0" marL="457200" rtl="0" algn="l">
              <a:spcBef>
                <a:spcPts val="0"/>
              </a:spcBef>
              <a:spcAft>
                <a:spcPts val="0"/>
              </a:spcAft>
              <a:buClr>
                <a:schemeClr val="dk1"/>
              </a:buClr>
              <a:buSzPts val="1100"/>
              <a:buFont typeface="Arial"/>
              <a:buNone/>
            </a:pPr>
            <a:r>
              <a:rPr lang="en-GB" sz="2400">
                <a:solidFill>
                  <a:srgbClr val="595959"/>
                </a:solidFill>
                <a:latin typeface="Roboto Light"/>
                <a:ea typeface="Roboto Light"/>
                <a:cs typeface="Roboto Light"/>
                <a:sym typeface="Roboto Light"/>
              </a:rPr>
              <a:t>KB Shortcuts</a:t>
            </a:r>
            <a:endParaRPr sz="2400">
              <a:solidFill>
                <a:srgbClr val="595959"/>
              </a:solidFill>
              <a:latin typeface="Roboto Light"/>
              <a:ea typeface="Roboto Light"/>
              <a:cs typeface="Roboto Light"/>
              <a:sym typeface="Roboto Light"/>
            </a:endParaRPr>
          </a:p>
          <a:p>
            <a:pPr indent="0" lvl="0" marL="457200" rtl="0" algn="l">
              <a:spcBef>
                <a:spcPts val="0"/>
              </a:spcBef>
              <a:spcAft>
                <a:spcPts val="0"/>
              </a:spcAft>
              <a:buClr>
                <a:schemeClr val="dk1"/>
              </a:buClr>
              <a:buSzPts val="1100"/>
              <a:buFont typeface="Arial"/>
              <a:buNone/>
            </a:pPr>
            <a:r>
              <a:rPr lang="en-GB" sz="2400">
                <a:solidFill>
                  <a:srgbClr val="595959"/>
                </a:solidFill>
                <a:latin typeface="Roboto Light"/>
                <a:ea typeface="Roboto Light"/>
                <a:cs typeface="Roboto Light"/>
                <a:sym typeface="Roboto Light"/>
              </a:rPr>
              <a:t>QA</a:t>
            </a:r>
            <a:endParaRPr sz="2400">
              <a:solidFill>
                <a:srgbClr val="595959"/>
              </a:solidFill>
              <a:latin typeface="Roboto Light"/>
              <a:ea typeface="Roboto Light"/>
              <a:cs typeface="Roboto Light"/>
              <a:sym typeface="Roboto Light"/>
            </a:endParaRPr>
          </a:p>
          <a:p>
            <a:pPr indent="0" lvl="0" marL="457200" rtl="0" algn="l">
              <a:spcBef>
                <a:spcPts val="0"/>
              </a:spcBef>
              <a:spcAft>
                <a:spcPts val="0"/>
              </a:spcAft>
              <a:buNone/>
            </a:pPr>
            <a:r>
              <a:t/>
            </a:r>
            <a:endParaRPr sz="2400">
              <a:solidFill>
                <a:srgbClr val="595959"/>
              </a:solidFill>
              <a:latin typeface="Roboto Light"/>
              <a:ea typeface="Roboto Light"/>
              <a:cs typeface="Roboto Light"/>
              <a:sym typeface="Roboto Light"/>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 name="Shape 63"/>
        <p:cNvGrpSpPr/>
        <p:nvPr/>
      </p:nvGrpSpPr>
      <p:grpSpPr>
        <a:xfrm>
          <a:off x="0" y="0"/>
          <a:ext cx="0" cy="0"/>
          <a:chOff x="0" y="0"/>
          <a:chExt cx="0" cy="0"/>
        </a:xfrm>
      </p:grpSpPr>
      <p:sp>
        <p:nvSpPr>
          <p:cNvPr id="64" name="Google Shape;64;p15"/>
          <p:cNvSpPr txBox="1"/>
          <p:nvPr>
            <p:ph idx="4294967295" type="body"/>
          </p:nvPr>
        </p:nvSpPr>
        <p:spPr>
          <a:xfrm>
            <a:off x="671425" y="1152475"/>
            <a:ext cx="7167000" cy="34164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None/>
            </a:pPr>
            <a:r>
              <a:rPr i="1" lang="en-GB" sz="1400">
                <a:solidFill>
                  <a:srgbClr val="434343"/>
                </a:solidFill>
                <a:latin typeface="Roboto"/>
                <a:ea typeface="Roboto"/>
                <a:cs typeface="Roboto"/>
                <a:sym typeface="Roboto"/>
              </a:rPr>
              <a:t>Day 1 covered the roadmap. Day 2 built the environment. </a:t>
            </a:r>
            <a:br>
              <a:rPr i="1" lang="en-GB" sz="1400">
                <a:solidFill>
                  <a:srgbClr val="434343"/>
                </a:solidFill>
                <a:latin typeface="Roboto"/>
                <a:ea typeface="Roboto"/>
                <a:cs typeface="Roboto"/>
                <a:sym typeface="Roboto"/>
              </a:rPr>
            </a:br>
            <a:r>
              <a:rPr i="1" lang="en-GB" sz="1400">
                <a:solidFill>
                  <a:srgbClr val="434343"/>
                </a:solidFill>
                <a:latin typeface="Roboto"/>
                <a:ea typeface="Roboto"/>
                <a:cs typeface="Roboto"/>
                <a:sym typeface="Roboto"/>
              </a:rPr>
              <a:t>Day 3 goes deeper — into understanding, not just using. </a:t>
            </a:r>
            <a:endParaRPr i="1" sz="1400">
              <a:solidFill>
                <a:srgbClr val="434343"/>
              </a:solidFill>
              <a:latin typeface="Roboto"/>
              <a:ea typeface="Roboto"/>
              <a:cs typeface="Roboto"/>
              <a:sym typeface="Roboto"/>
            </a:endParaRPr>
          </a:p>
          <a:p>
            <a:pPr indent="0" lvl="0" marL="0" rtl="0" algn="l">
              <a:spcBef>
                <a:spcPts val="1200"/>
              </a:spcBef>
              <a:spcAft>
                <a:spcPts val="0"/>
              </a:spcAft>
              <a:buClr>
                <a:schemeClr val="dk1"/>
              </a:buClr>
              <a:buSzPts val="1100"/>
              <a:buFont typeface="Arial"/>
              <a:buNone/>
            </a:pPr>
            <a:r>
              <a:rPr i="1" lang="en-GB" sz="1400">
                <a:solidFill>
                  <a:srgbClr val="434343"/>
                </a:solidFill>
                <a:latin typeface="Roboto"/>
                <a:ea typeface="Roboto"/>
                <a:cs typeface="Roboto"/>
                <a:sym typeface="Roboto"/>
              </a:rPr>
              <a:t>This is where the technical foundation begins.</a:t>
            </a:r>
            <a:endParaRPr i="1" sz="1400">
              <a:solidFill>
                <a:srgbClr val="434343"/>
              </a:solidFill>
              <a:latin typeface="Roboto"/>
              <a:ea typeface="Roboto"/>
              <a:cs typeface="Roboto"/>
              <a:sym typeface="Roboto"/>
            </a:endParaRPr>
          </a:p>
          <a:p>
            <a:pPr indent="-317500" lvl="0" marL="457200" rtl="0" algn="l">
              <a:spcBef>
                <a:spcPts val="1200"/>
              </a:spcBef>
              <a:spcAft>
                <a:spcPts val="0"/>
              </a:spcAft>
              <a:buClr>
                <a:srgbClr val="434343"/>
              </a:buClr>
              <a:buSzPts val="1400"/>
              <a:buFont typeface="Roboto"/>
              <a:buChar char="●"/>
            </a:pPr>
            <a:r>
              <a:rPr lang="en-GB" sz="1400">
                <a:solidFill>
                  <a:srgbClr val="434343"/>
                </a:solidFill>
                <a:latin typeface="Roboto"/>
                <a:ea typeface="Roboto"/>
                <a:cs typeface="Roboto"/>
                <a:sym typeface="Roboto"/>
              </a:rPr>
              <a:t>Concepts over clicks</a:t>
            </a:r>
            <a:endParaRPr sz="1400">
              <a:solidFill>
                <a:srgbClr val="434343"/>
              </a:solidFill>
              <a:latin typeface="Roboto"/>
              <a:ea typeface="Roboto"/>
              <a:cs typeface="Roboto"/>
              <a:sym typeface="Roboto"/>
            </a:endParaRPr>
          </a:p>
          <a:p>
            <a:pPr indent="-317500" lvl="0" marL="457200" rtl="0" algn="l">
              <a:spcBef>
                <a:spcPts val="0"/>
              </a:spcBef>
              <a:spcAft>
                <a:spcPts val="0"/>
              </a:spcAft>
              <a:buClr>
                <a:srgbClr val="434343"/>
              </a:buClr>
              <a:buSzPts val="1400"/>
              <a:buFont typeface="Roboto"/>
              <a:buChar char="●"/>
            </a:pPr>
            <a:r>
              <a:rPr lang="en-GB" sz="1400">
                <a:solidFill>
                  <a:srgbClr val="434343"/>
                </a:solidFill>
                <a:latin typeface="Roboto"/>
                <a:ea typeface="Roboto"/>
                <a:cs typeface="Roboto"/>
                <a:sym typeface="Roboto"/>
              </a:rPr>
              <a:t>How things actually work</a:t>
            </a:r>
            <a:endParaRPr sz="1400">
              <a:solidFill>
                <a:srgbClr val="434343"/>
              </a:solidFill>
              <a:latin typeface="Roboto"/>
              <a:ea typeface="Roboto"/>
              <a:cs typeface="Roboto"/>
              <a:sym typeface="Roboto"/>
            </a:endParaRPr>
          </a:p>
          <a:p>
            <a:pPr indent="-317500" lvl="0" marL="457200" rtl="0" algn="l">
              <a:spcBef>
                <a:spcPts val="0"/>
              </a:spcBef>
              <a:spcAft>
                <a:spcPts val="0"/>
              </a:spcAft>
              <a:buClr>
                <a:srgbClr val="434343"/>
              </a:buClr>
              <a:buSzPts val="1400"/>
              <a:buFont typeface="Roboto"/>
              <a:buChar char="●"/>
            </a:pPr>
            <a:r>
              <a:rPr lang="en-GB" sz="1400">
                <a:solidFill>
                  <a:srgbClr val="434343"/>
                </a:solidFill>
                <a:latin typeface="Roboto"/>
                <a:ea typeface="Roboto"/>
                <a:cs typeface="Roboto"/>
                <a:sym typeface="Roboto"/>
              </a:rPr>
              <a:t>Beyond surface-level tools</a:t>
            </a:r>
            <a:endParaRPr sz="1400">
              <a:solidFill>
                <a:srgbClr val="434343"/>
              </a:solidFill>
              <a:latin typeface="Roboto"/>
              <a:ea typeface="Roboto"/>
              <a:cs typeface="Roboto"/>
              <a:sym typeface="Roboto"/>
            </a:endParaRPr>
          </a:p>
          <a:p>
            <a:pPr indent="-317500" lvl="0" marL="457200" rtl="0" algn="l">
              <a:spcBef>
                <a:spcPts val="0"/>
              </a:spcBef>
              <a:spcAft>
                <a:spcPts val="0"/>
              </a:spcAft>
              <a:buClr>
                <a:srgbClr val="434343"/>
              </a:buClr>
              <a:buSzPts val="1400"/>
              <a:buFont typeface="Roboto"/>
              <a:buChar char="●"/>
            </a:pPr>
            <a:r>
              <a:rPr lang="en-GB" sz="1400">
                <a:solidFill>
                  <a:srgbClr val="434343"/>
                </a:solidFill>
                <a:latin typeface="Roboto"/>
                <a:ea typeface="Roboto"/>
                <a:cs typeface="Roboto"/>
                <a:sym typeface="Roboto"/>
              </a:rPr>
              <a:t>The most technical day yet</a:t>
            </a:r>
            <a:endParaRPr sz="1400">
              <a:solidFill>
                <a:srgbClr val="434343"/>
              </a:solidFill>
              <a:latin typeface="Roboto"/>
              <a:ea typeface="Roboto"/>
              <a:cs typeface="Roboto"/>
              <a:sym typeface="Roboto"/>
            </a:endParaRPr>
          </a:p>
          <a:p>
            <a:pPr indent="-317500" lvl="0" marL="457200" rtl="0" algn="l">
              <a:spcBef>
                <a:spcPts val="0"/>
              </a:spcBef>
              <a:spcAft>
                <a:spcPts val="0"/>
              </a:spcAft>
              <a:buClr>
                <a:srgbClr val="434343"/>
              </a:buClr>
              <a:buSzPts val="1400"/>
              <a:buFont typeface="Roboto"/>
              <a:buChar char="●"/>
            </a:pPr>
            <a:r>
              <a:rPr lang="en-GB" sz="1400">
                <a:solidFill>
                  <a:srgbClr val="434343"/>
                </a:solidFill>
                <a:latin typeface="Roboto"/>
                <a:ea typeface="Roboto"/>
                <a:cs typeface="Roboto"/>
                <a:sym typeface="Roboto"/>
              </a:rPr>
              <a:t>Worth every minute of attention</a:t>
            </a:r>
            <a:endParaRPr sz="1400">
              <a:solidFill>
                <a:srgbClr val="434343"/>
              </a:solidFill>
              <a:latin typeface="Roboto"/>
              <a:ea typeface="Roboto"/>
              <a:cs typeface="Roboto"/>
              <a:sym typeface="Roboto"/>
            </a:endParaRPr>
          </a:p>
          <a:p>
            <a:pPr indent="0" lvl="0" marL="0" rtl="0" algn="l">
              <a:spcBef>
                <a:spcPts val="1200"/>
              </a:spcBef>
              <a:spcAft>
                <a:spcPts val="1200"/>
              </a:spcAft>
              <a:buNone/>
            </a:pPr>
            <a:r>
              <a:t/>
            </a:r>
            <a:endParaRPr i="1" sz="1400">
              <a:solidFill>
                <a:srgbClr val="434343"/>
              </a:solidFill>
              <a:latin typeface="Roboto"/>
              <a:ea typeface="Roboto"/>
              <a:cs typeface="Roboto"/>
              <a:sym typeface="Roboto"/>
            </a:endParaRPr>
          </a:p>
        </p:txBody>
      </p:sp>
      <p:sp>
        <p:nvSpPr>
          <p:cNvPr id="65" name="Google Shape;65;p15"/>
          <p:cNvSpPr txBox="1"/>
          <p:nvPr>
            <p:ph idx="4294967295" type="title"/>
          </p:nvPr>
        </p:nvSpPr>
        <p:spPr>
          <a:xfrm>
            <a:off x="671500" y="445025"/>
            <a:ext cx="81609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6"/>
              <a:buFont typeface="Arial"/>
              <a:buNone/>
            </a:pPr>
            <a:r>
              <a:rPr lang="en-GB">
                <a:solidFill>
                  <a:srgbClr val="434343"/>
                </a:solidFill>
                <a:latin typeface="Roboto Medium"/>
                <a:ea typeface="Roboto Medium"/>
                <a:cs typeface="Roboto Medium"/>
                <a:sym typeface="Roboto Medium"/>
              </a:rPr>
              <a:t>Welcome to Day 4</a:t>
            </a:r>
            <a:endParaRPr>
              <a:solidFill>
                <a:srgbClr val="434343"/>
              </a:solidFill>
              <a:latin typeface="Roboto Medium"/>
              <a:ea typeface="Roboto Medium"/>
              <a:cs typeface="Roboto Medium"/>
              <a:sym typeface="Roboto Medium"/>
            </a:endParaRPr>
          </a:p>
          <a:p>
            <a:pPr indent="0" lvl="0" marL="0" rtl="0" algn="l">
              <a:spcBef>
                <a:spcPts val="0"/>
              </a:spcBef>
              <a:spcAft>
                <a:spcPts val="0"/>
              </a:spcAft>
              <a:buClr>
                <a:schemeClr val="dk1"/>
              </a:buClr>
              <a:buSzPct val="39286"/>
              <a:buFont typeface="Arial"/>
              <a:buNone/>
            </a:pPr>
            <a:r>
              <a:t/>
            </a:r>
            <a:endParaRPr>
              <a:solidFill>
                <a:srgbClr val="434343"/>
              </a:solidFill>
              <a:latin typeface="Roboto Medium"/>
              <a:ea typeface="Roboto Medium"/>
              <a:cs typeface="Roboto Medium"/>
              <a:sym typeface="Roboto Medium"/>
            </a:endParaRPr>
          </a:p>
          <a:p>
            <a:pPr indent="0" lvl="0" marL="0" rtl="0" algn="l">
              <a:spcBef>
                <a:spcPts val="0"/>
              </a:spcBef>
              <a:spcAft>
                <a:spcPts val="0"/>
              </a:spcAft>
              <a:buNone/>
            </a:pPr>
            <a:r>
              <a:t/>
            </a:r>
            <a:endParaRPr>
              <a:solidFill>
                <a:srgbClr val="434343"/>
              </a:solidFill>
              <a:latin typeface="Roboto Medium"/>
              <a:ea typeface="Roboto Medium"/>
              <a:cs typeface="Roboto Medium"/>
              <a:sym typeface="Roboto Medium"/>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 name="Shape 69"/>
        <p:cNvGrpSpPr/>
        <p:nvPr/>
      </p:nvGrpSpPr>
      <p:grpSpPr>
        <a:xfrm>
          <a:off x="0" y="0"/>
          <a:ext cx="0" cy="0"/>
          <a:chOff x="0" y="0"/>
          <a:chExt cx="0" cy="0"/>
        </a:xfrm>
      </p:grpSpPr>
      <p:sp>
        <p:nvSpPr>
          <p:cNvPr id="70" name="Google Shape;70;p16"/>
          <p:cNvSpPr txBox="1"/>
          <p:nvPr>
            <p:ph idx="4294967295" type="body"/>
          </p:nvPr>
        </p:nvSpPr>
        <p:spPr>
          <a:xfrm>
            <a:off x="671425" y="1152475"/>
            <a:ext cx="7167000" cy="34164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Clr>
                <a:schemeClr val="dk1"/>
              </a:buClr>
              <a:buSzPts val="1100"/>
              <a:buFont typeface="Arial"/>
              <a:buNone/>
            </a:pPr>
            <a:r>
              <a:rPr i="1" lang="en-GB" sz="1400">
                <a:solidFill>
                  <a:srgbClr val="434343"/>
                </a:solidFill>
                <a:latin typeface="Roboto"/>
                <a:ea typeface="Roboto"/>
                <a:cs typeface="Roboto"/>
                <a:sym typeface="Roboto"/>
              </a:rPr>
              <a:t>Most professionals use computers without truly understanding them.</a:t>
            </a:r>
            <a:r>
              <a:rPr lang="en-GB" sz="1400">
                <a:solidFill>
                  <a:srgbClr val="434343"/>
                </a:solidFill>
                <a:latin typeface="Roboto"/>
                <a:ea typeface="Roboto"/>
                <a:cs typeface="Roboto"/>
                <a:sym typeface="Roboto"/>
              </a:rPr>
              <a:t> </a:t>
            </a:r>
            <a:br>
              <a:rPr lang="en-GB" sz="1400">
                <a:solidFill>
                  <a:srgbClr val="434343"/>
                </a:solidFill>
                <a:latin typeface="Roboto"/>
                <a:ea typeface="Roboto"/>
                <a:cs typeface="Roboto"/>
                <a:sym typeface="Roboto"/>
              </a:rPr>
            </a:br>
            <a:r>
              <a:rPr i="1" lang="en-GB" sz="1400">
                <a:solidFill>
                  <a:srgbClr val="434343"/>
                </a:solidFill>
                <a:latin typeface="Roboto"/>
                <a:ea typeface="Roboto"/>
                <a:cs typeface="Roboto"/>
                <a:sym typeface="Roboto"/>
              </a:rPr>
              <a:t>That gap — between using and understanding — </a:t>
            </a:r>
            <a:br>
              <a:rPr i="1" lang="en-GB" sz="1400">
                <a:solidFill>
                  <a:srgbClr val="434343"/>
                </a:solidFill>
                <a:latin typeface="Roboto"/>
                <a:ea typeface="Roboto"/>
                <a:cs typeface="Roboto"/>
                <a:sym typeface="Roboto"/>
              </a:rPr>
            </a:br>
            <a:r>
              <a:rPr i="1" lang="en-GB" sz="1400">
                <a:solidFill>
                  <a:srgbClr val="434343"/>
                </a:solidFill>
                <a:latin typeface="Roboto"/>
                <a:ea typeface="Roboto"/>
                <a:cs typeface="Roboto"/>
                <a:sym typeface="Roboto"/>
              </a:rPr>
              <a:t>is where mistakes happen.</a:t>
            </a:r>
            <a:r>
              <a:rPr lang="en-GB" sz="1400">
                <a:solidFill>
                  <a:srgbClr val="434343"/>
                </a:solidFill>
                <a:latin typeface="Roboto"/>
                <a:ea typeface="Roboto"/>
                <a:cs typeface="Roboto"/>
                <a:sym typeface="Roboto"/>
              </a:rPr>
              <a:t> </a:t>
            </a:r>
            <a:br>
              <a:rPr lang="en-GB" sz="1400">
                <a:solidFill>
                  <a:srgbClr val="434343"/>
                </a:solidFill>
                <a:latin typeface="Roboto"/>
                <a:ea typeface="Roboto"/>
                <a:cs typeface="Roboto"/>
                <a:sym typeface="Roboto"/>
              </a:rPr>
            </a:br>
            <a:br>
              <a:rPr lang="en-GB" sz="1400">
                <a:solidFill>
                  <a:srgbClr val="434343"/>
                </a:solidFill>
                <a:latin typeface="Roboto"/>
                <a:ea typeface="Roboto"/>
                <a:cs typeface="Roboto"/>
                <a:sym typeface="Roboto"/>
              </a:rPr>
            </a:br>
            <a:r>
              <a:rPr i="1" lang="en-GB" sz="1400">
                <a:solidFill>
                  <a:srgbClr val="434343"/>
                </a:solidFill>
                <a:latin typeface="Roboto"/>
                <a:ea typeface="Roboto"/>
                <a:cs typeface="Roboto"/>
                <a:sym typeface="Roboto"/>
              </a:rPr>
              <a:t>Closing that gap early is what separates strong analysts from average ones.</a:t>
            </a:r>
            <a:endParaRPr i="1" sz="1400">
              <a:solidFill>
                <a:srgbClr val="434343"/>
              </a:solidFill>
              <a:latin typeface="Roboto"/>
              <a:ea typeface="Roboto"/>
              <a:cs typeface="Roboto"/>
              <a:sym typeface="Roboto"/>
            </a:endParaRPr>
          </a:p>
          <a:p>
            <a:pPr indent="-317500" lvl="0" marL="457200" rtl="0" algn="l">
              <a:spcBef>
                <a:spcPts val="1200"/>
              </a:spcBef>
              <a:spcAft>
                <a:spcPts val="0"/>
              </a:spcAft>
              <a:buClr>
                <a:srgbClr val="434343"/>
              </a:buClr>
              <a:buSzPts val="1400"/>
              <a:buFont typeface="Roboto"/>
              <a:buChar char="●"/>
            </a:pPr>
            <a:r>
              <a:rPr lang="en-GB" sz="1400">
                <a:solidFill>
                  <a:srgbClr val="434343"/>
                </a:solidFill>
                <a:latin typeface="Roboto"/>
                <a:ea typeface="Roboto"/>
                <a:cs typeface="Roboto"/>
                <a:sym typeface="Roboto"/>
              </a:rPr>
              <a:t>Tools start making sense</a:t>
            </a:r>
            <a:endParaRPr sz="1400">
              <a:solidFill>
                <a:srgbClr val="434343"/>
              </a:solidFill>
              <a:latin typeface="Roboto"/>
              <a:ea typeface="Roboto"/>
              <a:cs typeface="Roboto"/>
              <a:sym typeface="Roboto"/>
            </a:endParaRPr>
          </a:p>
          <a:p>
            <a:pPr indent="-317500" lvl="0" marL="457200" rtl="0" algn="l">
              <a:spcBef>
                <a:spcPts val="0"/>
              </a:spcBef>
              <a:spcAft>
                <a:spcPts val="0"/>
              </a:spcAft>
              <a:buClr>
                <a:srgbClr val="434343"/>
              </a:buClr>
              <a:buSzPts val="1400"/>
              <a:buFont typeface="Roboto"/>
              <a:buChar char="●"/>
            </a:pPr>
            <a:r>
              <a:rPr lang="en-GB" sz="1400">
                <a:solidFill>
                  <a:srgbClr val="434343"/>
                </a:solidFill>
                <a:latin typeface="Roboto"/>
                <a:ea typeface="Roboto"/>
                <a:cs typeface="Roboto"/>
                <a:sym typeface="Roboto"/>
              </a:rPr>
              <a:t>Less guessing more knowing</a:t>
            </a:r>
            <a:endParaRPr sz="1400">
              <a:solidFill>
                <a:srgbClr val="434343"/>
              </a:solidFill>
              <a:latin typeface="Roboto"/>
              <a:ea typeface="Roboto"/>
              <a:cs typeface="Roboto"/>
              <a:sym typeface="Roboto"/>
            </a:endParaRPr>
          </a:p>
          <a:p>
            <a:pPr indent="-317500" lvl="0" marL="457200" rtl="0" algn="l">
              <a:spcBef>
                <a:spcPts val="0"/>
              </a:spcBef>
              <a:spcAft>
                <a:spcPts val="0"/>
              </a:spcAft>
              <a:buClr>
                <a:srgbClr val="434343"/>
              </a:buClr>
              <a:buSzPts val="1400"/>
              <a:buFont typeface="Roboto"/>
              <a:buChar char="●"/>
            </a:pPr>
            <a:r>
              <a:rPr lang="en-GB" sz="1400">
                <a:solidFill>
                  <a:srgbClr val="434343"/>
                </a:solidFill>
                <a:latin typeface="Roboto"/>
                <a:ea typeface="Roboto"/>
                <a:cs typeface="Roboto"/>
                <a:sym typeface="Roboto"/>
              </a:rPr>
              <a:t>Confidence built on understanding</a:t>
            </a:r>
            <a:endParaRPr sz="1400">
              <a:solidFill>
                <a:srgbClr val="434343"/>
              </a:solidFill>
              <a:latin typeface="Roboto"/>
              <a:ea typeface="Roboto"/>
              <a:cs typeface="Roboto"/>
              <a:sym typeface="Roboto"/>
            </a:endParaRPr>
          </a:p>
          <a:p>
            <a:pPr indent="-317500" lvl="0" marL="457200" rtl="0" algn="l">
              <a:spcBef>
                <a:spcPts val="0"/>
              </a:spcBef>
              <a:spcAft>
                <a:spcPts val="0"/>
              </a:spcAft>
              <a:buClr>
                <a:srgbClr val="434343"/>
              </a:buClr>
              <a:buSzPts val="1400"/>
              <a:buFont typeface="Roboto"/>
              <a:buChar char="●"/>
            </a:pPr>
            <a:r>
              <a:rPr lang="en-GB" sz="1400">
                <a:solidFill>
                  <a:srgbClr val="434343"/>
                </a:solidFill>
                <a:latin typeface="Roboto"/>
                <a:ea typeface="Roboto"/>
                <a:cs typeface="Roboto"/>
                <a:sym typeface="Roboto"/>
              </a:rPr>
              <a:t>Foundation for everything ahead</a:t>
            </a:r>
            <a:endParaRPr sz="1400">
              <a:solidFill>
                <a:srgbClr val="434343"/>
              </a:solidFill>
              <a:latin typeface="Roboto"/>
              <a:ea typeface="Roboto"/>
              <a:cs typeface="Roboto"/>
              <a:sym typeface="Roboto"/>
            </a:endParaRPr>
          </a:p>
          <a:p>
            <a:pPr indent="-317500" lvl="0" marL="457200" rtl="0" algn="l">
              <a:spcBef>
                <a:spcPts val="0"/>
              </a:spcBef>
              <a:spcAft>
                <a:spcPts val="0"/>
              </a:spcAft>
              <a:buClr>
                <a:srgbClr val="434343"/>
              </a:buClr>
              <a:buSzPts val="1400"/>
              <a:buFont typeface="Roboto"/>
              <a:buChar char="●"/>
            </a:pPr>
            <a:r>
              <a:rPr lang="en-GB" sz="1400">
                <a:solidFill>
                  <a:srgbClr val="434343"/>
                </a:solidFill>
                <a:latin typeface="Roboto"/>
                <a:ea typeface="Roboto"/>
                <a:cs typeface="Roboto"/>
                <a:sym typeface="Roboto"/>
              </a:rPr>
              <a:t>The professional mindset starts here</a:t>
            </a:r>
            <a:endParaRPr sz="1400">
              <a:solidFill>
                <a:srgbClr val="434343"/>
              </a:solidFill>
              <a:latin typeface="Roboto"/>
              <a:ea typeface="Roboto"/>
              <a:cs typeface="Roboto"/>
              <a:sym typeface="Roboto"/>
            </a:endParaRPr>
          </a:p>
          <a:p>
            <a:pPr indent="0" lvl="0" marL="0" rtl="0" algn="l">
              <a:spcBef>
                <a:spcPts val="1200"/>
              </a:spcBef>
              <a:spcAft>
                <a:spcPts val="1200"/>
              </a:spcAft>
              <a:buNone/>
            </a:pPr>
            <a:r>
              <a:t/>
            </a:r>
            <a:endParaRPr i="1" sz="1400">
              <a:solidFill>
                <a:srgbClr val="434343"/>
              </a:solidFill>
              <a:latin typeface="Roboto"/>
              <a:ea typeface="Roboto"/>
              <a:cs typeface="Roboto"/>
              <a:sym typeface="Roboto"/>
            </a:endParaRPr>
          </a:p>
        </p:txBody>
      </p:sp>
      <p:sp>
        <p:nvSpPr>
          <p:cNvPr id="71" name="Google Shape;71;p16"/>
          <p:cNvSpPr txBox="1"/>
          <p:nvPr>
            <p:ph idx="4294967295" type="title"/>
          </p:nvPr>
        </p:nvSpPr>
        <p:spPr>
          <a:xfrm>
            <a:off x="671500" y="445025"/>
            <a:ext cx="81609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solidFill>
                  <a:srgbClr val="434343"/>
                </a:solidFill>
                <a:latin typeface="Roboto Medium"/>
                <a:ea typeface="Roboto Medium"/>
                <a:cs typeface="Roboto Medium"/>
                <a:sym typeface="Roboto Medium"/>
              </a:rPr>
              <a:t>Basics but important</a:t>
            </a:r>
            <a:endParaRPr>
              <a:solidFill>
                <a:srgbClr val="434343"/>
              </a:solidFill>
              <a:latin typeface="Roboto Medium"/>
              <a:ea typeface="Roboto Medium"/>
              <a:cs typeface="Roboto Medium"/>
              <a:sym typeface="Roboto Medium"/>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 name="Shape 75"/>
        <p:cNvGrpSpPr/>
        <p:nvPr/>
      </p:nvGrpSpPr>
      <p:grpSpPr>
        <a:xfrm>
          <a:off x="0" y="0"/>
          <a:ext cx="0" cy="0"/>
          <a:chOff x="0" y="0"/>
          <a:chExt cx="0" cy="0"/>
        </a:xfrm>
      </p:grpSpPr>
      <p:sp>
        <p:nvSpPr>
          <p:cNvPr id="76" name="Google Shape;76;p17"/>
          <p:cNvSpPr txBox="1"/>
          <p:nvPr>
            <p:ph idx="4294967295" type="body"/>
          </p:nvPr>
        </p:nvSpPr>
        <p:spPr>
          <a:xfrm>
            <a:off x="671425" y="1152475"/>
            <a:ext cx="7167000" cy="34164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Clr>
                <a:schemeClr val="dk1"/>
              </a:buClr>
              <a:buSzPts val="1100"/>
              <a:buFont typeface="Arial"/>
              <a:buNone/>
            </a:pPr>
            <a:r>
              <a:rPr i="1" lang="en-GB" sz="1400">
                <a:solidFill>
                  <a:srgbClr val="434343"/>
                </a:solidFill>
                <a:latin typeface="Roboto"/>
                <a:ea typeface="Roboto"/>
                <a:cs typeface="Roboto"/>
                <a:sym typeface="Roboto"/>
              </a:rPr>
              <a:t>Every computer operates on two levels — the visible and the underlying.</a:t>
            </a:r>
            <a:r>
              <a:rPr lang="en-GB" sz="1400">
                <a:solidFill>
                  <a:srgbClr val="434343"/>
                </a:solidFill>
                <a:latin typeface="Roboto"/>
                <a:ea typeface="Roboto"/>
                <a:cs typeface="Roboto"/>
                <a:sym typeface="Roboto"/>
              </a:rPr>
              <a:t> </a:t>
            </a:r>
            <a:br>
              <a:rPr lang="en-GB" sz="1400">
                <a:solidFill>
                  <a:srgbClr val="434343"/>
                </a:solidFill>
                <a:latin typeface="Roboto"/>
                <a:ea typeface="Roboto"/>
                <a:cs typeface="Roboto"/>
                <a:sym typeface="Roboto"/>
              </a:rPr>
            </a:br>
            <a:r>
              <a:rPr i="1" lang="en-GB" sz="1400">
                <a:solidFill>
                  <a:srgbClr val="434343"/>
                </a:solidFill>
                <a:latin typeface="Roboto"/>
                <a:ea typeface="Roboto"/>
                <a:cs typeface="Roboto"/>
                <a:sym typeface="Roboto"/>
              </a:rPr>
              <a:t>The visual layer is familiar. The layer beneath it is where real control lives.</a:t>
            </a:r>
            <a:r>
              <a:rPr lang="en-GB" sz="1400">
                <a:solidFill>
                  <a:srgbClr val="434343"/>
                </a:solidFill>
                <a:latin typeface="Roboto"/>
                <a:ea typeface="Roboto"/>
                <a:cs typeface="Roboto"/>
                <a:sym typeface="Roboto"/>
              </a:rPr>
              <a:t> </a:t>
            </a:r>
            <a:br>
              <a:rPr lang="en-GB" sz="1400">
                <a:solidFill>
                  <a:srgbClr val="434343"/>
                </a:solidFill>
                <a:latin typeface="Roboto"/>
                <a:ea typeface="Roboto"/>
                <a:cs typeface="Roboto"/>
                <a:sym typeface="Roboto"/>
              </a:rPr>
            </a:br>
            <a:r>
              <a:rPr i="1" lang="en-GB" sz="1400">
                <a:solidFill>
                  <a:srgbClr val="434343"/>
                </a:solidFill>
                <a:latin typeface="Roboto"/>
                <a:ea typeface="Roboto"/>
                <a:cs typeface="Roboto"/>
                <a:sym typeface="Roboto"/>
              </a:rPr>
              <a:t>Both matter. Both will be used throughout this program.</a:t>
            </a:r>
            <a:endParaRPr i="1" sz="1400">
              <a:solidFill>
                <a:srgbClr val="434343"/>
              </a:solidFill>
              <a:latin typeface="Roboto"/>
              <a:ea typeface="Roboto"/>
              <a:cs typeface="Roboto"/>
              <a:sym typeface="Roboto"/>
            </a:endParaRPr>
          </a:p>
          <a:p>
            <a:pPr indent="-317500" lvl="0" marL="457200" rtl="0" algn="l">
              <a:spcBef>
                <a:spcPts val="1200"/>
              </a:spcBef>
              <a:spcAft>
                <a:spcPts val="0"/>
              </a:spcAft>
              <a:buClr>
                <a:srgbClr val="434343"/>
              </a:buClr>
              <a:buSzPts val="1400"/>
              <a:buFont typeface="Roboto"/>
              <a:buChar char="●"/>
            </a:pPr>
            <a:r>
              <a:rPr lang="en-GB" sz="1400">
                <a:solidFill>
                  <a:srgbClr val="434343"/>
                </a:solidFill>
                <a:latin typeface="Roboto"/>
                <a:ea typeface="Roboto"/>
                <a:cs typeface="Roboto"/>
                <a:sym typeface="Roboto"/>
              </a:rPr>
              <a:t>One visible layer</a:t>
            </a:r>
            <a:endParaRPr sz="1400">
              <a:solidFill>
                <a:srgbClr val="434343"/>
              </a:solidFill>
              <a:latin typeface="Roboto"/>
              <a:ea typeface="Roboto"/>
              <a:cs typeface="Roboto"/>
              <a:sym typeface="Roboto"/>
            </a:endParaRPr>
          </a:p>
          <a:p>
            <a:pPr indent="-317500" lvl="0" marL="457200" rtl="0" algn="l">
              <a:spcBef>
                <a:spcPts val="0"/>
              </a:spcBef>
              <a:spcAft>
                <a:spcPts val="0"/>
              </a:spcAft>
              <a:buClr>
                <a:srgbClr val="434343"/>
              </a:buClr>
              <a:buSzPts val="1400"/>
              <a:buFont typeface="Roboto"/>
              <a:buChar char="●"/>
            </a:pPr>
            <a:r>
              <a:rPr lang="en-GB" sz="1400">
                <a:solidFill>
                  <a:srgbClr val="434343"/>
                </a:solidFill>
                <a:latin typeface="Roboto"/>
                <a:ea typeface="Roboto"/>
                <a:cs typeface="Roboto"/>
                <a:sym typeface="Roboto"/>
              </a:rPr>
              <a:t>One text-based layer</a:t>
            </a:r>
            <a:endParaRPr sz="1400">
              <a:solidFill>
                <a:srgbClr val="434343"/>
              </a:solidFill>
              <a:latin typeface="Roboto"/>
              <a:ea typeface="Roboto"/>
              <a:cs typeface="Roboto"/>
              <a:sym typeface="Roboto"/>
            </a:endParaRPr>
          </a:p>
          <a:p>
            <a:pPr indent="-317500" lvl="0" marL="457200" rtl="0" algn="l">
              <a:spcBef>
                <a:spcPts val="0"/>
              </a:spcBef>
              <a:spcAft>
                <a:spcPts val="0"/>
              </a:spcAft>
              <a:buClr>
                <a:srgbClr val="434343"/>
              </a:buClr>
              <a:buSzPts val="1400"/>
              <a:buFont typeface="Roboto"/>
              <a:buChar char="●"/>
            </a:pPr>
            <a:r>
              <a:rPr lang="en-GB" sz="1400">
                <a:solidFill>
                  <a:srgbClr val="434343"/>
                </a:solidFill>
                <a:latin typeface="Roboto"/>
                <a:ea typeface="Roboto"/>
                <a:cs typeface="Roboto"/>
                <a:sym typeface="Roboto"/>
              </a:rPr>
              <a:t>Both serve real purposes</a:t>
            </a:r>
            <a:endParaRPr sz="1400">
              <a:solidFill>
                <a:srgbClr val="434343"/>
              </a:solidFill>
              <a:latin typeface="Roboto"/>
              <a:ea typeface="Roboto"/>
              <a:cs typeface="Roboto"/>
              <a:sym typeface="Roboto"/>
            </a:endParaRPr>
          </a:p>
          <a:p>
            <a:pPr indent="-317500" lvl="0" marL="457200" rtl="0" algn="l">
              <a:spcBef>
                <a:spcPts val="0"/>
              </a:spcBef>
              <a:spcAft>
                <a:spcPts val="0"/>
              </a:spcAft>
              <a:buClr>
                <a:srgbClr val="434343"/>
              </a:buClr>
              <a:buSzPts val="1400"/>
              <a:buFont typeface="Roboto"/>
              <a:buChar char="●"/>
            </a:pPr>
            <a:r>
              <a:rPr lang="en-GB" sz="1400">
                <a:solidFill>
                  <a:srgbClr val="434343"/>
                </a:solidFill>
                <a:latin typeface="Roboto"/>
                <a:ea typeface="Roboto"/>
                <a:cs typeface="Roboto"/>
                <a:sym typeface="Roboto"/>
              </a:rPr>
              <a:t>Each has its strengths</a:t>
            </a:r>
            <a:endParaRPr sz="1400">
              <a:solidFill>
                <a:srgbClr val="434343"/>
              </a:solidFill>
              <a:latin typeface="Roboto"/>
              <a:ea typeface="Roboto"/>
              <a:cs typeface="Roboto"/>
              <a:sym typeface="Roboto"/>
            </a:endParaRPr>
          </a:p>
          <a:p>
            <a:pPr indent="-317500" lvl="0" marL="457200" rtl="0" algn="l">
              <a:spcBef>
                <a:spcPts val="0"/>
              </a:spcBef>
              <a:spcAft>
                <a:spcPts val="0"/>
              </a:spcAft>
              <a:buClr>
                <a:srgbClr val="434343"/>
              </a:buClr>
              <a:buSzPts val="1400"/>
              <a:buFont typeface="Roboto"/>
              <a:buChar char="●"/>
            </a:pPr>
            <a:r>
              <a:rPr lang="en-GB" sz="1400">
                <a:solidFill>
                  <a:srgbClr val="434343"/>
                </a:solidFill>
                <a:latin typeface="Roboto"/>
                <a:ea typeface="Roboto"/>
                <a:cs typeface="Roboto"/>
                <a:sym typeface="Roboto"/>
              </a:rPr>
              <a:t>Both covered today</a:t>
            </a:r>
            <a:endParaRPr sz="1400">
              <a:solidFill>
                <a:srgbClr val="434343"/>
              </a:solidFill>
              <a:latin typeface="Roboto"/>
              <a:ea typeface="Roboto"/>
              <a:cs typeface="Roboto"/>
              <a:sym typeface="Roboto"/>
            </a:endParaRPr>
          </a:p>
          <a:p>
            <a:pPr indent="0" lvl="0" marL="0" rtl="0" algn="l">
              <a:spcBef>
                <a:spcPts val="1200"/>
              </a:spcBef>
              <a:spcAft>
                <a:spcPts val="1200"/>
              </a:spcAft>
              <a:buNone/>
            </a:pPr>
            <a:r>
              <a:t/>
            </a:r>
            <a:endParaRPr i="1" sz="1400">
              <a:solidFill>
                <a:srgbClr val="434343"/>
              </a:solidFill>
              <a:latin typeface="Roboto"/>
              <a:ea typeface="Roboto"/>
              <a:cs typeface="Roboto"/>
              <a:sym typeface="Roboto"/>
            </a:endParaRPr>
          </a:p>
        </p:txBody>
      </p:sp>
      <p:sp>
        <p:nvSpPr>
          <p:cNvPr id="77" name="Google Shape;77;p17"/>
          <p:cNvSpPr txBox="1"/>
          <p:nvPr>
            <p:ph idx="4294967295" type="title"/>
          </p:nvPr>
        </p:nvSpPr>
        <p:spPr>
          <a:xfrm>
            <a:off x="671500" y="445025"/>
            <a:ext cx="81609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solidFill>
                  <a:srgbClr val="434343"/>
                </a:solidFill>
                <a:latin typeface="Roboto Medium"/>
                <a:ea typeface="Roboto Medium"/>
                <a:cs typeface="Roboto Medium"/>
                <a:sym typeface="Roboto Medium"/>
              </a:rPr>
              <a:t>Computer Has Two Faces </a:t>
            </a:r>
            <a:endParaRPr>
              <a:solidFill>
                <a:srgbClr val="434343"/>
              </a:solidFill>
              <a:latin typeface="Roboto Medium"/>
              <a:ea typeface="Roboto Medium"/>
              <a:cs typeface="Roboto Medium"/>
              <a:sym typeface="Roboto Medium"/>
            </a:endParaRPr>
          </a:p>
        </p:txBody>
      </p:sp>
      <p:pic>
        <p:nvPicPr>
          <p:cNvPr id="78" name="Google Shape;78;p17"/>
          <p:cNvPicPr preferRelativeResize="0"/>
          <p:nvPr/>
        </p:nvPicPr>
        <p:blipFill>
          <a:blip r:embed="rId3">
            <a:alphaModFix/>
          </a:blip>
          <a:stretch>
            <a:fillRect/>
          </a:stretch>
        </p:blipFill>
        <p:spPr>
          <a:xfrm>
            <a:off x="5299075" y="2571750"/>
            <a:ext cx="2539350" cy="17338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 name="Shape 82"/>
        <p:cNvGrpSpPr/>
        <p:nvPr/>
      </p:nvGrpSpPr>
      <p:grpSpPr>
        <a:xfrm>
          <a:off x="0" y="0"/>
          <a:ext cx="0" cy="0"/>
          <a:chOff x="0" y="0"/>
          <a:chExt cx="0" cy="0"/>
        </a:xfrm>
      </p:grpSpPr>
      <p:sp>
        <p:nvSpPr>
          <p:cNvPr id="83" name="Google Shape;83;p18"/>
          <p:cNvSpPr txBox="1"/>
          <p:nvPr>
            <p:ph idx="4294967295" type="body"/>
          </p:nvPr>
        </p:nvSpPr>
        <p:spPr>
          <a:xfrm>
            <a:off x="671425" y="1152475"/>
            <a:ext cx="7167000" cy="34164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Clr>
                <a:schemeClr val="dk1"/>
              </a:buClr>
              <a:buSzPts val="1100"/>
              <a:buFont typeface="Arial"/>
              <a:buNone/>
            </a:pPr>
            <a:r>
              <a:rPr i="1" lang="en-GB" sz="1400">
                <a:solidFill>
                  <a:srgbClr val="434343"/>
                </a:solidFill>
                <a:latin typeface="Roboto"/>
                <a:ea typeface="Roboto"/>
                <a:cs typeface="Roboto"/>
                <a:sym typeface="Roboto"/>
              </a:rPr>
              <a:t>GUI stands for Graphical User Interface.</a:t>
            </a:r>
            <a:r>
              <a:rPr lang="en-GB" sz="1400">
                <a:solidFill>
                  <a:srgbClr val="434343"/>
                </a:solidFill>
                <a:latin typeface="Roboto"/>
                <a:ea typeface="Roboto"/>
                <a:cs typeface="Roboto"/>
                <a:sym typeface="Roboto"/>
              </a:rPr>
              <a:t> </a:t>
            </a:r>
            <a:r>
              <a:rPr i="1" lang="en-GB" sz="1400">
                <a:solidFill>
                  <a:srgbClr val="434343"/>
                </a:solidFill>
                <a:latin typeface="Roboto"/>
                <a:ea typeface="Roboto"/>
                <a:cs typeface="Roboto"/>
                <a:sym typeface="Roboto"/>
              </a:rPr>
              <a:t>It is the visual layer of a computer — icons, buttons, menus, windows.</a:t>
            </a:r>
            <a:r>
              <a:rPr lang="en-GB" sz="1400">
                <a:solidFill>
                  <a:srgbClr val="434343"/>
                </a:solidFill>
                <a:latin typeface="Roboto"/>
                <a:ea typeface="Roboto"/>
                <a:cs typeface="Roboto"/>
                <a:sym typeface="Roboto"/>
              </a:rPr>
              <a:t> </a:t>
            </a:r>
            <a:r>
              <a:rPr i="1" lang="en-GB" sz="1400">
                <a:solidFill>
                  <a:srgbClr val="434343"/>
                </a:solidFill>
                <a:latin typeface="Roboto"/>
                <a:ea typeface="Roboto"/>
                <a:cs typeface="Roboto"/>
                <a:sym typeface="Roboto"/>
              </a:rPr>
              <a:t>Designed for accessibility, it is the entry point for most users.</a:t>
            </a:r>
            <a:endParaRPr i="1" sz="1400">
              <a:solidFill>
                <a:srgbClr val="434343"/>
              </a:solidFill>
              <a:latin typeface="Roboto"/>
              <a:ea typeface="Roboto"/>
              <a:cs typeface="Roboto"/>
              <a:sym typeface="Roboto"/>
            </a:endParaRPr>
          </a:p>
          <a:p>
            <a:pPr indent="-317500" lvl="0" marL="457200" rtl="0" algn="l">
              <a:spcBef>
                <a:spcPts val="1200"/>
              </a:spcBef>
              <a:spcAft>
                <a:spcPts val="0"/>
              </a:spcAft>
              <a:buClr>
                <a:srgbClr val="434343"/>
              </a:buClr>
              <a:buSzPts val="1400"/>
              <a:buFont typeface="Roboto"/>
              <a:buChar char="●"/>
            </a:pPr>
            <a:r>
              <a:rPr lang="en-GB" sz="1400">
                <a:solidFill>
                  <a:srgbClr val="434343"/>
                </a:solidFill>
                <a:latin typeface="Roboto"/>
                <a:ea typeface="Roboto"/>
                <a:cs typeface="Roboto"/>
                <a:sym typeface="Roboto"/>
              </a:rPr>
              <a:t>Graphical User Interface</a:t>
            </a:r>
            <a:endParaRPr sz="1400">
              <a:solidFill>
                <a:srgbClr val="434343"/>
              </a:solidFill>
              <a:latin typeface="Roboto"/>
              <a:ea typeface="Roboto"/>
              <a:cs typeface="Roboto"/>
              <a:sym typeface="Roboto"/>
            </a:endParaRPr>
          </a:p>
          <a:p>
            <a:pPr indent="-317500" lvl="0" marL="457200" rtl="0" algn="l">
              <a:spcBef>
                <a:spcPts val="0"/>
              </a:spcBef>
              <a:spcAft>
                <a:spcPts val="0"/>
              </a:spcAft>
              <a:buClr>
                <a:srgbClr val="434343"/>
              </a:buClr>
              <a:buSzPts val="1400"/>
              <a:buFont typeface="Roboto"/>
              <a:buChar char="●"/>
            </a:pPr>
            <a:r>
              <a:rPr lang="en-GB" sz="1400">
                <a:solidFill>
                  <a:srgbClr val="434343"/>
                </a:solidFill>
                <a:latin typeface="Roboto"/>
                <a:ea typeface="Roboto"/>
                <a:cs typeface="Roboto"/>
                <a:sym typeface="Roboto"/>
              </a:rPr>
              <a:t>Icons buttons and menus</a:t>
            </a:r>
            <a:endParaRPr sz="1400">
              <a:solidFill>
                <a:srgbClr val="434343"/>
              </a:solidFill>
              <a:latin typeface="Roboto"/>
              <a:ea typeface="Roboto"/>
              <a:cs typeface="Roboto"/>
              <a:sym typeface="Roboto"/>
            </a:endParaRPr>
          </a:p>
          <a:p>
            <a:pPr indent="-317500" lvl="0" marL="457200" rtl="0" algn="l">
              <a:spcBef>
                <a:spcPts val="0"/>
              </a:spcBef>
              <a:spcAft>
                <a:spcPts val="0"/>
              </a:spcAft>
              <a:buClr>
                <a:srgbClr val="434343"/>
              </a:buClr>
              <a:buSzPts val="1400"/>
              <a:buFont typeface="Roboto"/>
              <a:buChar char="●"/>
            </a:pPr>
            <a:r>
              <a:rPr lang="en-GB" sz="1400">
                <a:solidFill>
                  <a:srgbClr val="434343"/>
                </a:solidFill>
                <a:latin typeface="Roboto"/>
                <a:ea typeface="Roboto"/>
                <a:cs typeface="Roboto"/>
                <a:sym typeface="Roboto"/>
              </a:rPr>
              <a:t>Built for visual interaction</a:t>
            </a:r>
            <a:endParaRPr sz="1400">
              <a:solidFill>
                <a:srgbClr val="434343"/>
              </a:solidFill>
              <a:latin typeface="Roboto"/>
              <a:ea typeface="Roboto"/>
              <a:cs typeface="Roboto"/>
              <a:sym typeface="Roboto"/>
            </a:endParaRPr>
          </a:p>
          <a:p>
            <a:pPr indent="-317500" lvl="0" marL="457200" rtl="0" algn="l">
              <a:spcBef>
                <a:spcPts val="0"/>
              </a:spcBef>
              <a:spcAft>
                <a:spcPts val="0"/>
              </a:spcAft>
              <a:buClr>
                <a:srgbClr val="434343"/>
              </a:buClr>
              <a:buSzPts val="1400"/>
              <a:buFont typeface="Roboto"/>
              <a:buChar char="●"/>
            </a:pPr>
            <a:r>
              <a:rPr lang="en-GB" sz="1400">
                <a:solidFill>
                  <a:srgbClr val="434343"/>
                </a:solidFill>
                <a:latin typeface="Roboto"/>
                <a:ea typeface="Roboto"/>
                <a:cs typeface="Roboto"/>
                <a:sym typeface="Roboto"/>
              </a:rPr>
              <a:t>Beginner-friendly by design</a:t>
            </a:r>
            <a:endParaRPr sz="1400">
              <a:solidFill>
                <a:srgbClr val="434343"/>
              </a:solidFill>
              <a:latin typeface="Roboto"/>
              <a:ea typeface="Roboto"/>
              <a:cs typeface="Roboto"/>
              <a:sym typeface="Roboto"/>
            </a:endParaRPr>
          </a:p>
          <a:p>
            <a:pPr indent="-317500" lvl="0" marL="457200" rtl="0" algn="l">
              <a:spcBef>
                <a:spcPts val="0"/>
              </a:spcBef>
              <a:spcAft>
                <a:spcPts val="0"/>
              </a:spcAft>
              <a:buClr>
                <a:srgbClr val="434343"/>
              </a:buClr>
              <a:buSzPts val="1400"/>
              <a:buFont typeface="Roboto"/>
              <a:buChar char="●"/>
            </a:pPr>
            <a:r>
              <a:rPr lang="en-GB" sz="1400">
                <a:solidFill>
                  <a:srgbClr val="434343"/>
                </a:solidFill>
                <a:latin typeface="Roboto"/>
                <a:ea typeface="Roboto"/>
                <a:cs typeface="Roboto"/>
                <a:sym typeface="Roboto"/>
              </a:rPr>
              <a:t>Used across almost all software</a:t>
            </a:r>
            <a:endParaRPr sz="1400">
              <a:solidFill>
                <a:srgbClr val="434343"/>
              </a:solidFill>
              <a:latin typeface="Roboto"/>
              <a:ea typeface="Roboto"/>
              <a:cs typeface="Roboto"/>
              <a:sym typeface="Roboto"/>
            </a:endParaRPr>
          </a:p>
          <a:p>
            <a:pPr indent="0" lvl="0" marL="0" rtl="0" algn="l">
              <a:spcBef>
                <a:spcPts val="1200"/>
              </a:spcBef>
              <a:spcAft>
                <a:spcPts val="1200"/>
              </a:spcAft>
              <a:buNone/>
            </a:pPr>
            <a:r>
              <a:t/>
            </a:r>
            <a:endParaRPr i="1" sz="1400">
              <a:solidFill>
                <a:srgbClr val="434343"/>
              </a:solidFill>
              <a:latin typeface="Roboto"/>
              <a:ea typeface="Roboto"/>
              <a:cs typeface="Roboto"/>
              <a:sym typeface="Roboto"/>
            </a:endParaRPr>
          </a:p>
        </p:txBody>
      </p:sp>
      <p:sp>
        <p:nvSpPr>
          <p:cNvPr id="84" name="Google Shape;84;p18"/>
          <p:cNvSpPr txBox="1"/>
          <p:nvPr>
            <p:ph idx="4294967295" type="title"/>
          </p:nvPr>
        </p:nvSpPr>
        <p:spPr>
          <a:xfrm>
            <a:off x="671500" y="445025"/>
            <a:ext cx="81609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solidFill>
                  <a:srgbClr val="434343"/>
                </a:solidFill>
                <a:latin typeface="Roboto Medium"/>
                <a:ea typeface="Roboto Medium"/>
                <a:cs typeface="Roboto Medium"/>
                <a:sym typeface="Roboto Medium"/>
              </a:rPr>
              <a:t>What Is a GUI? </a:t>
            </a:r>
            <a:endParaRPr>
              <a:solidFill>
                <a:srgbClr val="434343"/>
              </a:solidFill>
              <a:latin typeface="Roboto Medium"/>
              <a:ea typeface="Roboto Medium"/>
              <a:cs typeface="Roboto Medium"/>
              <a:sym typeface="Roboto Medium"/>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9"/>
          <p:cNvSpPr txBox="1"/>
          <p:nvPr>
            <p:ph idx="4294967295" type="body"/>
          </p:nvPr>
        </p:nvSpPr>
        <p:spPr>
          <a:xfrm>
            <a:off x="671425" y="1152475"/>
            <a:ext cx="7167000" cy="3416400"/>
          </a:xfrm>
          <a:prstGeom prst="rect">
            <a:avLst/>
          </a:prstGeom>
        </p:spPr>
        <p:txBody>
          <a:bodyPr anchorCtr="0" anchor="t" bIns="91425" lIns="91425" spcFirstLastPara="1" rIns="91425" wrap="square" tIns="91425">
            <a:noAutofit/>
          </a:bodyPr>
          <a:lstStyle/>
          <a:p>
            <a:pPr indent="0" lvl="0" marL="0" rtl="0" algn="l">
              <a:spcBef>
                <a:spcPts val="1200"/>
              </a:spcBef>
              <a:spcAft>
                <a:spcPts val="0"/>
              </a:spcAft>
              <a:buClr>
                <a:schemeClr val="dk1"/>
              </a:buClr>
              <a:buSzPts val="1100"/>
              <a:buFont typeface="Arial"/>
              <a:buNone/>
            </a:pPr>
            <a:r>
              <a:rPr i="1" lang="en-GB" sz="1400">
                <a:solidFill>
                  <a:srgbClr val="434343"/>
                </a:solidFill>
                <a:latin typeface="Roboto"/>
                <a:ea typeface="Roboto"/>
                <a:cs typeface="Roboto"/>
                <a:sym typeface="Roboto"/>
              </a:rPr>
              <a:t>The terminal is a text-based interface for communicating directly with a computer.</a:t>
            </a:r>
            <a:r>
              <a:rPr lang="en-GB" sz="1400">
                <a:solidFill>
                  <a:srgbClr val="434343"/>
                </a:solidFill>
                <a:latin typeface="Roboto"/>
                <a:ea typeface="Roboto"/>
                <a:cs typeface="Roboto"/>
                <a:sym typeface="Roboto"/>
              </a:rPr>
              <a:t> </a:t>
            </a:r>
            <a:r>
              <a:rPr i="1" lang="en-GB" sz="1400">
                <a:solidFill>
                  <a:srgbClr val="434343"/>
                </a:solidFill>
                <a:latin typeface="Roboto"/>
                <a:ea typeface="Roboto"/>
                <a:cs typeface="Roboto"/>
                <a:sym typeface="Roboto"/>
              </a:rPr>
              <a:t>No icons. No buttons. Commands typed in, results returned.</a:t>
            </a:r>
            <a:r>
              <a:rPr lang="en-GB" sz="1400">
                <a:solidFill>
                  <a:srgbClr val="434343"/>
                </a:solidFill>
                <a:latin typeface="Roboto"/>
                <a:ea typeface="Roboto"/>
                <a:cs typeface="Roboto"/>
                <a:sym typeface="Roboto"/>
              </a:rPr>
              <a:t> </a:t>
            </a:r>
            <a:r>
              <a:rPr i="1" lang="en-GB" sz="1400">
                <a:solidFill>
                  <a:srgbClr val="434343"/>
                </a:solidFill>
                <a:latin typeface="Roboto"/>
                <a:ea typeface="Roboto"/>
                <a:cs typeface="Roboto"/>
                <a:sym typeface="Roboto"/>
              </a:rPr>
              <a:t>It is faster, more precise, and used by data professionals every day.</a:t>
            </a:r>
            <a:endParaRPr i="1" sz="1400">
              <a:solidFill>
                <a:srgbClr val="434343"/>
              </a:solidFill>
              <a:latin typeface="Roboto"/>
              <a:ea typeface="Roboto"/>
              <a:cs typeface="Roboto"/>
              <a:sym typeface="Roboto"/>
            </a:endParaRPr>
          </a:p>
          <a:p>
            <a:pPr indent="-317500" lvl="0" marL="457200" rtl="0" algn="l">
              <a:spcBef>
                <a:spcPts val="1200"/>
              </a:spcBef>
              <a:spcAft>
                <a:spcPts val="0"/>
              </a:spcAft>
              <a:buClr>
                <a:srgbClr val="434343"/>
              </a:buClr>
              <a:buSzPts val="1400"/>
              <a:buFont typeface="Roboto"/>
              <a:buChar char="●"/>
            </a:pPr>
            <a:r>
              <a:rPr lang="en-GB" sz="1400">
                <a:solidFill>
                  <a:srgbClr val="434343"/>
                </a:solidFill>
                <a:latin typeface="Roboto"/>
                <a:ea typeface="Roboto"/>
                <a:cs typeface="Roboto"/>
                <a:sym typeface="Roboto"/>
              </a:rPr>
              <a:t>Text-based command interface</a:t>
            </a:r>
            <a:endParaRPr sz="1400">
              <a:solidFill>
                <a:srgbClr val="434343"/>
              </a:solidFill>
              <a:latin typeface="Roboto"/>
              <a:ea typeface="Roboto"/>
              <a:cs typeface="Roboto"/>
              <a:sym typeface="Roboto"/>
            </a:endParaRPr>
          </a:p>
          <a:p>
            <a:pPr indent="-317500" lvl="0" marL="457200" rtl="0" algn="l">
              <a:spcBef>
                <a:spcPts val="0"/>
              </a:spcBef>
              <a:spcAft>
                <a:spcPts val="0"/>
              </a:spcAft>
              <a:buClr>
                <a:srgbClr val="434343"/>
              </a:buClr>
              <a:buSzPts val="1400"/>
              <a:buFont typeface="Roboto"/>
              <a:buChar char="●"/>
            </a:pPr>
            <a:r>
              <a:rPr lang="en-GB" sz="1400">
                <a:solidFill>
                  <a:srgbClr val="434343"/>
                </a:solidFill>
                <a:latin typeface="Roboto"/>
                <a:ea typeface="Roboto"/>
                <a:cs typeface="Roboto"/>
                <a:sym typeface="Roboto"/>
              </a:rPr>
              <a:t>Direct machine communication</a:t>
            </a:r>
            <a:endParaRPr sz="1400">
              <a:solidFill>
                <a:srgbClr val="434343"/>
              </a:solidFill>
              <a:latin typeface="Roboto"/>
              <a:ea typeface="Roboto"/>
              <a:cs typeface="Roboto"/>
              <a:sym typeface="Roboto"/>
            </a:endParaRPr>
          </a:p>
          <a:p>
            <a:pPr indent="-317500" lvl="0" marL="457200" rtl="0" algn="l">
              <a:spcBef>
                <a:spcPts val="0"/>
              </a:spcBef>
              <a:spcAft>
                <a:spcPts val="0"/>
              </a:spcAft>
              <a:buClr>
                <a:srgbClr val="434343"/>
              </a:buClr>
              <a:buSzPts val="1400"/>
              <a:buFont typeface="Roboto"/>
              <a:buChar char="●"/>
            </a:pPr>
            <a:r>
              <a:rPr lang="en-GB" sz="1400">
                <a:solidFill>
                  <a:srgbClr val="434343"/>
                </a:solidFill>
                <a:latin typeface="Roboto"/>
                <a:ea typeface="Roboto"/>
                <a:cs typeface="Roboto"/>
                <a:sym typeface="Roboto"/>
              </a:rPr>
              <a:t>No visual layer needed</a:t>
            </a:r>
            <a:endParaRPr sz="1400">
              <a:solidFill>
                <a:srgbClr val="434343"/>
              </a:solidFill>
              <a:latin typeface="Roboto"/>
              <a:ea typeface="Roboto"/>
              <a:cs typeface="Roboto"/>
              <a:sym typeface="Roboto"/>
            </a:endParaRPr>
          </a:p>
          <a:p>
            <a:pPr indent="-317500" lvl="0" marL="457200" rtl="0" algn="l">
              <a:spcBef>
                <a:spcPts val="0"/>
              </a:spcBef>
              <a:spcAft>
                <a:spcPts val="0"/>
              </a:spcAft>
              <a:buClr>
                <a:srgbClr val="434343"/>
              </a:buClr>
              <a:buSzPts val="1400"/>
              <a:buFont typeface="Roboto"/>
              <a:buChar char="●"/>
            </a:pPr>
            <a:r>
              <a:rPr lang="en-GB" sz="1400">
                <a:solidFill>
                  <a:srgbClr val="434343"/>
                </a:solidFill>
                <a:latin typeface="Roboto"/>
                <a:ea typeface="Roboto"/>
                <a:cs typeface="Roboto"/>
                <a:sym typeface="Roboto"/>
              </a:rPr>
              <a:t>Precise and efficient</a:t>
            </a:r>
            <a:endParaRPr sz="1400">
              <a:solidFill>
                <a:srgbClr val="434343"/>
              </a:solidFill>
              <a:latin typeface="Roboto"/>
              <a:ea typeface="Roboto"/>
              <a:cs typeface="Roboto"/>
              <a:sym typeface="Roboto"/>
            </a:endParaRPr>
          </a:p>
          <a:p>
            <a:pPr indent="-317500" lvl="0" marL="457200" rtl="0" algn="l">
              <a:spcBef>
                <a:spcPts val="0"/>
              </a:spcBef>
              <a:spcAft>
                <a:spcPts val="0"/>
              </a:spcAft>
              <a:buClr>
                <a:srgbClr val="434343"/>
              </a:buClr>
              <a:buSzPts val="1400"/>
              <a:buFont typeface="Roboto"/>
              <a:buChar char="●"/>
            </a:pPr>
            <a:r>
              <a:rPr lang="en-GB" sz="1400">
                <a:solidFill>
                  <a:srgbClr val="434343"/>
                </a:solidFill>
                <a:latin typeface="Roboto"/>
                <a:ea typeface="Roboto"/>
                <a:cs typeface="Roboto"/>
                <a:sym typeface="Roboto"/>
              </a:rPr>
              <a:t>Standard in every data role</a:t>
            </a:r>
            <a:endParaRPr sz="1400">
              <a:solidFill>
                <a:srgbClr val="434343"/>
              </a:solidFill>
              <a:latin typeface="Roboto"/>
              <a:ea typeface="Roboto"/>
              <a:cs typeface="Roboto"/>
              <a:sym typeface="Roboto"/>
            </a:endParaRPr>
          </a:p>
          <a:p>
            <a:pPr indent="0" lvl="0" marL="0" rtl="0" algn="l">
              <a:spcBef>
                <a:spcPts val="1200"/>
              </a:spcBef>
              <a:spcAft>
                <a:spcPts val="1200"/>
              </a:spcAft>
              <a:buNone/>
            </a:pPr>
            <a:r>
              <a:t/>
            </a:r>
            <a:endParaRPr i="1" sz="1400">
              <a:solidFill>
                <a:srgbClr val="434343"/>
              </a:solidFill>
              <a:latin typeface="Roboto"/>
              <a:ea typeface="Roboto"/>
              <a:cs typeface="Roboto"/>
              <a:sym typeface="Roboto"/>
            </a:endParaRPr>
          </a:p>
        </p:txBody>
      </p:sp>
      <p:sp>
        <p:nvSpPr>
          <p:cNvPr id="90" name="Google Shape;90;p19"/>
          <p:cNvSpPr txBox="1"/>
          <p:nvPr>
            <p:ph idx="4294967295" type="title"/>
          </p:nvPr>
        </p:nvSpPr>
        <p:spPr>
          <a:xfrm>
            <a:off x="671500" y="445025"/>
            <a:ext cx="81609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solidFill>
                  <a:srgbClr val="434343"/>
                </a:solidFill>
                <a:latin typeface="Roboto Medium"/>
                <a:ea typeface="Roboto Medium"/>
                <a:cs typeface="Roboto Medium"/>
                <a:sym typeface="Roboto Medium"/>
              </a:rPr>
              <a:t>What Is a Terminal? </a:t>
            </a:r>
            <a:endParaRPr>
              <a:solidFill>
                <a:srgbClr val="434343"/>
              </a:solidFill>
              <a:latin typeface="Roboto Medium"/>
              <a:ea typeface="Roboto Medium"/>
              <a:cs typeface="Roboto Medium"/>
              <a:sym typeface="Roboto Medium"/>
            </a:endParaRPr>
          </a:p>
        </p:txBody>
      </p:sp>
      <p:pic>
        <p:nvPicPr>
          <p:cNvPr id="91" name="Google Shape;91;p19"/>
          <p:cNvPicPr preferRelativeResize="0"/>
          <p:nvPr/>
        </p:nvPicPr>
        <p:blipFill>
          <a:blip r:embed="rId3">
            <a:alphaModFix/>
          </a:blip>
          <a:stretch>
            <a:fillRect/>
          </a:stretch>
        </p:blipFill>
        <p:spPr>
          <a:xfrm>
            <a:off x="5653368" y="2762293"/>
            <a:ext cx="1411475" cy="14369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20"/>
          <p:cNvSpPr txBox="1"/>
          <p:nvPr>
            <p:ph type="title"/>
          </p:nvPr>
        </p:nvSpPr>
        <p:spPr>
          <a:xfrm>
            <a:off x="671500" y="445025"/>
            <a:ext cx="81609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solidFill>
                  <a:srgbClr val="434343"/>
                </a:solidFill>
                <a:latin typeface="Roboto Medium"/>
                <a:ea typeface="Roboto Medium"/>
                <a:cs typeface="Roboto Medium"/>
                <a:sym typeface="Roboto Medium"/>
              </a:rPr>
              <a:t>GUI vs Terminal </a:t>
            </a:r>
            <a:endParaRPr>
              <a:solidFill>
                <a:srgbClr val="434343"/>
              </a:solidFill>
              <a:latin typeface="Roboto Medium"/>
              <a:ea typeface="Roboto Medium"/>
              <a:cs typeface="Roboto Medium"/>
              <a:sym typeface="Roboto Medium"/>
            </a:endParaRPr>
          </a:p>
        </p:txBody>
      </p:sp>
      <p:sp>
        <p:nvSpPr>
          <p:cNvPr id="97" name="Google Shape;97;p20"/>
          <p:cNvSpPr txBox="1"/>
          <p:nvPr>
            <p:ph idx="4294967295" type="body"/>
          </p:nvPr>
        </p:nvSpPr>
        <p:spPr>
          <a:xfrm>
            <a:off x="671425" y="1152475"/>
            <a:ext cx="7167000" cy="3416400"/>
          </a:xfrm>
          <a:prstGeom prst="rect">
            <a:avLst/>
          </a:prstGeom>
        </p:spPr>
        <p:txBody>
          <a:bodyPr anchorCtr="0" anchor="t" bIns="91425" lIns="91425" spcFirstLastPara="1" rIns="91425" wrap="square" tIns="91425">
            <a:noAutofit/>
          </a:bodyPr>
          <a:lstStyle/>
          <a:p>
            <a:pPr indent="0" lvl="0" marL="0" rtl="0" algn="l">
              <a:spcBef>
                <a:spcPts val="1200"/>
              </a:spcBef>
              <a:spcAft>
                <a:spcPts val="0"/>
              </a:spcAft>
              <a:buClr>
                <a:schemeClr val="dk1"/>
              </a:buClr>
              <a:buSzPts val="1100"/>
              <a:buFont typeface="Arial"/>
              <a:buNone/>
            </a:pPr>
            <a:r>
              <a:rPr i="1" lang="en-GB" sz="1400">
                <a:solidFill>
                  <a:srgbClr val="434343"/>
                </a:solidFill>
                <a:latin typeface="Roboto"/>
                <a:ea typeface="Roboto"/>
                <a:cs typeface="Roboto"/>
                <a:sym typeface="Roboto"/>
              </a:rPr>
              <a:t>Neither is superior — both are tools with distinct strengths.</a:t>
            </a:r>
            <a:r>
              <a:rPr lang="en-GB" sz="1400">
                <a:solidFill>
                  <a:srgbClr val="434343"/>
                </a:solidFill>
                <a:latin typeface="Roboto"/>
                <a:ea typeface="Roboto"/>
                <a:cs typeface="Roboto"/>
                <a:sym typeface="Roboto"/>
              </a:rPr>
              <a:t> </a:t>
            </a:r>
            <a:br>
              <a:rPr lang="en-GB" sz="1400">
                <a:solidFill>
                  <a:srgbClr val="434343"/>
                </a:solidFill>
                <a:latin typeface="Roboto"/>
                <a:ea typeface="Roboto"/>
                <a:cs typeface="Roboto"/>
                <a:sym typeface="Roboto"/>
              </a:rPr>
            </a:br>
            <a:r>
              <a:rPr i="1" lang="en-GB" sz="1400">
                <a:solidFill>
                  <a:srgbClr val="434343"/>
                </a:solidFill>
                <a:latin typeface="Roboto"/>
                <a:ea typeface="Roboto"/>
                <a:cs typeface="Roboto"/>
                <a:sym typeface="Roboto"/>
              </a:rPr>
              <a:t>GUI offers accessibility. </a:t>
            </a:r>
            <a:br>
              <a:rPr i="1" lang="en-GB" sz="1400">
                <a:solidFill>
                  <a:srgbClr val="434343"/>
                </a:solidFill>
                <a:latin typeface="Roboto"/>
                <a:ea typeface="Roboto"/>
                <a:cs typeface="Roboto"/>
                <a:sym typeface="Roboto"/>
              </a:rPr>
            </a:br>
            <a:r>
              <a:rPr i="1" lang="en-GB" sz="1400">
                <a:solidFill>
                  <a:srgbClr val="434343"/>
                </a:solidFill>
                <a:latin typeface="Roboto"/>
                <a:ea typeface="Roboto"/>
                <a:cs typeface="Roboto"/>
                <a:sym typeface="Roboto"/>
              </a:rPr>
              <a:t>Terminal offers control and speed.</a:t>
            </a:r>
            <a:r>
              <a:rPr lang="en-GB" sz="1400">
                <a:solidFill>
                  <a:srgbClr val="434343"/>
                </a:solidFill>
                <a:latin typeface="Roboto"/>
                <a:ea typeface="Roboto"/>
                <a:cs typeface="Roboto"/>
                <a:sym typeface="Roboto"/>
              </a:rPr>
              <a:t> </a:t>
            </a:r>
            <a:br>
              <a:rPr lang="en-GB" sz="1400">
                <a:solidFill>
                  <a:srgbClr val="434343"/>
                </a:solidFill>
                <a:latin typeface="Roboto"/>
                <a:ea typeface="Roboto"/>
                <a:cs typeface="Roboto"/>
                <a:sym typeface="Roboto"/>
              </a:rPr>
            </a:br>
            <a:r>
              <a:rPr i="1" lang="en-GB" sz="1400">
                <a:solidFill>
                  <a:srgbClr val="434343"/>
                </a:solidFill>
                <a:latin typeface="Roboto"/>
                <a:ea typeface="Roboto"/>
                <a:cs typeface="Roboto"/>
                <a:sym typeface="Roboto"/>
              </a:rPr>
              <a:t>A capable professional knows when to use each.</a:t>
            </a:r>
            <a:endParaRPr i="1" sz="1400">
              <a:solidFill>
                <a:srgbClr val="434343"/>
              </a:solidFill>
              <a:latin typeface="Roboto"/>
              <a:ea typeface="Roboto"/>
              <a:cs typeface="Roboto"/>
              <a:sym typeface="Roboto"/>
            </a:endParaRPr>
          </a:p>
          <a:p>
            <a:pPr indent="-317500" lvl="0" marL="457200" rtl="0" algn="l">
              <a:spcBef>
                <a:spcPts val="1200"/>
              </a:spcBef>
              <a:spcAft>
                <a:spcPts val="0"/>
              </a:spcAft>
              <a:buClr>
                <a:srgbClr val="434343"/>
              </a:buClr>
              <a:buSzPts val="1400"/>
              <a:buFont typeface="Roboto"/>
              <a:buChar char="●"/>
            </a:pPr>
            <a:r>
              <a:rPr lang="en-GB" sz="1400">
                <a:solidFill>
                  <a:srgbClr val="434343"/>
                </a:solidFill>
                <a:latin typeface="Roboto"/>
                <a:ea typeface="Roboto"/>
                <a:cs typeface="Roboto"/>
                <a:sym typeface="Roboto"/>
              </a:rPr>
              <a:t>GUI: visual and accessible</a:t>
            </a:r>
            <a:endParaRPr sz="1400">
              <a:solidFill>
                <a:srgbClr val="434343"/>
              </a:solidFill>
              <a:latin typeface="Roboto"/>
              <a:ea typeface="Roboto"/>
              <a:cs typeface="Roboto"/>
              <a:sym typeface="Roboto"/>
            </a:endParaRPr>
          </a:p>
          <a:p>
            <a:pPr indent="-317500" lvl="0" marL="457200" rtl="0" algn="l">
              <a:spcBef>
                <a:spcPts val="0"/>
              </a:spcBef>
              <a:spcAft>
                <a:spcPts val="0"/>
              </a:spcAft>
              <a:buClr>
                <a:srgbClr val="434343"/>
              </a:buClr>
              <a:buSzPts val="1400"/>
              <a:buFont typeface="Roboto"/>
              <a:buChar char="●"/>
            </a:pPr>
            <a:r>
              <a:rPr lang="en-GB" sz="1400">
                <a:solidFill>
                  <a:srgbClr val="434343"/>
                </a:solidFill>
                <a:latin typeface="Roboto"/>
                <a:ea typeface="Roboto"/>
                <a:cs typeface="Roboto"/>
                <a:sym typeface="Roboto"/>
              </a:rPr>
              <a:t>Terminal: precise and powerful</a:t>
            </a:r>
            <a:endParaRPr sz="1400">
              <a:solidFill>
                <a:srgbClr val="434343"/>
              </a:solidFill>
              <a:latin typeface="Roboto"/>
              <a:ea typeface="Roboto"/>
              <a:cs typeface="Roboto"/>
              <a:sym typeface="Roboto"/>
            </a:endParaRPr>
          </a:p>
          <a:p>
            <a:pPr indent="-317500" lvl="0" marL="457200" rtl="0" algn="l">
              <a:spcBef>
                <a:spcPts val="0"/>
              </a:spcBef>
              <a:spcAft>
                <a:spcPts val="0"/>
              </a:spcAft>
              <a:buClr>
                <a:srgbClr val="434343"/>
              </a:buClr>
              <a:buSzPts val="1400"/>
              <a:buFont typeface="Roboto"/>
              <a:buChar char="●"/>
            </a:pPr>
            <a:r>
              <a:rPr lang="en-GB" sz="1400">
                <a:solidFill>
                  <a:srgbClr val="434343"/>
                </a:solidFill>
                <a:latin typeface="Roboto"/>
                <a:ea typeface="Roboto"/>
                <a:cs typeface="Roboto"/>
                <a:sym typeface="Roboto"/>
              </a:rPr>
              <a:t>GUI simplifies complexity</a:t>
            </a:r>
            <a:endParaRPr sz="1400">
              <a:solidFill>
                <a:srgbClr val="434343"/>
              </a:solidFill>
              <a:latin typeface="Roboto"/>
              <a:ea typeface="Roboto"/>
              <a:cs typeface="Roboto"/>
              <a:sym typeface="Roboto"/>
            </a:endParaRPr>
          </a:p>
          <a:p>
            <a:pPr indent="-317500" lvl="0" marL="457200" rtl="0" algn="l">
              <a:spcBef>
                <a:spcPts val="0"/>
              </a:spcBef>
              <a:spcAft>
                <a:spcPts val="0"/>
              </a:spcAft>
              <a:buClr>
                <a:srgbClr val="434343"/>
              </a:buClr>
              <a:buSzPts val="1400"/>
              <a:buFont typeface="Roboto"/>
              <a:buChar char="●"/>
            </a:pPr>
            <a:r>
              <a:rPr lang="en-GB" sz="1400">
                <a:solidFill>
                  <a:srgbClr val="434343"/>
                </a:solidFill>
                <a:latin typeface="Roboto"/>
                <a:ea typeface="Roboto"/>
                <a:cs typeface="Roboto"/>
                <a:sym typeface="Roboto"/>
              </a:rPr>
              <a:t>Terminal exposes full control</a:t>
            </a:r>
            <a:endParaRPr sz="1400">
              <a:solidFill>
                <a:srgbClr val="434343"/>
              </a:solidFill>
              <a:latin typeface="Roboto"/>
              <a:ea typeface="Roboto"/>
              <a:cs typeface="Roboto"/>
              <a:sym typeface="Roboto"/>
            </a:endParaRPr>
          </a:p>
          <a:p>
            <a:pPr indent="-317500" lvl="0" marL="457200" rtl="0" algn="l">
              <a:spcBef>
                <a:spcPts val="0"/>
              </a:spcBef>
              <a:spcAft>
                <a:spcPts val="0"/>
              </a:spcAft>
              <a:buClr>
                <a:srgbClr val="434343"/>
              </a:buClr>
              <a:buSzPts val="1400"/>
              <a:buFont typeface="Roboto"/>
              <a:buChar char="●"/>
            </a:pPr>
            <a:r>
              <a:rPr lang="en-GB" sz="1400">
                <a:solidFill>
                  <a:srgbClr val="434343"/>
                </a:solidFill>
                <a:latin typeface="Roboto"/>
                <a:ea typeface="Roboto"/>
                <a:cs typeface="Roboto"/>
                <a:sym typeface="Roboto"/>
              </a:rPr>
              <a:t>Knowing both is a real advantage</a:t>
            </a:r>
            <a:endParaRPr sz="1400">
              <a:solidFill>
                <a:srgbClr val="434343"/>
              </a:solidFill>
              <a:latin typeface="Roboto"/>
              <a:ea typeface="Roboto"/>
              <a:cs typeface="Roboto"/>
              <a:sym typeface="Roboto"/>
            </a:endParaRPr>
          </a:p>
          <a:p>
            <a:pPr indent="0" lvl="0" marL="0" rtl="0" algn="l">
              <a:spcBef>
                <a:spcPts val="1200"/>
              </a:spcBef>
              <a:spcAft>
                <a:spcPts val="1200"/>
              </a:spcAft>
              <a:buNone/>
            </a:pPr>
            <a:r>
              <a:t/>
            </a:r>
            <a:endParaRPr i="1" sz="1400">
              <a:solidFill>
                <a:schemeClr val="dk1"/>
              </a:solidFill>
              <a:latin typeface="Roboto"/>
              <a:ea typeface="Roboto"/>
              <a:cs typeface="Roboto"/>
              <a:sym typeface="Roboto"/>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21"/>
          <p:cNvSpPr txBox="1"/>
          <p:nvPr>
            <p:ph type="title"/>
          </p:nvPr>
        </p:nvSpPr>
        <p:spPr>
          <a:xfrm>
            <a:off x="671500" y="445025"/>
            <a:ext cx="81609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6"/>
              <a:buFont typeface="Arial"/>
              <a:buNone/>
            </a:pPr>
            <a:r>
              <a:rPr lang="en-GB">
                <a:solidFill>
                  <a:srgbClr val="434343"/>
                </a:solidFill>
                <a:latin typeface="Roboto Medium"/>
                <a:ea typeface="Roboto Medium"/>
                <a:cs typeface="Roboto Medium"/>
                <a:sym typeface="Roboto Medium"/>
              </a:rPr>
              <a:t>Shortcuts That Save Hours </a:t>
            </a:r>
            <a:endParaRPr>
              <a:solidFill>
                <a:srgbClr val="434343"/>
              </a:solidFill>
              <a:latin typeface="Roboto Medium"/>
              <a:ea typeface="Roboto Medium"/>
              <a:cs typeface="Roboto Medium"/>
              <a:sym typeface="Roboto Medium"/>
            </a:endParaRPr>
          </a:p>
          <a:p>
            <a:pPr indent="0" lvl="0" marL="0" rtl="0" algn="l">
              <a:spcBef>
                <a:spcPts val="0"/>
              </a:spcBef>
              <a:spcAft>
                <a:spcPts val="0"/>
              </a:spcAft>
              <a:buClr>
                <a:schemeClr val="dk1"/>
              </a:buClr>
              <a:buSzPct val="39286"/>
              <a:buFont typeface="Arial"/>
              <a:buNone/>
            </a:pPr>
            <a:r>
              <a:t/>
            </a:r>
            <a:endParaRPr>
              <a:solidFill>
                <a:srgbClr val="434343"/>
              </a:solidFill>
              <a:latin typeface="Roboto Medium"/>
              <a:ea typeface="Roboto Medium"/>
              <a:cs typeface="Roboto Medium"/>
              <a:sym typeface="Roboto Medium"/>
            </a:endParaRPr>
          </a:p>
          <a:p>
            <a:pPr indent="0" lvl="0" marL="0" rtl="0" algn="l">
              <a:spcBef>
                <a:spcPts val="0"/>
              </a:spcBef>
              <a:spcAft>
                <a:spcPts val="0"/>
              </a:spcAft>
              <a:buNone/>
            </a:pPr>
            <a:r>
              <a:t/>
            </a:r>
            <a:endParaRPr>
              <a:solidFill>
                <a:srgbClr val="434343"/>
              </a:solidFill>
              <a:latin typeface="Roboto Medium"/>
              <a:ea typeface="Roboto Medium"/>
              <a:cs typeface="Roboto Medium"/>
              <a:sym typeface="Roboto Medium"/>
            </a:endParaRPr>
          </a:p>
        </p:txBody>
      </p:sp>
      <p:sp>
        <p:nvSpPr>
          <p:cNvPr id="103" name="Google Shape;103;p21"/>
          <p:cNvSpPr txBox="1"/>
          <p:nvPr>
            <p:ph idx="4294967295" type="body"/>
          </p:nvPr>
        </p:nvSpPr>
        <p:spPr>
          <a:xfrm>
            <a:off x="671425" y="1152475"/>
            <a:ext cx="7167000" cy="3416400"/>
          </a:xfrm>
          <a:prstGeom prst="rect">
            <a:avLst/>
          </a:prstGeom>
        </p:spPr>
        <p:txBody>
          <a:bodyPr anchorCtr="0" anchor="t" bIns="91425" lIns="91425" spcFirstLastPara="1" rIns="91425" wrap="square" tIns="91425">
            <a:noAutofit/>
          </a:bodyPr>
          <a:lstStyle/>
          <a:p>
            <a:pPr indent="0" lvl="0" marL="0" rtl="0" algn="l">
              <a:spcBef>
                <a:spcPts val="1200"/>
              </a:spcBef>
              <a:spcAft>
                <a:spcPts val="0"/>
              </a:spcAft>
              <a:buClr>
                <a:schemeClr val="dk1"/>
              </a:buClr>
              <a:buSzPts val="1100"/>
              <a:buFont typeface="Arial"/>
              <a:buNone/>
            </a:pPr>
            <a:r>
              <a:rPr i="1" lang="en-GB" sz="1400">
                <a:solidFill>
                  <a:srgbClr val="434343"/>
                </a:solidFill>
                <a:latin typeface="Roboto"/>
                <a:ea typeface="Roboto"/>
                <a:cs typeface="Roboto"/>
                <a:sym typeface="Roboto"/>
              </a:rPr>
              <a:t>Keyboard shortcuts are not a minor detail.</a:t>
            </a:r>
            <a:r>
              <a:rPr lang="en-GB" sz="1400">
                <a:solidFill>
                  <a:srgbClr val="434343"/>
                </a:solidFill>
                <a:latin typeface="Roboto"/>
                <a:ea typeface="Roboto"/>
                <a:cs typeface="Roboto"/>
                <a:sym typeface="Roboto"/>
              </a:rPr>
              <a:t> </a:t>
            </a:r>
            <a:br>
              <a:rPr lang="en-GB" sz="1400">
                <a:solidFill>
                  <a:srgbClr val="434343"/>
                </a:solidFill>
                <a:latin typeface="Roboto"/>
                <a:ea typeface="Roboto"/>
                <a:cs typeface="Roboto"/>
                <a:sym typeface="Roboto"/>
              </a:rPr>
            </a:br>
            <a:r>
              <a:rPr i="1" lang="en-GB" sz="1400">
                <a:solidFill>
                  <a:srgbClr val="434343"/>
                </a:solidFill>
                <a:latin typeface="Roboto"/>
                <a:ea typeface="Roboto"/>
                <a:cs typeface="Roboto"/>
                <a:sym typeface="Roboto"/>
              </a:rPr>
              <a:t>Across a career, the time saved through shortcuts adds up to weeks.</a:t>
            </a:r>
            <a:r>
              <a:rPr lang="en-GB" sz="1400">
                <a:solidFill>
                  <a:srgbClr val="434343"/>
                </a:solidFill>
                <a:latin typeface="Roboto"/>
                <a:ea typeface="Roboto"/>
                <a:cs typeface="Roboto"/>
                <a:sym typeface="Roboto"/>
              </a:rPr>
              <a:t> </a:t>
            </a:r>
            <a:br>
              <a:rPr lang="en-GB" sz="1400">
                <a:solidFill>
                  <a:srgbClr val="434343"/>
                </a:solidFill>
                <a:latin typeface="Roboto"/>
                <a:ea typeface="Roboto"/>
                <a:cs typeface="Roboto"/>
                <a:sym typeface="Roboto"/>
              </a:rPr>
            </a:br>
            <a:r>
              <a:rPr i="1" lang="en-GB" sz="1400">
                <a:solidFill>
                  <a:srgbClr val="434343"/>
                </a:solidFill>
                <a:latin typeface="Roboto"/>
                <a:ea typeface="Roboto"/>
                <a:cs typeface="Roboto"/>
                <a:sym typeface="Roboto"/>
              </a:rPr>
              <a:t>The earlier the habit is built, the more natural it becomes.</a:t>
            </a:r>
            <a:endParaRPr i="1" sz="1400">
              <a:solidFill>
                <a:srgbClr val="434343"/>
              </a:solidFill>
              <a:latin typeface="Roboto"/>
              <a:ea typeface="Roboto"/>
              <a:cs typeface="Roboto"/>
              <a:sym typeface="Roboto"/>
            </a:endParaRPr>
          </a:p>
          <a:p>
            <a:pPr indent="-317500" lvl="0" marL="457200" rtl="0" algn="l">
              <a:spcBef>
                <a:spcPts val="1200"/>
              </a:spcBef>
              <a:spcAft>
                <a:spcPts val="0"/>
              </a:spcAft>
              <a:buClr>
                <a:srgbClr val="434343"/>
              </a:buClr>
              <a:buSzPts val="1400"/>
              <a:buFont typeface="Roboto"/>
              <a:buChar char="●"/>
            </a:pPr>
            <a:r>
              <a:rPr lang="en-GB" sz="1400">
                <a:solidFill>
                  <a:srgbClr val="434343"/>
                </a:solidFill>
                <a:latin typeface="Roboto"/>
                <a:ea typeface="Roboto"/>
                <a:cs typeface="Roboto"/>
                <a:sym typeface="Roboto"/>
              </a:rPr>
              <a:t>Less time on repetitive actions</a:t>
            </a:r>
            <a:endParaRPr sz="1400">
              <a:solidFill>
                <a:srgbClr val="434343"/>
              </a:solidFill>
              <a:latin typeface="Roboto"/>
              <a:ea typeface="Roboto"/>
              <a:cs typeface="Roboto"/>
              <a:sym typeface="Roboto"/>
            </a:endParaRPr>
          </a:p>
          <a:p>
            <a:pPr indent="-317500" lvl="0" marL="457200" rtl="0" algn="l">
              <a:spcBef>
                <a:spcPts val="0"/>
              </a:spcBef>
              <a:spcAft>
                <a:spcPts val="0"/>
              </a:spcAft>
              <a:buClr>
                <a:srgbClr val="434343"/>
              </a:buClr>
              <a:buSzPts val="1400"/>
              <a:buFont typeface="Roboto"/>
              <a:buChar char="●"/>
            </a:pPr>
            <a:r>
              <a:rPr lang="en-GB" sz="1400">
                <a:solidFill>
                  <a:srgbClr val="434343"/>
                </a:solidFill>
                <a:latin typeface="Roboto"/>
                <a:ea typeface="Roboto"/>
                <a:cs typeface="Roboto"/>
                <a:sym typeface="Roboto"/>
              </a:rPr>
              <a:t>More focus on actual thinking</a:t>
            </a:r>
            <a:endParaRPr sz="1400">
              <a:solidFill>
                <a:srgbClr val="434343"/>
              </a:solidFill>
              <a:latin typeface="Roboto"/>
              <a:ea typeface="Roboto"/>
              <a:cs typeface="Roboto"/>
              <a:sym typeface="Roboto"/>
            </a:endParaRPr>
          </a:p>
          <a:p>
            <a:pPr indent="-317500" lvl="0" marL="457200" rtl="0" algn="l">
              <a:spcBef>
                <a:spcPts val="0"/>
              </a:spcBef>
              <a:spcAft>
                <a:spcPts val="0"/>
              </a:spcAft>
              <a:buClr>
                <a:srgbClr val="434343"/>
              </a:buClr>
              <a:buSzPts val="1400"/>
              <a:buFont typeface="Roboto"/>
              <a:buChar char="●"/>
            </a:pPr>
            <a:r>
              <a:rPr lang="en-GB" sz="1400">
                <a:solidFill>
                  <a:srgbClr val="434343"/>
                </a:solidFill>
                <a:latin typeface="Roboto"/>
                <a:ea typeface="Roboto"/>
                <a:cs typeface="Roboto"/>
                <a:sym typeface="Roboto"/>
              </a:rPr>
              <a:t>Used daily by professionals</a:t>
            </a:r>
            <a:endParaRPr sz="1400">
              <a:solidFill>
                <a:srgbClr val="434343"/>
              </a:solidFill>
              <a:latin typeface="Roboto"/>
              <a:ea typeface="Roboto"/>
              <a:cs typeface="Roboto"/>
              <a:sym typeface="Roboto"/>
            </a:endParaRPr>
          </a:p>
          <a:p>
            <a:pPr indent="-317500" lvl="0" marL="457200" rtl="0" algn="l">
              <a:spcBef>
                <a:spcPts val="0"/>
              </a:spcBef>
              <a:spcAft>
                <a:spcPts val="0"/>
              </a:spcAft>
              <a:buClr>
                <a:srgbClr val="434343"/>
              </a:buClr>
              <a:buSzPts val="1400"/>
              <a:buFont typeface="Roboto"/>
              <a:buChar char="●"/>
            </a:pPr>
            <a:r>
              <a:rPr lang="en-GB" sz="1400">
                <a:solidFill>
                  <a:srgbClr val="434343"/>
                </a:solidFill>
                <a:latin typeface="Roboto"/>
                <a:ea typeface="Roboto"/>
                <a:cs typeface="Roboto"/>
                <a:sym typeface="Roboto"/>
              </a:rPr>
              <a:t>Speed is a learnable habit</a:t>
            </a:r>
            <a:endParaRPr sz="1400">
              <a:solidFill>
                <a:srgbClr val="434343"/>
              </a:solidFill>
              <a:latin typeface="Roboto"/>
              <a:ea typeface="Roboto"/>
              <a:cs typeface="Roboto"/>
              <a:sym typeface="Roboto"/>
            </a:endParaRPr>
          </a:p>
          <a:p>
            <a:pPr indent="-317500" lvl="0" marL="457200" rtl="0" algn="l">
              <a:spcBef>
                <a:spcPts val="0"/>
              </a:spcBef>
              <a:spcAft>
                <a:spcPts val="0"/>
              </a:spcAft>
              <a:buClr>
                <a:srgbClr val="434343"/>
              </a:buClr>
              <a:buSzPts val="1400"/>
              <a:buFont typeface="Roboto"/>
              <a:buChar char="●"/>
            </a:pPr>
            <a:r>
              <a:rPr lang="en-GB" sz="1400">
                <a:solidFill>
                  <a:srgbClr val="434343"/>
                </a:solidFill>
                <a:latin typeface="Roboto"/>
                <a:ea typeface="Roboto"/>
                <a:cs typeface="Roboto"/>
                <a:sym typeface="Roboto"/>
              </a:rPr>
              <a:t>The time to start is now</a:t>
            </a:r>
            <a:endParaRPr sz="1400">
              <a:solidFill>
                <a:srgbClr val="434343"/>
              </a:solidFill>
              <a:latin typeface="Roboto"/>
              <a:ea typeface="Roboto"/>
              <a:cs typeface="Roboto"/>
              <a:sym typeface="Roboto"/>
            </a:endParaRPr>
          </a:p>
          <a:p>
            <a:pPr indent="0" lvl="0" marL="0" rtl="0" algn="l">
              <a:spcBef>
                <a:spcPts val="1200"/>
              </a:spcBef>
              <a:spcAft>
                <a:spcPts val="1200"/>
              </a:spcAft>
              <a:buNone/>
            </a:pPr>
            <a:r>
              <a:t/>
            </a:r>
            <a:endParaRPr i="1" sz="1400">
              <a:solidFill>
                <a:srgbClr val="434343"/>
              </a:solidFill>
              <a:latin typeface="Roboto"/>
              <a:ea typeface="Roboto"/>
              <a:cs typeface="Roboto"/>
              <a:sym typeface="Roboto"/>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22"/>
          <p:cNvSpPr txBox="1"/>
          <p:nvPr>
            <p:ph type="title"/>
          </p:nvPr>
        </p:nvSpPr>
        <p:spPr>
          <a:xfrm>
            <a:off x="671500" y="445025"/>
            <a:ext cx="81609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solidFill>
                  <a:srgbClr val="434343"/>
                </a:solidFill>
                <a:latin typeface="Roboto Medium"/>
                <a:ea typeface="Roboto Medium"/>
                <a:cs typeface="Roboto Medium"/>
                <a:sym typeface="Roboto Medium"/>
              </a:rPr>
              <a:t>Must-Know Shortcuts</a:t>
            </a:r>
            <a:endParaRPr>
              <a:solidFill>
                <a:srgbClr val="434343"/>
              </a:solidFill>
              <a:latin typeface="Roboto Medium"/>
              <a:ea typeface="Roboto Medium"/>
              <a:cs typeface="Roboto Medium"/>
              <a:sym typeface="Roboto Medium"/>
            </a:endParaRPr>
          </a:p>
        </p:txBody>
      </p:sp>
      <p:sp>
        <p:nvSpPr>
          <p:cNvPr id="109" name="Google Shape;109;p22"/>
          <p:cNvSpPr txBox="1"/>
          <p:nvPr>
            <p:ph idx="4294967295" type="body"/>
          </p:nvPr>
        </p:nvSpPr>
        <p:spPr>
          <a:xfrm>
            <a:off x="671425" y="1152475"/>
            <a:ext cx="7167000" cy="3416400"/>
          </a:xfrm>
          <a:prstGeom prst="rect">
            <a:avLst/>
          </a:prstGeom>
        </p:spPr>
        <p:txBody>
          <a:bodyPr anchorCtr="0" anchor="t" bIns="91425" lIns="91425" spcFirstLastPara="1" rIns="91425" wrap="square" tIns="91425">
            <a:noAutofit/>
          </a:bodyPr>
          <a:lstStyle/>
          <a:p>
            <a:pPr indent="0" lvl="0" marL="0" rtl="0" algn="l">
              <a:spcBef>
                <a:spcPts val="1200"/>
              </a:spcBef>
              <a:spcAft>
                <a:spcPts val="0"/>
              </a:spcAft>
              <a:buClr>
                <a:schemeClr val="dk1"/>
              </a:buClr>
              <a:buSzPts val="1100"/>
              <a:buFont typeface="Arial"/>
              <a:buNone/>
            </a:pPr>
            <a:r>
              <a:rPr i="1" lang="en-GB" sz="1400">
                <a:solidFill>
                  <a:schemeClr val="dk1"/>
                </a:solidFill>
                <a:latin typeface="Roboto"/>
                <a:ea typeface="Roboto"/>
                <a:cs typeface="Roboto"/>
                <a:sym typeface="Roboto"/>
              </a:rPr>
              <a:t>These shortcuts work across almost every tool in this program.</a:t>
            </a:r>
            <a:r>
              <a:rPr lang="en-GB" sz="1400">
                <a:solidFill>
                  <a:schemeClr val="dk1"/>
                </a:solidFill>
                <a:latin typeface="Roboto"/>
                <a:ea typeface="Roboto"/>
                <a:cs typeface="Roboto"/>
                <a:sym typeface="Roboto"/>
              </a:rPr>
              <a:t> </a:t>
            </a:r>
            <a:br>
              <a:rPr lang="en-GB" sz="1400">
                <a:solidFill>
                  <a:schemeClr val="dk1"/>
                </a:solidFill>
                <a:latin typeface="Roboto"/>
                <a:ea typeface="Roboto"/>
                <a:cs typeface="Roboto"/>
                <a:sym typeface="Roboto"/>
              </a:rPr>
            </a:br>
            <a:r>
              <a:rPr i="1" lang="en-GB" sz="1400">
                <a:solidFill>
                  <a:schemeClr val="dk1"/>
                </a:solidFill>
                <a:latin typeface="Roboto"/>
                <a:ea typeface="Roboto"/>
                <a:cs typeface="Roboto"/>
                <a:sym typeface="Roboto"/>
              </a:rPr>
              <a:t>They are non-negotiable basics — expected in any professional environment.</a:t>
            </a:r>
            <a:r>
              <a:rPr lang="en-GB" sz="1400">
                <a:solidFill>
                  <a:schemeClr val="dk1"/>
                </a:solidFill>
                <a:latin typeface="Roboto"/>
                <a:ea typeface="Roboto"/>
                <a:cs typeface="Roboto"/>
                <a:sym typeface="Roboto"/>
              </a:rPr>
              <a:t> </a:t>
            </a:r>
            <a:br>
              <a:rPr lang="en-GB" sz="1400">
                <a:solidFill>
                  <a:schemeClr val="dk1"/>
                </a:solidFill>
                <a:latin typeface="Roboto"/>
                <a:ea typeface="Roboto"/>
                <a:cs typeface="Roboto"/>
                <a:sym typeface="Roboto"/>
              </a:rPr>
            </a:br>
            <a:r>
              <a:rPr i="1" lang="en-GB" sz="1400">
                <a:solidFill>
                  <a:schemeClr val="dk1"/>
                </a:solidFill>
                <a:latin typeface="Roboto"/>
                <a:ea typeface="Roboto"/>
                <a:cs typeface="Roboto"/>
                <a:sym typeface="Roboto"/>
              </a:rPr>
              <a:t>Practise until the hands move before the brain decides.</a:t>
            </a:r>
            <a:endParaRPr i="1" sz="1400">
              <a:solidFill>
                <a:schemeClr val="dk1"/>
              </a:solidFill>
              <a:latin typeface="Roboto"/>
              <a:ea typeface="Roboto"/>
              <a:cs typeface="Roboto"/>
              <a:sym typeface="Roboto"/>
            </a:endParaRPr>
          </a:p>
          <a:p>
            <a:pPr indent="-317500" lvl="0" marL="457200" rtl="0" algn="l">
              <a:spcBef>
                <a:spcPts val="1200"/>
              </a:spcBef>
              <a:spcAft>
                <a:spcPts val="0"/>
              </a:spcAft>
              <a:buClr>
                <a:schemeClr val="dk1"/>
              </a:buClr>
              <a:buSzPts val="1400"/>
              <a:buFont typeface="Roboto"/>
              <a:buChar char="●"/>
            </a:pPr>
            <a:r>
              <a:rPr lang="en-GB" sz="1400">
                <a:solidFill>
                  <a:schemeClr val="dk1"/>
                </a:solidFill>
                <a:latin typeface="Roboto"/>
                <a:ea typeface="Roboto"/>
                <a:cs typeface="Roboto"/>
                <a:sym typeface="Roboto"/>
              </a:rPr>
              <a:t>Copy — Ctrl C</a:t>
            </a:r>
            <a:endParaRPr sz="1400">
              <a:solidFill>
                <a:schemeClr val="dk1"/>
              </a:solidFill>
              <a:latin typeface="Roboto"/>
              <a:ea typeface="Roboto"/>
              <a:cs typeface="Roboto"/>
              <a:sym typeface="Roboto"/>
            </a:endParaRPr>
          </a:p>
          <a:p>
            <a:pPr indent="-317500" lvl="0" marL="457200" rtl="0" algn="l">
              <a:spcBef>
                <a:spcPts val="0"/>
              </a:spcBef>
              <a:spcAft>
                <a:spcPts val="0"/>
              </a:spcAft>
              <a:buClr>
                <a:schemeClr val="dk1"/>
              </a:buClr>
              <a:buSzPts val="1400"/>
              <a:buFont typeface="Roboto"/>
              <a:buChar char="●"/>
            </a:pPr>
            <a:r>
              <a:rPr lang="en-GB" sz="1400">
                <a:solidFill>
                  <a:schemeClr val="dk1"/>
                </a:solidFill>
                <a:latin typeface="Roboto"/>
                <a:ea typeface="Roboto"/>
                <a:cs typeface="Roboto"/>
                <a:sym typeface="Roboto"/>
              </a:rPr>
              <a:t>Paste — Ctrl V</a:t>
            </a:r>
            <a:endParaRPr sz="1400">
              <a:solidFill>
                <a:schemeClr val="dk1"/>
              </a:solidFill>
              <a:latin typeface="Roboto"/>
              <a:ea typeface="Roboto"/>
              <a:cs typeface="Roboto"/>
              <a:sym typeface="Roboto"/>
            </a:endParaRPr>
          </a:p>
          <a:p>
            <a:pPr indent="-317500" lvl="0" marL="457200" rtl="0" algn="l">
              <a:spcBef>
                <a:spcPts val="0"/>
              </a:spcBef>
              <a:spcAft>
                <a:spcPts val="0"/>
              </a:spcAft>
              <a:buClr>
                <a:schemeClr val="dk1"/>
              </a:buClr>
              <a:buSzPts val="1400"/>
              <a:buFont typeface="Roboto"/>
              <a:buChar char="●"/>
            </a:pPr>
            <a:r>
              <a:rPr lang="en-GB" sz="1400">
                <a:solidFill>
                  <a:schemeClr val="dk1"/>
                </a:solidFill>
                <a:latin typeface="Roboto"/>
                <a:ea typeface="Roboto"/>
                <a:cs typeface="Roboto"/>
                <a:sym typeface="Roboto"/>
              </a:rPr>
              <a:t>Undo — Ctrl Z</a:t>
            </a:r>
            <a:endParaRPr sz="1400">
              <a:solidFill>
                <a:schemeClr val="dk1"/>
              </a:solidFill>
              <a:latin typeface="Roboto"/>
              <a:ea typeface="Roboto"/>
              <a:cs typeface="Roboto"/>
              <a:sym typeface="Roboto"/>
            </a:endParaRPr>
          </a:p>
          <a:p>
            <a:pPr indent="-317500" lvl="0" marL="457200" rtl="0" algn="l">
              <a:spcBef>
                <a:spcPts val="0"/>
              </a:spcBef>
              <a:spcAft>
                <a:spcPts val="0"/>
              </a:spcAft>
              <a:buClr>
                <a:schemeClr val="dk1"/>
              </a:buClr>
              <a:buSzPts val="1400"/>
              <a:buFont typeface="Roboto"/>
              <a:buChar char="●"/>
            </a:pPr>
            <a:r>
              <a:rPr lang="en-GB" sz="1400">
                <a:solidFill>
                  <a:schemeClr val="dk1"/>
                </a:solidFill>
                <a:latin typeface="Roboto"/>
                <a:ea typeface="Roboto"/>
                <a:cs typeface="Roboto"/>
                <a:sym typeface="Roboto"/>
              </a:rPr>
              <a:t>Save — Ctrl S</a:t>
            </a:r>
            <a:endParaRPr sz="1400">
              <a:solidFill>
                <a:schemeClr val="dk1"/>
              </a:solidFill>
              <a:latin typeface="Roboto"/>
              <a:ea typeface="Roboto"/>
              <a:cs typeface="Roboto"/>
              <a:sym typeface="Roboto"/>
            </a:endParaRPr>
          </a:p>
          <a:p>
            <a:pPr indent="-317500" lvl="0" marL="457200" rtl="0" algn="l">
              <a:spcBef>
                <a:spcPts val="0"/>
              </a:spcBef>
              <a:spcAft>
                <a:spcPts val="0"/>
              </a:spcAft>
              <a:buClr>
                <a:schemeClr val="dk1"/>
              </a:buClr>
              <a:buSzPts val="1400"/>
              <a:buFont typeface="Roboto"/>
              <a:buChar char="●"/>
            </a:pPr>
            <a:r>
              <a:rPr lang="en-GB" sz="1400">
                <a:solidFill>
                  <a:schemeClr val="dk1"/>
                </a:solidFill>
                <a:latin typeface="Roboto"/>
                <a:ea typeface="Roboto"/>
                <a:cs typeface="Roboto"/>
                <a:sym typeface="Roboto"/>
              </a:rPr>
              <a:t>Switch windows — Alt Tab</a:t>
            </a:r>
            <a:endParaRPr sz="1400">
              <a:solidFill>
                <a:schemeClr val="dk1"/>
              </a:solidFill>
              <a:latin typeface="Roboto"/>
              <a:ea typeface="Roboto"/>
              <a:cs typeface="Roboto"/>
              <a:sym typeface="Roboto"/>
            </a:endParaRPr>
          </a:p>
          <a:p>
            <a:pPr indent="0" lvl="0" marL="0" rtl="0" algn="l">
              <a:spcBef>
                <a:spcPts val="1200"/>
              </a:spcBef>
              <a:spcAft>
                <a:spcPts val="1200"/>
              </a:spcAft>
              <a:buNone/>
            </a:pPr>
            <a:r>
              <a:t/>
            </a:r>
            <a:endParaRPr i="1" sz="1400">
              <a:solidFill>
                <a:schemeClr val="dk1"/>
              </a:solidFill>
              <a:latin typeface="Roboto"/>
              <a:ea typeface="Roboto"/>
              <a:cs typeface="Roboto"/>
              <a:sym typeface="Roboto"/>
            </a:endParaRPr>
          </a:p>
        </p:txBody>
      </p:sp>
      <p:pic>
        <p:nvPicPr>
          <p:cNvPr id="110" name="Google Shape;110;p22"/>
          <p:cNvPicPr preferRelativeResize="0"/>
          <p:nvPr/>
        </p:nvPicPr>
        <p:blipFill>
          <a:blip r:embed="rId3">
            <a:alphaModFix/>
          </a:blip>
          <a:stretch>
            <a:fillRect/>
          </a:stretch>
        </p:blipFill>
        <p:spPr>
          <a:xfrm>
            <a:off x="4572006" y="2571750"/>
            <a:ext cx="3186113" cy="153352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23"/>
          <p:cNvSpPr txBox="1"/>
          <p:nvPr>
            <p:ph type="title"/>
          </p:nvPr>
        </p:nvSpPr>
        <p:spPr>
          <a:xfrm>
            <a:off x="671500" y="445025"/>
            <a:ext cx="81609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solidFill>
                  <a:srgbClr val="434343"/>
                </a:solidFill>
                <a:latin typeface="Roboto Medium"/>
                <a:ea typeface="Roboto Medium"/>
                <a:cs typeface="Roboto Medium"/>
                <a:sym typeface="Roboto Medium"/>
              </a:rPr>
              <a:t>Practise Until It's Automatic</a:t>
            </a:r>
            <a:endParaRPr>
              <a:solidFill>
                <a:srgbClr val="434343"/>
              </a:solidFill>
              <a:latin typeface="Roboto Medium"/>
              <a:ea typeface="Roboto Medium"/>
              <a:cs typeface="Roboto Medium"/>
              <a:sym typeface="Roboto Medium"/>
            </a:endParaRPr>
          </a:p>
        </p:txBody>
      </p:sp>
      <p:sp>
        <p:nvSpPr>
          <p:cNvPr id="116" name="Google Shape;116;p23"/>
          <p:cNvSpPr txBox="1"/>
          <p:nvPr/>
        </p:nvSpPr>
        <p:spPr>
          <a:xfrm>
            <a:off x="671500" y="1225500"/>
            <a:ext cx="7167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latin typeface="Roboto"/>
              <a:ea typeface="Roboto"/>
              <a:cs typeface="Roboto"/>
              <a:sym typeface="Roboto"/>
            </a:endParaRPr>
          </a:p>
        </p:txBody>
      </p:sp>
      <p:sp>
        <p:nvSpPr>
          <p:cNvPr id="117" name="Google Shape;117;p23"/>
          <p:cNvSpPr txBox="1"/>
          <p:nvPr>
            <p:ph idx="4294967295" type="body"/>
          </p:nvPr>
        </p:nvSpPr>
        <p:spPr>
          <a:xfrm>
            <a:off x="671425" y="1152475"/>
            <a:ext cx="7167000" cy="3416400"/>
          </a:xfrm>
          <a:prstGeom prst="rect">
            <a:avLst/>
          </a:prstGeom>
        </p:spPr>
        <p:txBody>
          <a:bodyPr anchorCtr="0" anchor="t" bIns="91425" lIns="91425" spcFirstLastPara="1" rIns="91425" wrap="square" tIns="91425">
            <a:noAutofit/>
          </a:bodyPr>
          <a:lstStyle/>
          <a:p>
            <a:pPr indent="0" lvl="0" marL="0" rtl="0" algn="l">
              <a:spcBef>
                <a:spcPts val="1200"/>
              </a:spcBef>
              <a:spcAft>
                <a:spcPts val="0"/>
              </a:spcAft>
              <a:buClr>
                <a:schemeClr val="dk1"/>
              </a:buClr>
              <a:buSzPts val="1100"/>
              <a:buFont typeface="Arial"/>
              <a:buNone/>
            </a:pPr>
            <a:r>
              <a:rPr i="1" lang="en-GB" sz="1400">
                <a:solidFill>
                  <a:srgbClr val="434343"/>
                </a:solidFill>
                <a:latin typeface="Roboto"/>
                <a:ea typeface="Roboto"/>
                <a:cs typeface="Roboto"/>
                <a:sym typeface="Roboto"/>
              </a:rPr>
              <a:t>Knowing a shortcut and using a shortcut are two different things.</a:t>
            </a:r>
            <a:r>
              <a:rPr lang="en-GB" sz="1400">
                <a:solidFill>
                  <a:srgbClr val="434343"/>
                </a:solidFill>
                <a:latin typeface="Roboto"/>
                <a:ea typeface="Roboto"/>
                <a:cs typeface="Roboto"/>
                <a:sym typeface="Roboto"/>
              </a:rPr>
              <a:t> </a:t>
            </a:r>
            <a:br>
              <a:rPr lang="en-GB" sz="1400">
                <a:solidFill>
                  <a:srgbClr val="434343"/>
                </a:solidFill>
                <a:latin typeface="Roboto"/>
                <a:ea typeface="Roboto"/>
                <a:cs typeface="Roboto"/>
                <a:sym typeface="Roboto"/>
              </a:rPr>
            </a:br>
            <a:r>
              <a:rPr i="1" lang="en-GB" sz="1400">
                <a:solidFill>
                  <a:srgbClr val="434343"/>
                </a:solidFill>
                <a:latin typeface="Roboto"/>
                <a:ea typeface="Roboto"/>
                <a:cs typeface="Roboto"/>
                <a:sym typeface="Roboto"/>
              </a:rPr>
              <a:t>The goal is automaticity — action without deliberate thought.</a:t>
            </a:r>
            <a:r>
              <a:rPr lang="en-GB" sz="1400">
                <a:solidFill>
                  <a:srgbClr val="434343"/>
                </a:solidFill>
                <a:latin typeface="Roboto"/>
                <a:ea typeface="Roboto"/>
                <a:cs typeface="Roboto"/>
                <a:sym typeface="Roboto"/>
              </a:rPr>
              <a:t> </a:t>
            </a:r>
            <a:br>
              <a:rPr lang="en-GB" sz="1400">
                <a:solidFill>
                  <a:srgbClr val="434343"/>
                </a:solidFill>
                <a:latin typeface="Roboto"/>
                <a:ea typeface="Roboto"/>
                <a:cs typeface="Roboto"/>
                <a:sym typeface="Roboto"/>
              </a:rPr>
            </a:br>
            <a:r>
              <a:rPr i="1" lang="en-GB" sz="1400">
                <a:solidFill>
                  <a:srgbClr val="434343"/>
                </a:solidFill>
                <a:latin typeface="Roboto"/>
                <a:ea typeface="Roboto"/>
                <a:cs typeface="Roboto"/>
                <a:sym typeface="Roboto"/>
              </a:rPr>
              <a:t>That level only comes through daily, consistent repetition.</a:t>
            </a:r>
            <a:endParaRPr i="1" sz="1400">
              <a:solidFill>
                <a:srgbClr val="434343"/>
              </a:solidFill>
              <a:latin typeface="Roboto"/>
              <a:ea typeface="Roboto"/>
              <a:cs typeface="Roboto"/>
              <a:sym typeface="Roboto"/>
            </a:endParaRPr>
          </a:p>
          <a:p>
            <a:pPr indent="-317500" lvl="0" marL="457200" rtl="0" algn="l">
              <a:spcBef>
                <a:spcPts val="1200"/>
              </a:spcBef>
              <a:spcAft>
                <a:spcPts val="0"/>
              </a:spcAft>
              <a:buClr>
                <a:srgbClr val="434343"/>
              </a:buClr>
              <a:buSzPts val="1400"/>
              <a:buFont typeface="Roboto"/>
              <a:buChar char="●"/>
            </a:pPr>
            <a:r>
              <a:rPr lang="en-GB" sz="1400">
                <a:solidFill>
                  <a:srgbClr val="434343"/>
                </a:solidFill>
                <a:latin typeface="Roboto"/>
                <a:ea typeface="Roboto"/>
                <a:cs typeface="Roboto"/>
                <a:sym typeface="Roboto"/>
              </a:rPr>
              <a:t>Replace slow manual habits</a:t>
            </a:r>
            <a:endParaRPr sz="1400">
              <a:solidFill>
                <a:srgbClr val="434343"/>
              </a:solidFill>
              <a:latin typeface="Roboto"/>
              <a:ea typeface="Roboto"/>
              <a:cs typeface="Roboto"/>
              <a:sym typeface="Roboto"/>
            </a:endParaRPr>
          </a:p>
          <a:p>
            <a:pPr indent="-317500" lvl="0" marL="457200" rtl="0" algn="l">
              <a:spcBef>
                <a:spcPts val="0"/>
              </a:spcBef>
              <a:spcAft>
                <a:spcPts val="0"/>
              </a:spcAft>
              <a:buClr>
                <a:srgbClr val="434343"/>
              </a:buClr>
              <a:buSzPts val="1400"/>
              <a:buFont typeface="Roboto"/>
              <a:buChar char="●"/>
            </a:pPr>
            <a:r>
              <a:rPr lang="en-GB" sz="1400">
                <a:solidFill>
                  <a:srgbClr val="434343"/>
                </a:solidFill>
                <a:latin typeface="Roboto"/>
                <a:ea typeface="Roboto"/>
                <a:cs typeface="Roboto"/>
                <a:sym typeface="Roboto"/>
              </a:rPr>
              <a:t>Repeat every single day</a:t>
            </a:r>
            <a:endParaRPr sz="1400">
              <a:solidFill>
                <a:srgbClr val="434343"/>
              </a:solidFill>
              <a:latin typeface="Roboto"/>
              <a:ea typeface="Roboto"/>
              <a:cs typeface="Roboto"/>
              <a:sym typeface="Roboto"/>
            </a:endParaRPr>
          </a:p>
          <a:p>
            <a:pPr indent="-317500" lvl="0" marL="457200" rtl="0" algn="l">
              <a:spcBef>
                <a:spcPts val="0"/>
              </a:spcBef>
              <a:spcAft>
                <a:spcPts val="0"/>
              </a:spcAft>
              <a:buClr>
                <a:srgbClr val="434343"/>
              </a:buClr>
              <a:buSzPts val="1400"/>
              <a:buFont typeface="Roboto"/>
              <a:buChar char="●"/>
            </a:pPr>
            <a:r>
              <a:rPr lang="en-GB" sz="1400">
                <a:solidFill>
                  <a:srgbClr val="434343"/>
                </a:solidFill>
                <a:latin typeface="Roboto"/>
                <a:ea typeface="Roboto"/>
                <a:cs typeface="Roboto"/>
                <a:sym typeface="Roboto"/>
              </a:rPr>
              <a:t>Apply them immediately today</a:t>
            </a:r>
            <a:endParaRPr sz="1400">
              <a:solidFill>
                <a:srgbClr val="434343"/>
              </a:solidFill>
              <a:latin typeface="Roboto"/>
              <a:ea typeface="Roboto"/>
              <a:cs typeface="Roboto"/>
              <a:sym typeface="Roboto"/>
            </a:endParaRPr>
          </a:p>
          <a:p>
            <a:pPr indent="-317500" lvl="0" marL="457200" rtl="0" algn="l">
              <a:spcBef>
                <a:spcPts val="0"/>
              </a:spcBef>
              <a:spcAft>
                <a:spcPts val="0"/>
              </a:spcAft>
              <a:buClr>
                <a:srgbClr val="434343"/>
              </a:buClr>
              <a:buSzPts val="1400"/>
              <a:buFont typeface="Roboto"/>
              <a:buChar char="●"/>
            </a:pPr>
            <a:r>
              <a:rPr lang="en-GB" sz="1400">
                <a:solidFill>
                  <a:srgbClr val="434343"/>
                </a:solidFill>
                <a:latin typeface="Roboto"/>
                <a:ea typeface="Roboto"/>
                <a:cs typeface="Roboto"/>
                <a:sym typeface="Roboto"/>
              </a:rPr>
              <a:t>Fluency takes about one week</a:t>
            </a:r>
            <a:endParaRPr sz="1400">
              <a:solidFill>
                <a:srgbClr val="434343"/>
              </a:solidFill>
              <a:latin typeface="Roboto"/>
              <a:ea typeface="Roboto"/>
              <a:cs typeface="Roboto"/>
              <a:sym typeface="Roboto"/>
            </a:endParaRPr>
          </a:p>
          <a:p>
            <a:pPr indent="-317500" lvl="0" marL="457200" rtl="0" algn="l">
              <a:spcBef>
                <a:spcPts val="0"/>
              </a:spcBef>
              <a:spcAft>
                <a:spcPts val="0"/>
              </a:spcAft>
              <a:buClr>
                <a:srgbClr val="434343"/>
              </a:buClr>
              <a:buSzPts val="1400"/>
              <a:buFont typeface="Roboto"/>
              <a:buChar char="●"/>
            </a:pPr>
            <a:r>
              <a:rPr lang="en-GB" sz="1400">
                <a:solidFill>
                  <a:srgbClr val="434343"/>
                </a:solidFill>
                <a:latin typeface="Roboto"/>
                <a:ea typeface="Roboto"/>
                <a:cs typeface="Roboto"/>
                <a:sym typeface="Roboto"/>
              </a:rPr>
              <a:t>Then it becomes permanent</a:t>
            </a:r>
            <a:endParaRPr sz="1400">
              <a:solidFill>
                <a:srgbClr val="434343"/>
              </a:solidFill>
              <a:latin typeface="Roboto"/>
              <a:ea typeface="Roboto"/>
              <a:cs typeface="Roboto"/>
              <a:sym typeface="Roboto"/>
            </a:endParaRPr>
          </a:p>
          <a:p>
            <a:pPr indent="0" lvl="0" marL="0" rtl="0" algn="l">
              <a:spcBef>
                <a:spcPts val="1200"/>
              </a:spcBef>
              <a:spcAft>
                <a:spcPts val="1200"/>
              </a:spcAft>
              <a:buNone/>
            </a:pPr>
            <a:r>
              <a:t/>
            </a:r>
            <a:endParaRPr i="1" sz="1400">
              <a:solidFill>
                <a:schemeClr val="dk1"/>
              </a:solidFill>
              <a:latin typeface="Roboto"/>
              <a:ea typeface="Roboto"/>
              <a:cs typeface="Roboto"/>
              <a:sym typeface="Roboto"/>
            </a:endParaRPr>
          </a:p>
        </p:txBody>
      </p:sp>
      <p:pic>
        <p:nvPicPr>
          <p:cNvPr id="118" name="Google Shape;118;p23"/>
          <p:cNvPicPr preferRelativeResize="0"/>
          <p:nvPr/>
        </p:nvPicPr>
        <p:blipFill>
          <a:blip r:embed="rId3">
            <a:alphaModFix/>
          </a:blip>
          <a:stretch>
            <a:fillRect/>
          </a:stretch>
        </p:blipFill>
        <p:spPr>
          <a:xfrm>
            <a:off x="5772125" y="2321770"/>
            <a:ext cx="1919350" cy="191362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24"/>
          <p:cNvSpPr txBox="1"/>
          <p:nvPr>
            <p:ph type="title"/>
          </p:nvPr>
        </p:nvSpPr>
        <p:spPr>
          <a:xfrm>
            <a:off x="671500" y="445025"/>
            <a:ext cx="81609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solidFill>
                  <a:srgbClr val="434343"/>
                </a:solidFill>
                <a:latin typeface="Roboto Medium"/>
                <a:ea typeface="Roboto Medium"/>
                <a:cs typeface="Roboto Medium"/>
                <a:sym typeface="Roboto Medium"/>
              </a:rPr>
              <a:t>What Is an AI Tool? </a:t>
            </a:r>
            <a:endParaRPr>
              <a:solidFill>
                <a:srgbClr val="434343"/>
              </a:solidFill>
              <a:latin typeface="Roboto Medium"/>
              <a:ea typeface="Roboto Medium"/>
              <a:cs typeface="Roboto Medium"/>
              <a:sym typeface="Roboto Medium"/>
            </a:endParaRPr>
          </a:p>
        </p:txBody>
      </p:sp>
      <p:sp>
        <p:nvSpPr>
          <p:cNvPr id="124" name="Google Shape;124;p24"/>
          <p:cNvSpPr txBox="1"/>
          <p:nvPr/>
        </p:nvSpPr>
        <p:spPr>
          <a:xfrm>
            <a:off x="671500" y="1225500"/>
            <a:ext cx="7167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latin typeface="Roboto"/>
              <a:ea typeface="Roboto"/>
              <a:cs typeface="Roboto"/>
              <a:sym typeface="Roboto"/>
            </a:endParaRPr>
          </a:p>
        </p:txBody>
      </p:sp>
      <p:sp>
        <p:nvSpPr>
          <p:cNvPr id="125" name="Google Shape;125;p24"/>
          <p:cNvSpPr txBox="1"/>
          <p:nvPr>
            <p:ph idx="4294967295" type="body"/>
          </p:nvPr>
        </p:nvSpPr>
        <p:spPr>
          <a:xfrm>
            <a:off x="671425" y="1152475"/>
            <a:ext cx="7167000" cy="3416400"/>
          </a:xfrm>
          <a:prstGeom prst="rect">
            <a:avLst/>
          </a:prstGeom>
        </p:spPr>
        <p:txBody>
          <a:bodyPr anchorCtr="0" anchor="t" bIns="91425" lIns="91425" spcFirstLastPara="1" rIns="91425" wrap="square" tIns="91425">
            <a:noAutofit/>
          </a:bodyPr>
          <a:lstStyle/>
          <a:p>
            <a:pPr indent="0" lvl="0" marL="0" rtl="0" algn="l">
              <a:spcBef>
                <a:spcPts val="1200"/>
              </a:spcBef>
              <a:spcAft>
                <a:spcPts val="0"/>
              </a:spcAft>
              <a:buClr>
                <a:schemeClr val="dk1"/>
              </a:buClr>
              <a:buSzPts val="1100"/>
              <a:buFont typeface="Arial"/>
              <a:buNone/>
            </a:pPr>
            <a:r>
              <a:rPr i="1" lang="en-GB" sz="1400">
                <a:solidFill>
                  <a:srgbClr val="434343"/>
                </a:solidFill>
                <a:latin typeface="Roboto"/>
                <a:ea typeface="Roboto"/>
                <a:cs typeface="Roboto"/>
                <a:sym typeface="Roboto"/>
              </a:rPr>
              <a:t>An AI tool is software that understands and responds to natural language.</a:t>
            </a:r>
            <a:r>
              <a:rPr lang="en-GB" sz="1400">
                <a:solidFill>
                  <a:srgbClr val="434343"/>
                </a:solidFill>
                <a:latin typeface="Roboto"/>
                <a:ea typeface="Roboto"/>
                <a:cs typeface="Roboto"/>
                <a:sym typeface="Roboto"/>
              </a:rPr>
              <a:t> </a:t>
            </a:r>
            <a:br>
              <a:rPr lang="en-GB" sz="1400">
                <a:solidFill>
                  <a:srgbClr val="434343"/>
                </a:solidFill>
                <a:latin typeface="Roboto"/>
                <a:ea typeface="Roboto"/>
                <a:cs typeface="Roboto"/>
                <a:sym typeface="Roboto"/>
              </a:rPr>
            </a:br>
            <a:r>
              <a:rPr i="1" lang="en-GB" sz="1400">
                <a:solidFill>
                  <a:srgbClr val="434343"/>
                </a:solidFill>
                <a:latin typeface="Roboto"/>
                <a:ea typeface="Roboto"/>
                <a:cs typeface="Roboto"/>
                <a:sym typeface="Roboto"/>
              </a:rPr>
              <a:t>It does not replace analytical thinking — it accelerates it.</a:t>
            </a:r>
            <a:r>
              <a:rPr lang="en-GB" sz="1400">
                <a:solidFill>
                  <a:srgbClr val="434343"/>
                </a:solidFill>
                <a:latin typeface="Roboto"/>
                <a:ea typeface="Roboto"/>
                <a:cs typeface="Roboto"/>
                <a:sym typeface="Roboto"/>
              </a:rPr>
              <a:t> </a:t>
            </a:r>
            <a:br>
              <a:rPr lang="en-GB" sz="1400">
                <a:solidFill>
                  <a:srgbClr val="434343"/>
                </a:solidFill>
                <a:latin typeface="Roboto"/>
                <a:ea typeface="Roboto"/>
                <a:cs typeface="Roboto"/>
                <a:sym typeface="Roboto"/>
              </a:rPr>
            </a:br>
            <a:r>
              <a:rPr i="1" lang="en-GB" sz="1400">
                <a:solidFill>
                  <a:srgbClr val="434343"/>
                </a:solidFill>
                <a:latin typeface="Roboto"/>
                <a:ea typeface="Roboto"/>
                <a:cs typeface="Roboto"/>
                <a:sym typeface="Roboto"/>
              </a:rPr>
              <a:t>The professionals advancing fastest are the ones using these tools well.</a:t>
            </a:r>
            <a:endParaRPr i="1" sz="1400">
              <a:solidFill>
                <a:srgbClr val="434343"/>
              </a:solidFill>
              <a:latin typeface="Roboto"/>
              <a:ea typeface="Roboto"/>
              <a:cs typeface="Roboto"/>
              <a:sym typeface="Roboto"/>
            </a:endParaRPr>
          </a:p>
          <a:p>
            <a:pPr indent="-317500" lvl="0" marL="457200" rtl="0" algn="l">
              <a:spcBef>
                <a:spcPts val="1200"/>
              </a:spcBef>
              <a:spcAft>
                <a:spcPts val="0"/>
              </a:spcAft>
              <a:buClr>
                <a:srgbClr val="434343"/>
              </a:buClr>
              <a:buSzPts val="1400"/>
              <a:buFont typeface="Roboto"/>
              <a:buChar char="●"/>
            </a:pPr>
            <a:r>
              <a:rPr lang="en-GB" sz="1400">
                <a:solidFill>
                  <a:srgbClr val="434343"/>
                </a:solidFill>
                <a:latin typeface="Roboto"/>
                <a:ea typeface="Roboto"/>
                <a:cs typeface="Roboto"/>
                <a:sym typeface="Roboto"/>
              </a:rPr>
              <a:t>Software powered by AI</a:t>
            </a:r>
            <a:endParaRPr sz="1400">
              <a:solidFill>
                <a:srgbClr val="434343"/>
              </a:solidFill>
              <a:latin typeface="Roboto"/>
              <a:ea typeface="Roboto"/>
              <a:cs typeface="Roboto"/>
              <a:sym typeface="Roboto"/>
            </a:endParaRPr>
          </a:p>
          <a:p>
            <a:pPr indent="-317500" lvl="0" marL="457200" rtl="0" algn="l">
              <a:spcBef>
                <a:spcPts val="0"/>
              </a:spcBef>
              <a:spcAft>
                <a:spcPts val="0"/>
              </a:spcAft>
              <a:buClr>
                <a:srgbClr val="434343"/>
              </a:buClr>
              <a:buSzPts val="1400"/>
              <a:buFont typeface="Roboto"/>
              <a:buChar char="●"/>
            </a:pPr>
            <a:r>
              <a:rPr lang="en-GB" sz="1400">
                <a:solidFill>
                  <a:srgbClr val="434343"/>
                </a:solidFill>
                <a:latin typeface="Roboto"/>
                <a:ea typeface="Roboto"/>
                <a:cs typeface="Roboto"/>
                <a:sym typeface="Roboto"/>
              </a:rPr>
              <a:t>Processes natural language input</a:t>
            </a:r>
            <a:endParaRPr sz="1400">
              <a:solidFill>
                <a:srgbClr val="434343"/>
              </a:solidFill>
              <a:latin typeface="Roboto"/>
              <a:ea typeface="Roboto"/>
              <a:cs typeface="Roboto"/>
              <a:sym typeface="Roboto"/>
            </a:endParaRPr>
          </a:p>
          <a:p>
            <a:pPr indent="-317500" lvl="0" marL="457200" rtl="0" algn="l">
              <a:spcBef>
                <a:spcPts val="0"/>
              </a:spcBef>
              <a:spcAft>
                <a:spcPts val="0"/>
              </a:spcAft>
              <a:buClr>
                <a:srgbClr val="434343"/>
              </a:buClr>
              <a:buSzPts val="1400"/>
              <a:buFont typeface="Roboto"/>
              <a:buChar char="●"/>
            </a:pPr>
            <a:r>
              <a:rPr lang="en-GB" sz="1400">
                <a:solidFill>
                  <a:srgbClr val="434343"/>
                </a:solidFill>
                <a:latin typeface="Roboto"/>
                <a:ea typeface="Roboto"/>
                <a:cs typeface="Roboto"/>
                <a:sym typeface="Roboto"/>
              </a:rPr>
              <a:t>Assists and accelerates work</a:t>
            </a:r>
            <a:endParaRPr sz="1400">
              <a:solidFill>
                <a:srgbClr val="434343"/>
              </a:solidFill>
              <a:latin typeface="Roboto"/>
              <a:ea typeface="Roboto"/>
              <a:cs typeface="Roboto"/>
              <a:sym typeface="Roboto"/>
            </a:endParaRPr>
          </a:p>
          <a:p>
            <a:pPr indent="-317500" lvl="0" marL="457200" rtl="0" algn="l">
              <a:spcBef>
                <a:spcPts val="0"/>
              </a:spcBef>
              <a:spcAft>
                <a:spcPts val="0"/>
              </a:spcAft>
              <a:buClr>
                <a:srgbClr val="434343"/>
              </a:buClr>
              <a:buSzPts val="1400"/>
              <a:buFont typeface="Roboto"/>
              <a:buChar char="●"/>
            </a:pPr>
            <a:r>
              <a:rPr lang="en-GB" sz="1400">
                <a:solidFill>
                  <a:srgbClr val="434343"/>
                </a:solidFill>
                <a:latin typeface="Roboto"/>
                <a:ea typeface="Roboto"/>
                <a:cs typeface="Roboto"/>
                <a:sym typeface="Roboto"/>
              </a:rPr>
              <a:t>Already embedded in data roles</a:t>
            </a:r>
            <a:endParaRPr sz="1400">
              <a:solidFill>
                <a:srgbClr val="434343"/>
              </a:solidFill>
              <a:latin typeface="Roboto"/>
              <a:ea typeface="Roboto"/>
              <a:cs typeface="Roboto"/>
              <a:sym typeface="Roboto"/>
            </a:endParaRPr>
          </a:p>
          <a:p>
            <a:pPr indent="-317500" lvl="0" marL="457200" rtl="0" algn="l">
              <a:spcBef>
                <a:spcPts val="0"/>
              </a:spcBef>
              <a:spcAft>
                <a:spcPts val="0"/>
              </a:spcAft>
              <a:buClr>
                <a:srgbClr val="434343"/>
              </a:buClr>
              <a:buSzPts val="1400"/>
              <a:buFont typeface="Roboto"/>
              <a:buChar char="●"/>
            </a:pPr>
            <a:r>
              <a:rPr lang="en-GB" sz="1400">
                <a:solidFill>
                  <a:srgbClr val="434343"/>
                </a:solidFill>
                <a:latin typeface="Roboto"/>
                <a:ea typeface="Roboto"/>
                <a:cs typeface="Roboto"/>
                <a:sym typeface="Roboto"/>
              </a:rPr>
              <a:t>Not optional — expected</a:t>
            </a:r>
            <a:endParaRPr sz="1400">
              <a:solidFill>
                <a:srgbClr val="434343"/>
              </a:solidFill>
              <a:latin typeface="Roboto"/>
              <a:ea typeface="Roboto"/>
              <a:cs typeface="Roboto"/>
              <a:sym typeface="Roboto"/>
            </a:endParaRPr>
          </a:p>
          <a:p>
            <a:pPr indent="0" lvl="0" marL="0" rtl="0" algn="l">
              <a:spcBef>
                <a:spcPts val="1200"/>
              </a:spcBef>
              <a:spcAft>
                <a:spcPts val="1200"/>
              </a:spcAft>
              <a:buNone/>
            </a:pPr>
            <a:r>
              <a:t/>
            </a:r>
            <a:endParaRPr i="1" sz="1400">
              <a:solidFill>
                <a:srgbClr val="434343"/>
              </a:solidFill>
              <a:latin typeface="Roboto"/>
              <a:ea typeface="Roboto"/>
              <a:cs typeface="Roboto"/>
              <a:sym typeface="Roboto"/>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25"/>
          <p:cNvSpPr txBox="1"/>
          <p:nvPr>
            <p:ph type="title"/>
          </p:nvPr>
        </p:nvSpPr>
        <p:spPr>
          <a:xfrm>
            <a:off x="671500" y="445025"/>
            <a:ext cx="81609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solidFill>
                  <a:srgbClr val="434343"/>
                </a:solidFill>
                <a:latin typeface="Roboto Medium"/>
                <a:ea typeface="Roboto Medium"/>
                <a:cs typeface="Roboto Medium"/>
                <a:sym typeface="Roboto Medium"/>
              </a:rPr>
              <a:t>AI Tools Used in This Program </a:t>
            </a:r>
            <a:endParaRPr>
              <a:solidFill>
                <a:srgbClr val="434343"/>
              </a:solidFill>
              <a:latin typeface="Roboto Medium"/>
              <a:ea typeface="Roboto Medium"/>
              <a:cs typeface="Roboto Medium"/>
              <a:sym typeface="Roboto Medium"/>
            </a:endParaRPr>
          </a:p>
        </p:txBody>
      </p:sp>
      <p:sp>
        <p:nvSpPr>
          <p:cNvPr id="131" name="Google Shape;131;p25"/>
          <p:cNvSpPr txBox="1"/>
          <p:nvPr/>
        </p:nvSpPr>
        <p:spPr>
          <a:xfrm>
            <a:off x="671500" y="1225500"/>
            <a:ext cx="7167000" cy="2690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Clr>
                <a:schemeClr val="dk1"/>
              </a:buClr>
              <a:buSzPts val="1100"/>
              <a:buFont typeface="Arial"/>
              <a:buNone/>
            </a:pPr>
            <a:r>
              <a:rPr i="1" lang="en-GB">
                <a:solidFill>
                  <a:srgbClr val="434343"/>
                </a:solidFill>
                <a:latin typeface="Roboto"/>
                <a:ea typeface="Roboto"/>
                <a:cs typeface="Roboto"/>
                <a:sym typeface="Roboto"/>
              </a:rPr>
              <a:t>These tools are not introduced for novelty — they appear throughout the modules.</a:t>
            </a:r>
            <a:r>
              <a:rPr lang="en-GB">
                <a:solidFill>
                  <a:srgbClr val="434343"/>
                </a:solidFill>
                <a:latin typeface="Roboto"/>
                <a:ea typeface="Roboto"/>
                <a:cs typeface="Roboto"/>
                <a:sym typeface="Roboto"/>
              </a:rPr>
              <a:t> </a:t>
            </a:r>
            <a:r>
              <a:rPr i="1" lang="en-GB">
                <a:solidFill>
                  <a:srgbClr val="434343"/>
                </a:solidFill>
                <a:latin typeface="Roboto"/>
                <a:ea typeface="Roboto"/>
                <a:cs typeface="Roboto"/>
                <a:sym typeface="Roboto"/>
              </a:rPr>
              <a:t>Familiarity now means less friction later.</a:t>
            </a:r>
            <a:r>
              <a:rPr lang="en-GB">
                <a:solidFill>
                  <a:srgbClr val="434343"/>
                </a:solidFill>
                <a:latin typeface="Roboto"/>
                <a:ea typeface="Roboto"/>
                <a:cs typeface="Roboto"/>
                <a:sym typeface="Roboto"/>
              </a:rPr>
              <a:t> </a:t>
            </a:r>
            <a:br>
              <a:rPr lang="en-GB">
                <a:solidFill>
                  <a:srgbClr val="434343"/>
                </a:solidFill>
                <a:latin typeface="Roboto"/>
                <a:ea typeface="Roboto"/>
                <a:cs typeface="Roboto"/>
                <a:sym typeface="Roboto"/>
              </a:rPr>
            </a:br>
            <a:r>
              <a:rPr i="1" lang="en-GB">
                <a:solidFill>
                  <a:srgbClr val="434343"/>
                </a:solidFill>
                <a:latin typeface="Roboto"/>
                <a:ea typeface="Roboto"/>
                <a:cs typeface="Roboto"/>
                <a:sym typeface="Roboto"/>
              </a:rPr>
              <a:t>Each one serves a specific purpose in the data workflow.</a:t>
            </a:r>
            <a:endParaRPr i="1">
              <a:solidFill>
                <a:srgbClr val="434343"/>
              </a:solidFill>
              <a:latin typeface="Roboto"/>
              <a:ea typeface="Roboto"/>
              <a:cs typeface="Roboto"/>
              <a:sym typeface="Roboto"/>
            </a:endParaRPr>
          </a:p>
          <a:p>
            <a:pPr indent="-317500" lvl="0" marL="457200" rtl="0" algn="l">
              <a:lnSpc>
                <a:spcPct val="115000"/>
              </a:lnSpc>
              <a:spcBef>
                <a:spcPts val="1200"/>
              </a:spcBef>
              <a:spcAft>
                <a:spcPts val="0"/>
              </a:spcAft>
              <a:buClr>
                <a:srgbClr val="434343"/>
              </a:buClr>
              <a:buSzPts val="1400"/>
              <a:buFont typeface="Roboto"/>
              <a:buChar char="●"/>
            </a:pPr>
            <a:r>
              <a:rPr lang="en-GB">
                <a:solidFill>
                  <a:srgbClr val="434343"/>
                </a:solidFill>
                <a:latin typeface="Roboto"/>
                <a:ea typeface="Roboto"/>
                <a:cs typeface="Roboto"/>
                <a:sym typeface="Roboto"/>
              </a:rPr>
              <a:t>Power BI AI visuals</a:t>
            </a:r>
            <a:endParaRPr>
              <a:solidFill>
                <a:srgbClr val="434343"/>
              </a:solidFill>
              <a:latin typeface="Roboto"/>
              <a:ea typeface="Roboto"/>
              <a:cs typeface="Roboto"/>
              <a:sym typeface="Roboto"/>
            </a:endParaRPr>
          </a:p>
          <a:p>
            <a:pPr indent="-317500" lvl="0" marL="457200" rtl="0" algn="l">
              <a:lnSpc>
                <a:spcPct val="115000"/>
              </a:lnSpc>
              <a:spcBef>
                <a:spcPts val="0"/>
              </a:spcBef>
              <a:spcAft>
                <a:spcPts val="0"/>
              </a:spcAft>
              <a:buClr>
                <a:srgbClr val="434343"/>
              </a:buClr>
              <a:buSzPts val="1400"/>
              <a:buFont typeface="Roboto"/>
              <a:buChar char="●"/>
            </a:pPr>
            <a:r>
              <a:rPr lang="en-GB">
                <a:solidFill>
                  <a:srgbClr val="434343"/>
                </a:solidFill>
                <a:latin typeface="Roboto"/>
                <a:ea typeface="Roboto"/>
                <a:cs typeface="Roboto"/>
                <a:sym typeface="Roboto"/>
              </a:rPr>
              <a:t>GitHub Copilot for code</a:t>
            </a:r>
            <a:endParaRPr>
              <a:solidFill>
                <a:srgbClr val="434343"/>
              </a:solidFill>
              <a:latin typeface="Roboto"/>
              <a:ea typeface="Roboto"/>
              <a:cs typeface="Roboto"/>
              <a:sym typeface="Roboto"/>
            </a:endParaRPr>
          </a:p>
          <a:p>
            <a:pPr indent="-317500" lvl="0" marL="457200" rtl="0" algn="l">
              <a:lnSpc>
                <a:spcPct val="115000"/>
              </a:lnSpc>
              <a:spcBef>
                <a:spcPts val="0"/>
              </a:spcBef>
              <a:spcAft>
                <a:spcPts val="0"/>
              </a:spcAft>
              <a:buClr>
                <a:srgbClr val="434343"/>
              </a:buClr>
              <a:buSzPts val="1400"/>
              <a:buFont typeface="Roboto"/>
              <a:buChar char="●"/>
            </a:pPr>
            <a:r>
              <a:rPr lang="en-GB">
                <a:solidFill>
                  <a:srgbClr val="434343"/>
                </a:solidFill>
                <a:latin typeface="Roboto"/>
                <a:ea typeface="Roboto"/>
                <a:cs typeface="Roboto"/>
                <a:sym typeface="Roboto"/>
              </a:rPr>
              <a:t>ChatGPT for research support</a:t>
            </a:r>
            <a:endParaRPr>
              <a:solidFill>
                <a:srgbClr val="434343"/>
              </a:solidFill>
              <a:latin typeface="Roboto"/>
              <a:ea typeface="Roboto"/>
              <a:cs typeface="Roboto"/>
              <a:sym typeface="Roboto"/>
            </a:endParaRPr>
          </a:p>
          <a:p>
            <a:pPr indent="-317500" lvl="0" marL="457200" rtl="0" algn="l">
              <a:lnSpc>
                <a:spcPct val="115000"/>
              </a:lnSpc>
              <a:spcBef>
                <a:spcPts val="0"/>
              </a:spcBef>
              <a:spcAft>
                <a:spcPts val="0"/>
              </a:spcAft>
              <a:buClr>
                <a:srgbClr val="434343"/>
              </a:buClr>
              <a:buSzPts val="1400"/>
              <a:buFont typeface="Roboto"/>
              <a:buChar char="●"/>
            </a:pPr>
            <a:r>
              <a:rPr lang="en-GB">
                <a:solidFill>
                  <a:srgbClr val="434343"/>
                </a:solidFill>
                <a:latin typeface="Roboto"/>
                <a:ea typeface="Roboto"/>
                <a:cs typeface="Roboto"/>
                <a:sym typeface="Roboto"/>
              </a:rPr>
              <a:t>Canva AI for presentation</a:t>
            </a:r>
            <a:endParaRPr>
              <a:solidFill>
                <a:srgbClr val="434343"/>
              </a:solidFill>
              <a:latin typeface="Roboto"/>
              <a:ea typeface="Roboto"/>
              <a:cs typeface="Roboto"/>
              <a:sym typeface="Roboto"/>
            </a:endParaRPr>
          </a:p>
          <a:p>
            <a:pPr indent="-317500" lvl="0" marL="457200" rtl="0" algn="l">
              <a:lnSpc>
                <a:spcPct val="115000"/>
              </a:lnSpc>
              <a:spcBef>
                <a:spcPts val="0"/>
              </a:spcBef>
              <a:spcAft>
                <a:spcPts val="0"/>
              </a:spcAft>
              <a:buClr>
                <a:srgbClr val="434343"/>
              </a:buClr>
              <a:buSzPts val="1400"/>
              <a:buFont typeface="Roboto"/>
              <a:buChar char="●"/>
            </a:pPr>
            <a:r>
              <a:rPr lang="en-GB">
                <a:solidFill>
                  <a:srgbClr val="434343"/>
                </a:solidFill>
                <a:latin typeface="Roboto"/>
                <a:ea typeface="Roboto"/>
                <a:cs typeface="Roboto"/>
                <a:sym typeface="Roboto"/>
              </a:rPr>
              <a:t>More introduced each phase</a:t>
            </a:r>
            <a:endParaRPr>
              <a:solidFill>
                <a:srgbClr val="434343"/>
              </a:solidFill>
              <a:latin typeface="Roboto"/>
              <a:ea typeface="Roboto"/>
              <a:cs typeface="Roboto"/>
              <a:sym typeface="Roboto"/>
            </a:endParaRPr>
          </a:p>
          <a:p>
            <a:pPr indent="0" lvl="0" marL="0" rtl="0" algn="l">
              <a:spcBef>
                <a:spcPts val="1200"/>
              </a:spcBef>
              <a:spcAft>
                <a:spcPts val="0"/>
              </a:spcAft>
              <a:buNone/>
            </a:pPr>
            <a:r>
              <a:t/>
            </a:r>
            <a:endParaRPr i="1">
              <a:solidFill>
                <a:srgbClr val="434343"/>
              </a:solidFill>
              <a:latin typeface="Roboto"/>
              <a:ea typeface="Roboto"/>
              <a:cs typeface="Roboto"/>
              <a:sym typeface="Roboto"/>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26"/>
          <p:cNvSpPr txBox="1"/>
          <p:nvPr>
            <p:ph type="title"/>
          </p:nvPr>
        </p:nvSpPr>
        <p:spPr>
          <a:xfrm>
            <a:off x="671500" y="445025"/>
            <a:ext cx="81609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solidFill>
                  <a:srgbClr val="434343"/>
                </a:solidFill>
                <a:latin typeface="Roboto Medium"/>
                <a:ea typeface="Roboto Medium"/>
                <a:cs typeface="Roboto Medium"/>
                <a:sym typeface="Roboto Medium"/>
              </a:rPr>
              <a:t>How All the Tools Connect </a:t>
            </a:r>
            <a:endParaRPr>
              <a:solidFill>
                <a:srgbClr val="434343"/>
              </a:solidFill>
              <a:latin typeface="Roboto Medium"/>
              <a:ea typeface="Roboto Medium"/>
              <a:cs typeface="Roboto Medium"/>
              <a:sym typeface="Roboto Medium"/>
            </a:endParaRPr>
          </a:p>
        </p:txBody>
      </p:sp>
      <p:sp>
        <p:nvSpPr>
          <p:cNvPr id="137" name="Google Shape;137;p26"/>
          <p:cNvSpPr txBox="1"/>
          <p:nvPr/>
        </p:nvSpPr>
        <p:spPr>
          <a:xfrm>
            <a:off x="671500" y="1225500"/>
            <a:ext cx="7167000" cy="2690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Clr>
                <a:schemeClr val="dk1"/>
              </a:buClr>
              <a:buSzPts val="1100"/>
              <a:buFont typeface="Arial"/>
              <a:buNone/>
            </a:pPr>
            <a:r>
              <a:rPr i="1" lang="en-GB">
                <a:solidFill>
                  <a:srgbClr val="434343"/>
                </a:solidFill>
                <a:latin typeface="Roboto"/>
                <a:ea typeface="Roboto"/>
                <a:cs typeface="Roboto"/>
                <a:sym typeface="Roboto"/>
              </a:rPr>
              <a:t>Treating each tool as separate is a common early mistake.</a:t>
            </a:r>
            <a:r>
              <a:rPr lang="en-GB">
                <a:solidFill>
                  <a:srgbClr val="434343"/>
                </a:solidFill>
                <a:latin typeface="Roboto"/>
                <a:ea typeface="Roboto"/>
                <a:cs typeface="Roboto"/>
                <a:sym typeface="Roboto"/>
              </a:rPr>
              <a:t> </a:t>
            </a:r>
            <a:br>
              <a:rPr lang="en-GB">
                <a:solidFill>
                  <a:srgbClr val="434343"/>
                </a:solidFill>
                <a:latin typeface="Roboto"/>
                <a:ea typeface="Roboto"/>
                <a:cs typeface="Roboto"/>
                <a:sym typeface="Roboto"/>
              </a:rPr>
            </a:br>
            <a:r>
              <a:rPr i="1" lang="en-GB">
                <a:solidFill>
                  <a:srgbClr val="434343"/>
                </a:solidFill>
                <a:latin typeface="Roboto"/>
                <a:ea typeface="Roboto"/>
                <a:cs typeface="Roboto"/>
                <a:sym typeface="Roboto"/>
              </a:rPr>
              <a:t>Slack, Zoom, GitHub, and Calendar are not individual platforms.</a:t>
            </a:r>
            <a:r>
              <a:rPr lang="en-GB">
                <a:solidFill>
                  <a:srgbClr val="434343"/>
                </a:solidFill>
                <a:latin typeface="Roboto"/>
                <a:ea typeface="Roboto"/>
                <a:cs typeface="Roboto"/>
                <a:sym typeface="Roboto"/>
              </a:rPr>
              <a:t> </a:t>
            </a:r>
            <a:br>
              <a:rPr lang="en-GB">
                <a:solidFill>
                  <a:srgbClr val="434343"/>
                </a:solidFill>
                <a:latin typeface="Roboto"/>
                <a:ea typeface="Roboto"/>
                <a:cs typeface="Roboto"/>
                <a:sym typeface="Roboto"/>
              </a:rPr>
            </a:br>
            <a:r>
              <a:rPr i="1" lang="en-GB">
                <a:solidFill>
                  <a:srgbClr val="434343"/>
                </a:solidFill>
                <a:latin typeface="Roboto"/>
                <a:ea typeface="Roboto"/>
                <a:cs typeface="Roboto"/>
                <a:sym typeface="Roboto"/>
              </a:rPr>
              <a:t>Together, they form one connected professional workflow.</a:t>
            </a:r>
            <a:endParaRPr i="1">
              <a:solidFill>
                <a:srgbClr val="434343"/>
              </a:solidFill>
              <a:latin typeface="Roboto"/>
              <a:ea typeface="Roboto"/>
              <a:cs typeface="Roboto"/>
              <a:sym typeface="Roboto"/>
            </a:endParaRPr>
          </a:p>
          <a:p>
            <a:pPr indent="-317500" lvl="0" marL="457200" rtl="0" algn="l">
              <a:lnSpc>
                <a:spcPct val="115000"/>
              </a:lnSpc>
              <a:spcBef>
                <a:spcPts val="1200"/>
              </a:spcBef>
              <a:spcAft>
                <a:spcPts val="0"/>
              </a:spcAft>
              <a:buClr>
                <a:srgbClr val="434343"/>
              </a:buClr>
              <a:buSzPts val="1400"/>
              <a:buFont typeface="Roboto"/>
              <a:buChar char="●"/>
            </a:pPr>
            <a:r>
              <a:rPr lang="en-GB">
                <a:solidFill>
                  <a:srgbClr val="434343"/>
                </a:solidFill>
                <a:latin typeface="Roboto"/>
                <a:ea typeface="Roboto"/>
                <a:cs typeface="Roboto"/>
                <a:sym typeface="Roboto"/>
              </a:rPr>
              <a:t>Communication lives in Slack</a:t>
            </a:r>
            <a:endParaRPr>
              <a:solidFill>
                <a:srgbClr val="434343"/>
              </a:solidFill>
              <a:latin typeface="Roboto"/>
              <a:ea typeface="Roboto"/>
              <a:cs typeface="Roboto"/>
              <a:sym typeface="Roboto"/>
            </a:endParaRPr>
          </a:p>
          <a:p>
            <a:pPr indent="-317500" lvl="0" marL="457200" rtl="0" algn="l">
              <a:lnSpc>
                <a:spcPct val="115000"/>
              </a:lnSpc>
              <a:spcBef>
                <a:spcPts val="0"/>
              </a:spcBef>
              <a:spcAft>
                <a:spcPts val="0"/>
              </a:spcAft>
              <a:buClr>
                <a:srgbClr val="434343"/>
              </a:buClr>
              <a:buSzPts val="1400"/>
              <a:buFont typeface="Roboto"/>
              <a:buChar char="●"/>
            </a:pPr>
            <a:r>
              <a:rPr lang="en-GB">
                <a:solidFill>
                  <a:srgbClr val="434343"/>
                </a:solidFill>
                <a:latin typeface="Roboto"/>
                <a:ea typeface="Roboto"/>
                <a:cs typeface="Roboto"/>
                <a:sym typeface="Roboto"/>
              </a:rPr>
              <a:t>Sessions run through Zoom</a:t>
            </a:r>
            <a:endParaRPr>
              <a:solidFill>
                <a:srgbClr val="434343"/>
              </a:solidFill>
              <a:latin typeface="Roboto"/>
              <a:ea typeface="Roboto"/>
              <a:cs typeface="Roboto"/>
              <a:sym typeface="Roboto"/>
            </a:endParaRPr>
          </a:p>
          <a:p>
            <a:pPr indent="-317500" lvl="0" marL="457200" rtl="0" algn="l">
              <a:lnSpc>
                <a:spcPct val="115000"/>
              </a:lnSpc>
              <a:spcBef>
                <a:spcPts val="0"/>
              </a:spcBef>
              <a:spcAft>
                <a:spcPts val="0"/>
              </a:spcAft>
              <a:buClr>
                <a:srgbClr val="434343"/>
              </a:buClr>
              <a:buSzPts val="1400"/>
              <a:buFont typeface="Roboto"/>
              <a:buChar char="●"/>
            </a:pPr>
            <a:r>
              <a:rPr lang="en-GB">
                <a:solidFill>
                  <a:srgbClr val="434343"/>
                </a:solidFill>
                <a:latin typeface="Roboto"/>
                <a:ea typeface="Roboto"/>
                <a:cs typeface="Roboto"/>
                <a:sym typeface="Roboto"/>
              </a:rPr>
              <a:t>Materials stored on GitHub</a:t>
            </a:r>
            <a:endParaRPr>
              <a:solidFill>
                <a:srgbClr val="434343"/>
              </a:solidFill>
              <a:latin typeface="Roboto"/>
              <a:ea typeface="Roboto"/>
              <a:cs typeface="Roboto"/>
              <a:sym typeface="Roboto"/>
            </a:endParaRPr>
          </a:p>
          <a:p>
            <a:pPr indent="-317500" lvl="0" marL="457200" rtl="0" algn="l">
              <a:lnSpc>
                <a:spcPct val="115000"/>
              </a:lnSpc>
              <a:spcBef>
                <a:spcPts val="0"/>
              </a:spcBef>
              <a:spcAft>
                <a:spcPts val="0"/>
              </a:spcAft>
              <a:buClr>
                <a:srgbClr val="434343"/>
              </a:buClr>
              <a:buSzPts val="1400"/>
              <a:buFont typeface="Roboto"/>
              <a:buChar char="●"/>
            </a:pPr>
            <a:r>
              <a:rPr lang="en-GB">
                <a:solidFill>
                  <a:srgbClr val="434343"/>
                </a:solidFill>
                <a:latin typeface="Roboto"/>
                <a:ea typeface="Roboto"/>
                <a:cs typeface="Roboto"/>
                <a:sym typeface="Roboto"/>
              </a:rPr>
              <a:t>Deadlines managed in Calendar</a:t>
            </a:r>
            <a:endParaRPr>
              <a:solidFill>
                <a:srgbClr val="434343"/>
              </a:solidFill>
              <a:latin typeface="Roboto"/>
              <a:ea typeface="Roboto"/>
              <a:cs typeface="Roboto"/>
              <a:sym typeface="Roboto"/>
            </a:endParaRPr>
          </a:p>
          <a:p>
            <a:pPr indent="-317500" lvl="0" marL="457200" rtl="0" algn="l">
              <a:lnSpc>
                <a:spcPct val="115000"/>
              </a:lnSpc>
              <a:spcBef>
                <a:spcPts val="0"/>
              </a:spcBef>
              <a:spcAft>
                <a:spcPts val="0"/>
              </a:spcAft>
              <a:buClr>
                <a:srgbClr val="434343"/>
              </a:buClr>
              <a:buSzPts val="1400"/>
              <a:buFont typeface="Roboto"/>
              <a:buChar char="●"/>
            </a:pPr>
            <a:r>
              <a:rPr lang="en-GB">
                <a:solidFill>
                  <a:srgbClr val="434343"/>
                </a:solidFill>
                <a:latin typeface="Roboto"/>
                <a:ea typeface="Roboto"/>
                <a:cs typeface="Roboto"/>
                <a:sym typeface="Roboto"/>
              </a:rPr>
              <a:t>Notes filed in local folders</a:t>
            </a:r>
            <a:endParaRPr>
              <a:solidFill>
                <a:srgbClr val="434343"/>
              </a:solidFill>
              <a:latin typeface="Roboto"/>
              <a:ea typeface="Roboto"/>
              <a:cs typeface="Roboto"/>
              <a:sym typeface="Roboto"/>
            </a:endParaRPr>
          </a:p>
          <a:p>
            <a:pPr indent="0" lvl="0" marL="0" rtl="0" algn="l">
              <a:spcBef>
                <a:spcPts val="1200"/>
              </a:spcBef>
              <a:spcAft>
                <a:spcPts val="0"/>
              </a:spcAft>
              <a:buNone/>
            </a:pPr>
            <a:r>
              <a:t/>
            </a:r>
            <a:endParaRPr i="1">
              <a:solidFill>
                <a:srgbClr val="434343"/>
              </a:solidFill>
              <a:latin typeface="Roboto"/>
              <a:ea typeface="Roboto"/>
              <a:cs typeface="Roboto"/>
              <a:sym typeface="Roboto"/>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27"/>
          <p:cNvSpPr txBox="1"/>
          <p:nvPr>
            <p:ph type="title"/>
          </p:nvPr>
        </p:nvSpPr>
        <p:spPr>
          <a:xfrm>
            <a:off x="671500" y="445025"/>
            <a:ext cx="81609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solidFill>
                  <a:srgbClr val="434343"/>
                </a:solidFill>
                <a:latin typeface="Roboto Medium"/>
                <a:ea typeface="Roboto Medium"/>
                <a:cs typeface="Roboto Medium"/>
                <a:sym typeface="Roboto Medium"/>
              </a:rPr>
              <a:t>One Workflow — Five Tools </a:t>
            </a:r>
            <a:endParaRPr>
              <a:solidFill>
                <a:srgbClr val="434343"/>
              </a:solidFill>
              <a:latin typeface="Roboto Medium"/>
              <a:ea typeface="Roboto Medium"/>
              <a:cs typeface="Roboto Medium"/>
              <a:sym typeface="Roboto Medium"/>
            </a:endParaRPr>
          </a:p>
        </p:txBody>
      </p:sp>
      <p:sp>
        <p:nvSpPr>
          <p:cNvPr id="143" name="Google Shape;143;p27"/>
          <p:cNvSpPr txBox="1"/>
          <p:nvPr/>
        </p:nvSpPr>
        <p:spPr>
          <a:xfrm>
            <a:off x="671500" y="1225500"/>
            <a:ext cx="7167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solidFill>
                <a:schemeClr val="dk1"/>
              </a:solidFill>
              <a:latin typeface="Roboto"/>
              <a:ea typeface="Roboto"/>
              <a:cs typeface="Roboto"/>
              <a:sym typeface="Roboto"/>
            </a:endParaRPr>
          </a:p>
        </p:txBody>
      </p:sp>
      <p:sp>
        <p:nvSpPr>
          <p:cNvPr id="144" name="Google Shape;144;p27"/>
          <p:cNvSpPr txBox="1"/>
          <p:nvPr/>
        </p:nvSpPr>
        <p:spPr>
          <a:xfrm>
            <a:off x="671500" y="1225500"/>
            <a:ext cx="7167000" cy="2690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Clr>
                <a:schemeClr val="dk1"/>
              </a:buClr>
              <a:buSzPts val="1100"/>
              <a:buFont typeface="Arial"/>
              <a:buNone/>
            </a:pPr>
            <a:r>
              <a:rPr i="1" lang="en-GB">
                <a:solidFill>
                  <a:srgbClr val="434343"/>
                </a:solidFill>
                <a:latin typeface="Roboto"/>
                <a:ea typeface="Roboto"/>
                <a:cs typeface="Roboto"/>
                <a:sym typeface="Roboto"/>
              </a:rPr>
              <a:t>This is the exact flow followed every week for 24 weeks.</a:t>
            </a:r>
            <a:r>
              <a:rPr lang="en-GB">
                <a:solidFill>
                  <a:srgbClr val="434343"/>
                </a:solidFill>
                <a:latin typeface="Roboto"/>
                <a:ea typeface="Roboto"/>
                <a:cs typeface="Roboto"/>
                <a:sym typeface="Roboto"/>
              </a:rPr>
              <a:t> </a:t>
            </a:r>
            <a:br>
              <a:rPr lang="en-GB">
                <a:solidFill>
                  <a:srgbClr val="434343"/>
                </a:solidFill>
                <a:latin typeface="Roboto"/>
                <a:ea typeface="Roboto"/>
                <a:cs typeface="Roboto"/>
                <a:sym typeface="Roboto"/>
              </a:rPr>
            </a:br>
            <a:r>
              <a:rPr i="1" lang="en-GB">
                <a:solidFill>
                  <a:srgbClr val="434343"/>
                </a:solidFill>
                <a:latin typeface="Roboto"/>
                <a:ea typeface="Roboto"/>
                <a:cs typeface="Roboto"/>
                <a:sym typeface="Roboto"/>
              </a:rPr>
              <a:t>Understanding it now removes confusion before it starts.</a:t>
            </a:r>
            <a:r>
              <a:rPr lang="en-GB">
                <a:solidFill>
                  <a:srgbClr val="434343"/>
                </a:solidFill>
                <a:latin typeface="Roboto"/>
                <a:ea typeface="Roboto"/>
                <a:cs typeface="Roboto"/>
                <a:sym typeface="Roboto"/>
              </a:rPr>
              <a:t> </a:t>
            </a:r>
            <a:br>
              <a:rPr lang="en-GB">
                <a:solidFill>
                  <a:srgbClr val="434343"/>
                </a:solidFill>
                <a:latin typeface="Roboto"/>
                <a:ea typeface="Roboto"/>
                <a:cs typeface="Roboto"/>
                <a:sym typeface="Roboto"/>
              </a:rPr>
            </a:br>
            <a:r>
              <a:rPr i="1" lang="en-GB">
                <a:solidFill>
                  <a:srgbClr val="434343"/>
                </a:solidFill>
                <a:latin typeface="Roboto"/>
                <a:ea typeface="Roboto"/>
                <a:cs typeface="Roboto"/>
                <a:sym typeface="Roboto"/>
              </a:rPr>
              <a:t>A clear workflow means full focus on the learning — not the logistics.</a:t>
            </a:r>
            <a:endParaRPr i="1">
              <a:solidFill>
                <a:srgbClr val="434343"/>
              </a:solidFill>
              <a:latin typeface="Roboto"/>
              <a:ea typeface="Roboto"/>
              <a:cs typeface="Roboto"/>
              <a:sym typeface="Roboto"/>
            </a:endParaRPr>
          </a:p>
          <a:p>
            <a:pPr indent="-317500" lvl="0" marL="457200" rtl="0" algn="l">
              <a:lnSpc>
                <a:spcPct val="115000"/>
              </a:lnSpc>
              <a:spcBef>
                <a:spcPts val="1200"/>
              </a:spcBef>
              <a:spcAft>
                <a:spcPts val="0"/>
              </a:spcAft>
              <a:buClr>
                <a:srgbClr val="434343"/>
              </a:buClr>
              <a:buSzPts val="1400"/>
              <a:buFont typeface="Roboto"/>
              <a:buChar char="●"/>
            </a:pPr>
            <a:r>
              <a:rPr lang="en-GB">
                <a:solidFill>
                  <a:srgbClr val="434343"/>
                </a:solidFill>
                <a:latin typeface="Roboto"/>
                <a:ea typeface="Roboto"/>
                <a:cs typeface="Roboto"/>
                <a:sym typeface="Roboto"/>
              </a:rPr>
              <a:t>Announcement → Slack</a:t>
            </a:r>
            <a:endParaRPr>
              <a:solidFill>
                <a:srgbClr val="434343"/>
              </a:solidFill>
              <a:latin typeface="Roboto"/>
              <a:ea typeface="Roboto"/>
              <a:cs typeface="Roboto"/>
              <a:sym typeface="Roboto"/>
            </a:endParaRPr>
          </a:p>
          <a:p>
            <a:pPr indent="-317500" lvl="0" marL="457200" rtl="0" algn="l">
              <a:lnSpc>
                <a:spcPct val="115000"/>
              </a:lnSpc>
              <a:spcBef>
                <a:spcPts val="0"/>
              </a:spcBef>
              <a:spcAft>
                <a:spcPts val="0"/>
              </a:spcAft>
              <a:buClr>
                <a:srgbClr val="434343"/>
              </a:buClr>
              <a:buSzPts val="1400"/>
              <a:buFont typeface="Roboto"/>
              <a:buChar char="●"/>
            </a:pPr>
            <a:r>
              <a:rPr lang="en-GB">
                <a:solidFill>
                  <a:srgbClr val="434343"/>
                </a:solidFill>
                <a:latin typeface="Roboto"/>
                <a:ea typeface="Roboto"/>
                <a:cs typeface="Roboto"/>
                <a:sym typeface="Roboto"/>
              </a:rPr>
              <a:t>Session → Zoom</a:t>
            </a:r>
            <a:endParaRPr>
              <a:solidFill>
                <a:srgbClr val="434343"/>
              </a:solidFill>
              <a:latin typeface="Roboto"/>
              <a:ea typeface="Roboto"/>
              <a:cs typeface="Roboto"/>
              <a:sym typeface="Roboto"/>
            </a:endParaRPr>
          </a:p>
          <a:p>
            <a:pPr indent="-317500" lvl="0" marL="457200" rtl="0" algn="l">
              <a:lnSpc>
                <a:spcPct val="115000"/>
              </a:lnSpc>
              <a:spcBef>
                <a:spcPts val="0"/>
              </a:spcBef>
              <a:spcAft>
                <a:spcPts val="0"/>
              </a:spcAft>
              <a:buClr>
                <a:srgbClr val="434343"/>
              </a:buClr>
              <a:buSzPts val="1400"/>
              <a:buFont typeface="Roboto"/>
              <a:buChar char="●"/>
            </a:pPr>
            <a:r>
              <a:rPr lang="en-GB">
                <a:solidFill>
                  <a:srgbClr val="434343"/>
                </a:solidFill>
                <a:latin typeface="Roboto"/>
                <a:ea typeface="Roboto"/>
                <a:cs typeface="Roboto"/>
                <a:sym typeface="Roboto"/>
              </a:rPr>
              <a:t>Materials → GitHub</a:t>
            </a:r>
            <a:endParaRPr>
              <a:solidFill>
                <a:srgbClr val="434343"/>
              </a:solidFill>
              <a:latin typeface="Roboto"/>
              <a:ea typeface="Roboto"/>
              <a:cs typeface="Roboto"/>
              <a:sym typeface="Roboto"/>
            </a:endParaRPr>
          </a:p>
          <a:p>
            <a:pPr indent="-317500" lvl="0" marL="457200" rtl="0" algn="l">
              <a:lnSpc>
                <a:spcPct val="115000"/>
              </a:lnSpc>
              <a:spcBef>
                <a:spcPts val="0"/>
              </a:spcBef>
              <a:spcAft>
                <a:spcPts val="0"/>
              </a:spcAft>
              <a:buClr>
                <a:srgbClr val="434343"/>
              </a:buClr>
              <a:buSzPts val="1400"/>
              <a:buFont typeface="Roboto"/>
              <a:buChar char="●"/>
            </a:pPr>
            <a:r>
              <a:rPr lang="en-GB">
                <a:solidFill>
                  <a:srgbClr val="434343"/>
                </a:solidFill>
                <a:latin typeface="Roboto"/>
                <a:ea typeface="Roboto"/>
                <a:cs typeface="Roboto"/>
                <a:sym typeface="Roboto"/>
              </a:rPr>
              <a:t>Schedule → Calendar</a:t>
            </a:r>
            <a:endParaRPr>
              <a:solidFill>
                <a:srgbClr val="434343"/>
              </a:solidFill>
              <a:latin typeface="Roboto"/>
              <a:ea typeface="Roboto"/>
              <a:cs typeface="Roboto"/>
              <a:sym typeface="Roboto"/>
            </a:endParaRPr>
          </a:p>
          <a:p>
            <a:pPr indent="-317500" lvl="0" marL="457200" rtl="0" algn="l">
              <a:lnSpc>
                <a:spcPct val="115000"/>
              </a:lnSpc>
              <a:spcBef>
                <a:spcPts val="0"/>
              </a:spcBef>
              <a:spcAft>
                <a:spcPts val="0"/>
              </a:spcAft>
              <a:buClr>
                <a:srgbClr val="434343"/>
              </a:buClr>
              <a:buSzPts val="1400"/>
              <a:buFont typeface="Roboto"/>
              <a:buChar char="●"/>
            </a:pPr>
            <a:r>
              <a:rPr lang="en-GB">
                <a:solidFill>
                  <a:srgbClr val="434343"/>
                </a:solidFill>
                <a:latin typeface="Roboto"/>
                <a:ea typeface="Roboto"/>
                <a:cs typeface="Roboto"/>
                <a:sym typeface="Roboto"/>
              </a:rPr>
              <a:t>Notes → organised folders</a:t>
            </a:r>
            <a:endParaRPr>
              <a:solidFill>
                <a:srgbClr val="434343"/>
              </a:solidFill>
              <a:latin typeface="Roboto"/>
              <a:ea typeface="Roboto"/>
              <a:cs typeface="Roboto"/>
              <a:sym typeface="Roboto"/>
            </a:endParaRPr>
          </a:p>
          <a:p>
            <a:pPr indent="0" lvl="0" marL="0" rtl="0" algn="l">
              <a:spcBef>
                <a:spcPts val="1200"/>
              </a:spcBef>
              <a:spcAft>
                <a:spcPts val="0"/>
              </a:spcAft>
              <a:buNone/>
            </a:pPr>
            <a:r>
              <a:t/>
            </a:r>
            <a:endParaRPr i="1">
              <a:solidFill>
                <a:srgbClr val="434343"/>
              </a:solidFill>
              <a:latin typeface="Roboto"/>
              <a:ea typeface="Roboto"/>
              <a:cs typeface="Roboto"/>
              <a:sym typeface="Roboto"/>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28"/>
          <p:cNvSpPr txBox="1"/>
          <p:nvPr>
            <p:ph type="title"/>
          </p:nvPr>
        </p:nvSpPr>
        <p:spPr>
          <a:xfrm>
            <a:off x="671500" y="445025"/>
            <a:ext cx="81609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solidFill>
                  <a:srgbClr val="434343"/>
                </a:solidFill>
                <a:latin typeface="Roboto Medium"/>
                <a:ea typeface="Roboto Medium"/>
                <a:cs typeface="Roboto Medium"/>
                <a:sym typeface="Roboto Medium"/>
              </a:rPr>
              <a:t>A Professional Environment </a:t>
            </a:r>
            <a:endParaRPr>
              <a:solidFill>
                <a:srgbClr val="434343"/>
              </a:solidFill>
              <a:latin typeface="Roboto Medium"/>
              <a:ea typeface="Roboto Medium"/>
              <a:cs typeface="Roboto Medium"/>
              <a:sym typeface="Roboto Medium"/>
            </a:endParaRPr>
          </a:p>
        </p:txBody>
      </p:sp>
      <p:sp>
        <p:nvSpPr>
          <p:cNvPr id="150" name="Google Shape;150;p28"/>
          <p:cNvSpPr txBox="1"/>
          <p:nvPr/>
        </p:nvSpPr>
        <p:spPr>
          <a:xfrm>
            <a:off x="671500" y="1225500"/>
            <a:ext cx="7167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solidFill>
                <a:schemeClr val="dk1"/>
              </a:solidFill>
              <a:latin typeface="Roboto"/>
              <a:ea typeface="Roboto"/>
              <a:cs typeface="Roboto"/>
              <a:sym typeface="Roboto"/>
            </a:endParaRPr>
          </a:p>
        </p:txBody>
      </p:sp>
      <p:sp>
        <p:nvSpPr>
          <p:cNvPr id="151" name="Google Shape;151;p28"/>
          <p:cNvSpPr txBox="1"/>
          <p:nvPr/>
        </p:nvSpPr>
        <p:spPr>
          <a:xfrm>
            <a:off x="671500" y="1225500"/>
            <a:ext cx="7167000" cy="2690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Clr>
                <a:schemeClr val="dk1"/>
              </a:buClr>
              <a:buSzPts val="1100"/>
              <a:buFont typeface="Arial"/>
              <a:buNone/>
            </a:pPr>
            <a:r>
              <a:rPr i="1" lang="en-GB">
                <a:solidFill>
                  <a:schemeClr val="dk1"/>
                </a:solidFill>
                <a:latin typeface="Roboto"/>
                <a:ea typeface="Roboto"/>
                <a:cs typeface="Roboto"/>
                <a:sym typeface="Roboto"/>
              </a:rPr>
              <a:t>In three days, a complete working environment has been established.</a:t>
            </a:r>
            <a:r>
              <a:rPr lang="en-GB">
                <a:solidFill>
                  <a:schemeClr val="dk1"/>
                </a:solidFill>
                <a:latin typeface="Roboto"/>
                <a:ea typeface="Roboto"/>
                <a:cs typeface="Roboto"/>
                <a:sym typeface="Roboto"/>
              </a:rPr>
              <a:t> </a:t>
            </a:r>
            <a:r>
              <a:rPr i="1" lang="en-GB">
                <a:solidFill>
                  <a:schemeClr val="dk1"/>
                </a:solidFill>
                <a:latin typeface="Roboto"/>
                <a:ea typeface="Roboto"/>
                <a:cs typeface="Roboto"/>
                <a:sym typeface="Roboto"/>
              </a:rPr>
              <a:t>Tools configured. Workflow understood. Concepts clarified.</a:t>
            </a:r>
            <a:r>
              <a:rPr lang="en-GB">
                <a:solidFill>
                  <a:schemeClr val="dk1"/>
                </a:solidFill>
                <a:latin typeface="Roboto"/>
                <a:ea typeface="Roboto"/>
                <a:cs typeface="Roboto"/>
                <a:sym typeface="Roboto"/>
              </a:rPr>
              <a:t> </a:t>
            </a:r>
            <a:br>
              <a:rPr lang="en-GB">
                <a:solidFill>
                  <a:schemeClr val="dk1"/>
                </a:solidFill>
                <a:latin typeface="Roboto"/>
                <a:ea typeface="Roboto"/>
                <a:cs typeface="Roboto"/>
                <a:sym typeface="Roboto"/>
              </a:rPr>
            </a:br>
            <a:r>
              <a:rPr i="1" lang="en-GB">
                <a:solidFill>
                  <a:schemeClr val="dk1"/>
                </a:solidFill>
                <a:latin typeface="Roboto"/>
                <a:ea typeface="Roboto"/>
                <a:cs typeface="Roboto"/>
                <a:sym typeface="Roboto"/>
              </a:rPr>
              <a:t>This is the setup a junior data professional walks in with on day one of a job.</a:t>
            </a:r>
            <a:endParaRPr i="1">
              <a:solidFill>
                <a:schemeClr val="dk1"/>
              </a:solidFill>
              <a:latin typeface="Roboto"/>
              <a:ea typeface="Roboto"/>
              <a:cs typeface="Roboto"/>
              <a:sym typeface="Roboto"/>
            </a:endParaRPr>
          </a:p>
          <a:p>
            <a:pPr indent="-317500" lvl="0" marL="457200" rtl="0" algn="l">
              <a:lnSpc>
                <a:spcPct val="115000"/>
              </a:lnSpc>
              <a:spcBef>
                <a:spcPts val="1200"/>
              </a:spcBef>
              <a:spcAft>
                <a:spcPts val="0"/>
              </a:spcAft>
              <a:buClr>
                <a:schemeClr val="dk1"/>
              </a:buClr>
              <a:buSzPts val="1400"/>
              <a:buFont typeface="Roboto"/>
              <a:buChar char="●"/>
            </a:pPr>
            <a:r>
              <a:rPr lang="en-GB">
                <a:solidFill>
                  <a:schemeClr val="dk1"/>
                </a:solidFill>
                <a:latin typeface="Roboto"/>
                <a:ea typeface="Roboto"/>
                <a:cs typeface="Roboto"/>
                <a:sym typeface="Roboto"/>
              </a:rPr>
              <a:t>Tools installed and configured</a:t>
            </a:r>
            <a:endParaRPr>
              <a:solidFill>
                <a:schemeClr val="dk1"/>
              </a:solidFill>
              <a:latin typeface="Roboto"/>
              <a:ea typeface="Roboto"/>
              <a:cs typeface="Roboto"/>
              <a:sym typeface="Roboto"/>
            </a:endParaRPr>
          </a:p>
          <a:p>
            <a:pPr indent="-317500" lvl="0" marL="457200" rtl="0" algn="l">
              <a:lnSpc>
                <a:spcPct val="115000"/>
              </a:lnSpc>
              <a:spcBef>
                <a:spcPts val="0"/>
              </a:spcBef>
              <a:spcAft>
                <a:spcPts val="0"/>
              </a:spcAft>
              <a:buClr>
                <a:schemeClr val="dk1"/>
              </a:buClr>
              <a:buSzPts val="1400"/>
              <a:buFont typeface="Roboto"/>
              <a:buChar char="●"/>
            </a:pPr>
            <a:r>
              <a:rPr lang="en-GB">
                <a:solidFill>
                  <a:schemeClr val="dk1"/>
                </a:solidFill>
                <a:latin typeface="Roboto"/>
                <a:ea typeface="Roboto"/>
                <a:cs typeface="Roboto"/>
                <a:sym typeface="Roboto"/>
              </a:rPr>
              <a:t>Shortcuts actively being built</a:t>
            </a:r>
            <a:endParaRPr>
              <a:solidFill>
                <a:schemeClr val="dk1"/>
              </a:solidFill>
              <a:latin typeface="Roboto"/>
              <a:ea typeface="Roboto"/>
              <a:cs typeface="Roboto"/>
              <a:sym typeface="Roboto"/>
            </a:endParaRPr>
          </a:p>
          <a:p>
            <a:pPr indent="-317500" lvl="0" marL="457200" rtl="0" algn="l">
              <a:lnSpc>
                <a:spcPct val="115000"/>
              </a:lnSpc>
              <a:spcBef>
                <a:spcPts val="0"/>
              </a:spcBef>
              <a:spcAft>
                <a:spcPts val="0"/>
              </a:spcAft>
              <a:buClr>
                <a:schemeClr val="dk1"/>
              </a:buClr>
              <a:buSzPts val="1400"/>
              <a:buFont typeface="Roboto"/>
              <a:buChar char="●"/>
            </a:pPr>
            <a:r>
              <a:rPr lang="en-GB">
                <a:solidFill>
                  <a:schemeClr val="dk1"/>
                </a:solidFill>
                <a:latin typeface="Roboto"/>
                <a:ea typeface="Roboto"/>
                <a:cs typeface="Roboto"/>
                <a:sym typeface="Roboto"/>
              </a:rPr>
              <a:t>Terminal understood not feared</a:t>
            </a:r>
            <a:endParaRPr>
              <a:solidFill>
                <a:schemeClr val="dk1"/>
              </a:solidFill>
              <a:latin typeface="Roboto"/>
              <a:ea typeface="Roboto"/>
              <a:cs typeface="Roboto"/>
              <a:sym typeface="Roboto"/>
            </a:endParaRPr>
          </a:p>
          <a:p>
            <a:pPr indent="-317500" lvl="0" marL="457200" rtl="0" algn="l">
              <a:lnSpc>
                <a:spcPct val="115000"/>
              </a:lnSpc>
              <a:spcBef>
                <a:spcPts val="0"/>
              </a:spcBef>
              <a:spcAft>
                <a:spcPts val="0"/>
              </a:spcAft>
              <a:buClr>
                <a:schemeClr val="dk1"/>
              </a:buClr>
              <a:buSzPts val="1400"/>
              <a:buFont typeface="Roboto"/>
              <a:buChar char="●"/>
            </a:pPr>
            <a:r>
              <a:rPr lang="en-GB">
                <a:solidFill>
                  <a:schemeClr val="dk1"/>
                </a:solidFill>
                <a:latin typeface="Roboto"/>
                <a:ea typeface="Roboto"/>
                <a:cs typeface="Roboto"/>
                <a:sym typeface="Roboto"/>
              </a:rPr>
              <a:t>AI tools introduced and explored</a:t>
            </a:r>
            <a:endParaRPr>
              <a:solidFill>
                <a:schemeClr val="dk1"/>
              </a:solidFill>
              <a:latin typeface="Roboto"/>
              <a:ea typeface="Roboto"/>
              <a:cs typeface="Roboto"/>
              <a:sym typeface="Roboto"/>
            </a:endParaRPr>
          </a:p>
          <a:p>
            <a:pPr indent="-317500" lvl="0" marL="457200" rtl="0" algn="l">
              <a:lnSpc>
                <a:spcPct val="115000"/>
              </a:lnSpc>
              <a:spcBef>
                <a:spcPts val="0"/>
              </a:spcBef>
              <a:spcAft>
                <a:spcPts val="0"/>
              </a:spcAft>
              <a:buClr>
                <a:schemeClr val="dk1"/>
              </a:buClr>
              <a:buSzPts val="1400"/>
              <a:buFont typeface="Roboto"/>
              <a:buChar char="●"/>
            </a:pPr>
            <a:r>
              <a:rPr lang="en-GB">
                <a:solidFill>
                  <a:schemeClr val="dk1"/>
                </a:solidFill>
                <a:latin typeface="Roboto"/>
                <a:ea typeface="Roboto"/>
                <a:cs typeface="Roboto"/>
                <a:sym typeface="Roboto"/>
              </a:rPr>
              <a:t>Full workflow clear and connected</a:t>
            </a:r>
            <a:endParaRPr>
              <a:solidFill>
                <a:schemeClr val="dk1"/>
              </a:solidFill>
              <a:latin typeface="Roboto"/>
              <a:ea typeface="Roboto"/>
              <a:cs typeface="Roboto"/>
              <a:sym typeface="Roboto"/>
            </a:endParaRPr>
          </a:p>
          <a:p>
            <a:pPr indent="0" lvl="0" marL="0" rtl="0" algn="l">
              <a:spcBef>
                <a:spcPts val="1200"/>
              </a:spcBef>
              <a:spcAft>
                <a:spcPts val="0"/>
              </a:spcAft>
              <a:buNone/>
            </a:pPr>
            <a:r>
              <a:t/>
            </a:r>
            <a:endParaRPr i="1">
              <a:solidFill>
                <a:schemeClr val="dk1"/>
              </a:solidFill>
              <a:latin typeface="Roboto"/>
              <a:ea typeface="Roboto"/>
              <a:cs typeface="Roboto"/>
              <a:sym typeface="Roboto"/>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29"/>
          <p:cNvSpPr txBox="1"/>
          <p:nvPr>
            <p:ph type="title"/>
          </p:nvPr>
        </p:nvSpPr>
        <p:spPr>
          <a:xfrm>
            <a:off x="2308800" y="2285400"/>
            <a:ext cx="4526400" cy="5727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GB" sz="2400">
                <a:solidFill>
                  <a:srgbClr val="434343"/>
                </a:solidFill>
                <a:latin typeface="Roboto Light"/>
                <a:ea typeface="Roboto Light"/>
                <a:cs typeface="Roboto Light"/>
                <a:sym typeface="Roboto Light"/>
              </a:rPr>
              <a:t>Have Questions?</a:t>
            </a:r>
            <a:endParaRPr sz="2400">
              <a:solidFill>
                <a:srgbClr val="434343"/>
              </a:solidFill>
              <a:latin typeface="Roboto Light"/>
              <a:ea typeface="Roboto Light"/>
              <a:cs typeface="Roboto Light"/>
              <a:sym typeface="Roboto Light"/>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60" name="Shape 160"/>
        <p:cNvGrpSpPr/>
        <p:nvPr/>
      </p:nvGrpSpPr>
      <p:grpSpPr>
        <a:xfrm>
          <a:off x="0" y="0"/>
          <a:ext cx="0" cy="0"/>
          <a:chOff x="0" y="0"/>
          <a:chExt cx="0" cy="0"/>
        </a:xfrm>
      </p:grpSpPr>
      <p:pic>
        <p:nvPicPr>
          <p:cNvPr id="161" name="Google Shape;161;p30"/>
          <p:cNvPicPr preferRelativeResize="0"/>
          <p:nvPr/>
        </p:nvPicPr>
        <p:blipFill>
          <a:blip r:embed="rId3">
            <a:alphaModFix/>
          </a:blip>
          <a:stretch>
            <a:fillRect/>
          </a:stretch>
        </p:blipFill>
        <p:spPr>
          <a:xfrm>
            <a:off x="2738237" y="1911028"/>
            <a:ext cx="3667526" cy="132145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