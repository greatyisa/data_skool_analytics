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
      <p:font typeface="Roboto Medium"/>
      <p:regular r:id="rId34"/>
      <p:bold r:id="rId35"/>
      <p:italic r:id="rId36"/>
      <p:boldItalic r:id="rId37"/>
    </p:embeddedFont>
    <p:embeddedFont>
      <p:font typeface="Roboto Light"/>
      <p:regular r:id="rId38"/>
      <p:bold r:id="rId39"/>
      <p:italic r:id="rId40"/>
      <p:boldItalic r:id="rId41"/>
    </p:embeddedFont>
    <p:embeddedFont>
      <p:font typeface="Roboto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italic.fntdata"/><Relationship Id="rId20" Type="http://schemas.openxmlformats.org/officeDocument/2006/relationships/slide" Target="slides/slide15.xml"/><Relationship Id="rId42" Type="http://schemas.openxmlformats.org/officeDocument/2006/relationships/font" Target="fonts/RobotoMono-regular.fntdata"/><Relationship Id="rId41" Type="http://schemas.openxmlformats.org/officeDocument/2006/relationships/font" Target="fonts/RobotoLight-boldItalic.fntdata"/><Relationship Id="rId22" Type="http://schemas.openxmlformats.org/officeDocument/2006/relationships/slide" Target="slides/slide17.xml"/><Relationship Id="rId44" Type="http://schemas.openxmlformats.org/officeDocument/2006/relationships/font" Target="fonts/RobotoMono-italic.fntdata"/><Relationship Id="rId21" Type="http://schemas.openxmlformats.org/officeDocument/2006/relationships/slide" Target="slides/slide16.xml"/><Relationship Id="rId43" Type="http://schemas.openxmlformats.org/officeDocument/2006/relationships/font" Target="fonts/RobotoMono-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schemas.openxmlformats.org/officeDocument/2006/relationships/font" Target="fonts/RobotoMedium-bold.fntdata"/><Relationship Id="rId12" Type="http://schemas.openxmlformats.org/officeDocument/2006/relationships/slide" Target="slides/slide7.xml"/><Relationship Id="rId34" Type="http://schemas.openxmlformats.org/officeDocument/2006/relationships/font" Target="fonts/RobotoMedium-regular.fntdata"/><Relationship Id="rId15" Type="http://schemas.openxmlformats.org/officeDocument/2006/relationships/slide" Target="slides/slide10.xml"/><Relationship Id="rId37" Type="http://schemas.openxmlformats.org/officeDocument/2006/relationships/font" Target="fonts/RobotoMedium-boldItalic.fntdata"/><Relationship Id="rId14" Type="http://schemas.openxmlformats.org/officeDocument/2006/relationships/slide" Target="slides/slide9.xml"/><Relationship Id="rId36" Type="http://schemas.openxmlformats.org/officeDocument/2006/relationships/font" Target="fonts/RobotoMedium-italic.fntdata"/><Relationship Id="rId17" Type="http://schemas.openxmlformats.org/officeDocument/2006/relationships/slide" Target="slides/slide12.xml"/><Relationship Id="rId39" Type="http://schemas.openxmlformats.org/officeDocument/2006/relationships/font" Target="fonts/RobotoLight-bold.fntdata"/><Relationship Id="rId16" Type="http://schemas.openxmlformats.org/officeDocument/2006/relationships/slide" Target="slides/slide11.xml"/><Relationship Id="rId38" Type="http://schemas.openxmlformats.org/officeDocument/2006/relationships/font" Target="fonts/Roboto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utm_source=chatgpt.com" TargetMode="External"/><Relationship Id="rId3" Type="http://schemas.openxmlformats.org/officeDocument/2006/relationships/hyperlink" Target="https://github.com?utm_source=chatgpt.com"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9327ae3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9327ae3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Good [morning/afternoon/evening], everyone! My name is [Your Name], and I’m excited to be here with you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Today, we’re going to talk about something that’s all around us—statistics and mathematics.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Engaging the Audience: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Now, math and statistics aren’t just about numbers on a page. They help us understand patterns, make predictions, and solve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Some people find math fascinating and fun, while others might think it’s boring. And let’s be honest—it can feel that way if we don’t understand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Real-World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But think about this: math is everywhere!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sports, helping teams analyze player performance.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weather forecasts, predicting whether we need an umbrella tomorrow.</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even in the apps we use every day, from social media to online shopping.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Making Math Fun: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When we start seeing math as a tool for discovery, it becomes exciting. It’s like solving a puzzle, uncovering patterns, and making sense of the world.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when we understand it, it brings a smile to our faces! But if we don’t, it can be frustrating.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So, let’s embrace the challenge, explore the possibilities, and make this journey of learning math an enjoyable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fb6265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fb6265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Welcome everyone to the second session of Dataskools, and congratulations on continuing this exciting learning journey with 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first session, we explored the vision behind Data Engineering and AI Cloud and understood why these skills are shaping the future of technology.</a:t>
            </a:r>
            <a:br>
              <a:rPr lang="en-GB">
                <a:solidFill>
                  <a:schemeClr val="dk1"/>
                </a:solidFill>
              </a:rPr>
            </a:br>
            <a:r>
              <a:rPr lang="en-GB">
                <a:solidFill>
                  <a:schemeClr val="dk1"/>
                </a:solidFill>
              </a:rPr>
              <a:t>Today, we’ll move one step further and start understanding the complete structure of the program in detail.</a:t>
            </a:r>
            <a:br>
              <a:rPr lang="en-GB">
                <a:solidFill>
                  <a:schemeClr val="dk1"/>
                </a:solidFill>
              </a:rPr>
            </a:br>
            <a:r>
              <a:rPr lang="en-GB">
                <a:solidFill>
                  <a:schemeClr val="dk1"/>
                </a:solidFill>
              </a:rPr>
              <a:t>We’ll walk through the roadmap, learning tracks, projects, certifications, and the overall journey planned for you in the coming months.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session is designed to give you clarity on how the program is organized and how each module connects to real industry skills.</a:t>
            </a:r>
            <a:br>
              <a:rPr lang="en-GB">
                <a:solidFill>
                  <a:schemeClr val="dk1"/>
                </a:solidFill>
              </a:rPr>
            </a:br>
            <a:r>
              <a:rPr lang="en-GB">
                <a:solidFill>
                  <a:schemeClr val="dk1"/>
                </a:solidFill>
              </a:rPr>
              <a:t>You’ll also understand what technologies you’ll learn, how practical learning will happen, and what outcomes you can expect at every stage.</a:t>
            </a:r>
            <a:br>
              <a:rPr lang="en-GB">
                <a:solidFill>
                  <a:schemeClr val="dk1"/>
                </a:solidFill>
              </a:rPr>
            </a:br>
            <a:r>
              <a:rPr lang="en-GB">
                <a:solidFill>
                  <a:schemeClr val="dk1"/>
                </a:solidFill>
              </a:rPr>
              <a:t>Remember, every expert once started exactly where you are today — by learning the basics step by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don’t worry about mastering everything immediately; focus on consistency, curiosity, and active participation.</a:t>
            </a:r>
            <a:br>
              <a:rPr lang="en-GB">
                <a:solidFill>
                  <a:schemeClr val="dk1"/>
                </a:solidFill>
              </a:rPr>
            </a:br>
            <a:r>
              <a:rPr lang="en-GB">
                <a:solidFill>
                  <a:schemeClr val="dk1"/>
                </a:solidFill>
              </a:rPr>
              <a:t>Make the most of this opportunity by asking questions, engaging in discussions, and practicing regularly throughout the program.</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Let’s begin today’s session by exploring the complete program structure and understanding the exciting roadmap ahead.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90b9ecb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90b9ecb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Today marks the beginning of your professional toolkit journey. </a:t>
            </a:r>
            <a:br>
              <a:rPr lang="en-GB">
                <a:solidFill>
                  <a:schemeClr val="dk1"/>
                </a:solidFill>
              </a:rPr>
            </a:br>
            <a:r>
              <a:rPr lang="en-GB">
                <a:solidFill>
                  <a:schemeClr val="dk1"/>
                </a:solidFill>
              </a:rPr>
              <a:t>In the world of data and analytics, success doesn’t happen by chance — professionals prepare with the right setup from day one. </a:t>
            </a:r>
            <a:br>
              <a:rPr lang="en-GB">
                <a:solidFill>
                  <a:schemeClr val="dk1"/>
                </a:solidFill>
              </a:rPr>
            </a:br>
            <a:r>
              <a:rPr lang="en-GB">
                <a:solidFill>
                  <a:schemeClr val="dk1"/>
                </a:solidFill>
              </a:rPr>
              <a:t>The tools we are introducing are not just software applications; they are the foundation of your daily workflow. </a:t>
            </a:r>
            <a:br>
              <a:rPr lang="en-GB">
                <a:solidFill>
                  <a:schemeClr val="dk1"/>
                </a:solidFill>
              </a:rPr>
            </a:br>
            <a:r>
              <a:rPr lang="en-GB">
                <a:solidFill>
                  <a:schemeClr val="dk1"/>
                </a:solidFill>
              </a:rPr>
              <a:t>Each tool has a specific purpose, whether it’s coding, analysis, collaboration, or visualization.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Setting everything up properly today will save you time, confusion, and technical issues in the future. </a:t>
            </a:r>
            <a:br>
              <a:rPr lang="en-GB">
                <a:solidFill>
                  <a:schemeClr val="dk1"/>
                </a:solidFill>
              </a:rPr>
            </a:br>
            <a:r>
              <a:rPr lang="en-GB">
                <a:solidFill>
                  <a:schemeClr val="dk1"/>
                </a:solidFill>
              </a:rPr>
              <a:t>These are the same tools used by data teams and organizations across the world, </a:t>
            </a:r>
            <a:br>
              <a:rPr lang="en-GB">
                <a:solidFill>
                  <a:schemeClr val="dk1"/>
                </a:solidFill>
              </a:rPr>
            </a:br>
            <a:r>
              <a:rPr lang="en-GB">
                <a:solidFill>
                  <a:schemeClr val="dk1"/>
                </a:solidFill>
              </a:rPr>
              <a:t>so learning them early gives you a strong advantage. You’ll be using these platforms in almost every session, assignment, and project moving forward.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Think of this as building your workspace before starting the real work. A well-equipped professional is always more confident and efficient. By the end of today, no tool will be left behind, and everyone will be fully ready to begin the learning journey ahead.</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90b9ec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90b9ec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tech industry, how you work is just as important as the work you produce. </a:t>
            </a:r>
            <a:br>
              <a:rPr lang="en-GB">
                <a:solidFill>
                  <a:schemeClr val="dk1"/>
                </a:solidFill>
              </a:rPr>
            </a:br>
            <a:r>
              <a:rPr lang="en-GB">
                <a:solidFill>
                  <a:schemeClr val="dk1"/>
                </a:solidFill>
              </a:rPr>
              <a:t>The tools you use every day reflect your professional habits, discipline, and ability to collaborate with others. </a:t>
            </a:r>
            <a:br>
              <a:rPr lang="en-GB">
                <a:solidFill>
                  <a:schemeClr val="dk1"/>
                </a:solidFill>
              </a:rPr>
            </a:br>
            <a:r>
              <a:rPr lang="en-GB">
                <a:solidFill>
                  <a:schemeClr val="dk1"/>
                </a:solidFill>
              </a:rPr>
              <a:t>Employers don’t just evaluate technical skills — they also notice how effectively you communicate, organise tasks, and manage projects.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Good organisation is often what separates average professionals from exceptional ones. </a:t>
            </a:r>
            <a:br>
              <a:rPr lang="en-GB">
                <a:solidFill>
                  <a:schemeClr val="dk1"/>
                </a:solidFill>
              </a:rPr>
            </a:br>
            <a:r>
              <a:rPr lang="en-GB">
                <a:solidFill>
                  <a:schemeClr val="dk1"/>
                </a:solidFill>
              </a:rPr>
              <a:t>In today’s world, especially with remote and hybrid work environments, </a:t>
            </a:r>
            <a:br>
              <a:rPr lang="en-GB">
                <a:solidFill>
                  <a:schemeClr val="dk1"/>
                </a:solidFill>
              </a:rPr>
            </a:br>
            <a:r>
              <a:rPr lang="en-GB">
                <a:solidFill>
                  <a:schemeClr val="dk1"/>
                </a:solidFill>
              </a:rPr>
              <a:t>tools like Slack, Zoom, GitHub, and project management platforms have become essential for teamwork and productivity. </a:t>
            </a:r>
            <a:br>
              <a:rPr lang="en-GB">
                <a:solidFill>
                  <a:schemeClr val="dk1"/>
                </a:solidFill>
              </a:rPr>
            </a:br>
            <a:r>
              <a:rPr lang="en-GB">
                <a:solidFill>
                  <a:schemeClr val="dk1"/>
                </a:solidFill>
              </a:rPr>
              <a:t>In many cases, your first impression with a company or team happens through your communication on these platforms.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GitHub profile, for example, acts like a public portfolio that showcases your skills, projects, and consistency. The way you manage your digital workspace says a lot about your professionalism. By mastering these tools, you’re not just learning software — you’re learning how modern tech environments operate. And once you master the environment, you position yourself for long-term success in the industry.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90b9ecb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90b9ecb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Every successful tech professional relies on a strong daily workflow, and today </a:t>
            </a:r>
            <a:br>
              <a:rPr lang="en-GB">
                <a:solidFill>
                  <a:schemeClr val="dk1"/>
                </a:solidFill>
              </a:rPr>
            </a:br>
            <a:r>
              <a:rPr lang="en-GB">
                <a:solidFill>
                  <a:schemeClr val="dk1"/>
                </a:solidFill>
              </a:rPr>
              <a:t>you’ll be introduced to the five core tools that will support your learning journey. </a:t>
            </a:r>
            <a:br>
              <a:rPr lang="en-GB">
                <a:solidFill>
                  <a:schemeClr val="dk1"/>
                </a:solidFill>
              </a:rPr>
            </a:br>
            <a:r>
              <a:rPr lang="en-GB">
                <a:solidFill>
                  <a:schemeClr val="dk1"/>
                </a:solidFill>
              </a:rPr>
              <a:t>These tools are not separate systems — they work together to create an organised and efficient environment for communication, learning, scheduling, and project management.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Slack will become your daily communication hub where announcements, discussions, and collaboration happen in real time. Zoom will serve as your live classroom, connecting you to sessions, workshops, and interactive learning experiences. Google Calendar will help you manage your time, keep track of deadlines, and stay consistent with your schedule.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will act as your learning management system and coding portfolio, where you’ll store projects, submit work, and track your progress over time. Alongside these, maintaining well-organised folders and files will create a clean digital workspace that improves productivity and reduces confusion.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best part is that once these tools are properly set up, you’ll use them every single day with ease. Together, they form one connected workflow that mirrors how modern tech teams operate across the world.</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90b9ecb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90b9ecb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Slack will be one of the most important tools throughout your program, so setting it up properly from the beginning is essential. </a:t>
            </a:r>
            <a:br>
              <a:rPr lang="en-GB">
                <a:solidFill>
                  <a:schemeClr val="dk1"/>
                </a:solidFill>
              </a:rPr>
            </a:br>
            <a:r>
              <a:rPr lang="en-GB">
                <a:solidFill>
                  <a:schemeClr val="dk1"/>
                </a:solidFill>
              </a:rPr>
              <a:t>In many modern tech companies, Slack acts as the central communication platform where teams collaborate, share updates, solve problems, and stay connected every 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 by downloading Slack on both your desktop and mobile devices so you never miss important announcements or discussions. </a:t>
            </a:r>
            <a:br>
              <a:rPr lang="en-GB">
                <a:solidFill>
                  <a:schemeClr val="dk1"/>
                </a:solidFill>
              </a:rPr>
            </a:br>
            <a:r>
              <a:rPr lang="en-GB">
                <a:solidFill>
                  <a:schemeClr val="dk1"/>
                </a:solidFill>
              </a:rPr>
              <a:t>Make sure to use your full real name as your display name, as this helps trainers, mentors, and teammates identify you easily. </a:t>
            </a:r>
            <a:br>
              <a:rPr lang="en-GB">
                <a:solidFill>
                  <a:schemeClr val="dk1"/>
                </a:solidFill>
              </a:rPr>
            </a:br>
            <a:r>
              <a:rPr lang="en-GB">
                <a:solidFill>
                  <a:schemeClr val="dk1"/>
                </a:solidFill>
              </a:rPr>
              <a:t>Adding a clear and professional profile photo also creates a strong first impression and builds trust within the community.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soon as you receive access, join all the program channels relevant to your learning journey. </a:t>
            </a:r>
            <a:br>
              <a:rPr lang="en-GB">
                <a:solidFill>
                  <a:schemeClr val="dk1"/>
                </a:solidFill>
              </a:rPr>
            </a:br>
            <a:r>
              <a:rPr lang="en-GB">
                <a:solidFill>
                  <a:schemeClr val="dk1"/>
                </a:solidFill>
              </a:rPr>
              <a:t>These channels may include announcements, technical support, assignments, networking, and team collaboration spaces. </a:t>
            </a:r>
            <a:br>
              <a:rPr lang="en-GB">
                <a:solidFill>
                  <a:schemeClr val="dk1"/>
                </a:solidFill>
              </a:rPr>
            </a:br>
            <a:r>
              <a:rPr lang="en-GB">
                <a:solidFill>
                  <a:schemeClr val="dk1"/>
                </a:solidFill>
              </a:rPr>
              <a:t>Turning on notifications for important channels ensures that you stay updated on deadlines, session links, and important communication.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also a good habit to update your Slack status during live sessions, meetings, or focused work periods. </a:t>
            </a:r>
            <a:br>
              <a:rPr lang="en-GB">
                <a:solidFill>
                  <a:schemeClr val="dk1"/>
                </a:solidFill>
              </a:rPr>
            </a:br>
            <a:r>
              <a:rPr lang="en-GB">
                <a:solidFill>
                  <a:schemeClr val="dk1"/>
                </a:solidFill>
              </a:rPr>
              <a:t>Small professional habits like these reflect responsibility and communication skills. </a:t>
            </a:r>
            <a:br>
              <a:rPr lang="en-GB">
                <a:solidFill>
                  <a:schemeClr val="dk1"/>
                </a:solidFill>
              </a:rPr>
            </a:br>
            <a:r>
              <a:rPr lang="en-GB">
                <a:solidFill>
                  <a:schemeClr val="dk1"/>
                </a:solidFill>
              </a:rPr>
              <a:t>Remember, for many people in the program, Slack will be the very first place they interact with you — so treat it as your professional identity from day one.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3fe61a9d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3fe61a9d5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Using Slack effectively is more than just sending messages — </a:t>
            </a:r>
            <a:br>
              <a:rPr lang="en-GB">
                <a:solidFill>
                  <a:schemeClr val="dk1"/>
                </a:solidFill>
              </a:rPr>
            </a:br>
            <a:r>
              <a:rPr lang="en-GB">
                <a:solidFill>
                  <a:schemeClr val="dk1"/>
                </a:solidFill>
              </a:rPr>
              <a:t>it’s about communicating clearly and professionally. </a:t>
            </a:r>
            <a:br>
              <a:rPr lang="en-GB">
                <a:solidFill>
                  <a:schemeClr val="dk1"/>
                </a:solidFill>
              </a:rPr>
            </a:br>
            <a:r>
              <a:rPr lang="en-GB">
                <a:solidFill>
                  <a:schemeClr val="dk1"/>
                </a:solidFill>
              </a:rPr>
              <a:t>In fast-moving tech environments, organised communication helps teams stay productive and reduces confusion. </a:t>
            </a:r>
            <a:br>
              <a:rPr lang="en-GB">
                <a:solidFill>
                  <a:schemeClr val="dk1"/>
                </a:solidFill>
              </a:rPr>
            </a:br>
            <a:r>
              <a:rPr lang="en-GB">
                <a:solidFill>
                  <a:schemeClr val="dk1"/>
                </a:solidFill>
              </a:rPr>
              <a:t>That’s why learning how to navigate Slack properly is an important professional skill.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Channels are designed to keep conversations organised by topic, team, or project. </a:t>
            </a:r>
            <a:br>
              <a:rPr lang="en-GB">
                <a:solidFill>
                  <a:schemeClr val="dk1"/>
                </a:solidFill>
              </a:rPr>
            </a:br>
            <a:r>
              <a:rPr lang="en-GB">
                <a:solidFill>
                  <a:schemeClr val="dk1"/>
                </a:solidFill>
              </a:rPr>
              <a:t>Instead of posting everything in one place, each discussion belongs in the correct channel </a:t>
            </a:r>
            <a:br>
              <a:rPr lang="en-GB">
                <a:solidFill>
                  <a:schemeClr val="dk1"/>
                </a:solidFill>
              </a:rPr>
            </a:br>
            <a:r>
              <a:rPr lang="en-GB">
                <a:solidFill>
                  <a:schemeClr val="dk1"/>
                </a:solidFill>
              </a:rPr>
              <a:t>so information remains easy to follow. When replying to a message, </a:t>
            </a:r>
            <a:br>
              <a:rPr lang="en-GB">
                <a:solidFill>
                  <a:schemeClr val="dk1"/>
                </a:solidFill>
              </a:rPr>
            </a:br>
            <a:r>
              <a:rPr lang="en-GB">
                <a:solidFill>
                  <a:schemeClr val="dk1"/>
                </a:solidFill>
              </a:rPr>
              <a:t>using threads helps keep responses connected to the original conversation without cluttering the main chat.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Direct Messages, or DMs, are useful for private one-on-one communication when a discussion doesn’t need to happen publicly. </a:t>
            </a:r>
            <a:br>
              <a:rPr lang="en-GB">
                <a:solidFill>
                  <a:schemeClr val="dk1"/>
                </a:solidFill>
              </a:rPr>
            </a:br>
            <a:r>
              <a:rPr lang="en-GB">
                <a:solidFill>
                  <a:schemeClr val="dk1"/>
                </a:solidFill>
              </a:rPr>
              <a:t>Slack also allows you to pin important messages, making key updates, resources, or instructions easy to find later. </a:t>
            </a:r>
            <a:br>
              <a:rPr lang="en-GB">
                <a:solidFill>
                  <a:schemeClr val="dk1"/>
                </a:solidFill>
              </a:rPr>
            </a:br>
            <a:r>
              <a:rPr lang="en-GB">
                <a:solidFill>
                  <a:schemeClr val="dk1"/>
                </a:solidFill>
              </a:rPr>
              <a:t>Another powerful feature is the search function, which helps you quickly locate old messages, files, or shared links instead of endlessly scrolling.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Simple actions like reacting with emojis can also improve communication by acknowledging messages without creating unnecessary replies. </a:t>
            </a:r>
            <a:br>
              <a:rPr lang="en-GB">
                <a:solidFill>
                  <a:schemeClr val="dk1"/>
                </a:solidFill>
              </a:rPr>
            </a:br>
            <a:r>
              <a:rPr lang="en-GB">
                <a:solidFill>
                  <a:schemeClr val="dk1"/>
                </a:solidFill>
              </a:rPr>
              <a:t>Whether it’s a thumbs-up for confirmation or a checkmark for completion, these small habits make collaboration smoother. Most importantly, always maintain professionalism in your communication, because the way you interact online reflects your attitude, teamwork, and reliability in a professional environment.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90b9ecb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90b9ecb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Slack etiquette is more than just good manners — it reflects your professionalism, communication style, and respect for teamwork. In many modern workplaces, people form opinions about reliability and collaboration based on how someone communicates online. Simply put, how you show up on Slack is often how you show up professionally.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important habit is responding within a reasonable amount of time, especially when someone is waiting for information or confirmation. Timely communication shows accountability and keeps projects moving smoothly. In group channels, avoid one-word replies like “ok” or “done” without context, as they can create confusion and add unnecessary clutter to conversations.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Always use the correct channel for the correct topic so discussions remain organised and easy to follow. Public channels should never be used to share sensitive, personal, or confidential information. If a task or message has been assigned to you, acknowledge it with a reaction or a short reply so others know it has been seen.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Clear and concise communication is another essential skill. Well-structured messages save time, reduce misunderstandings, and make collaboration more efficient. Before sending a message, think about whether it is helpful, relevant, and respectful of other people’s attention. Small habits like these create a positive professional reputation and help build strong working relationships in any tech environment.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933d9ed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933d9ed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Zoom will be your virtual classroom throughout the program, so it’s important to approach it with the same seriousness and professionalism as an in-person environment. A proper setup helps you participate confidently, communicate clearly, and avoid technical issues during live sessions.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 by downloading the Zoom desktop application rather than relying only on the browser version, as the desktop app provides better performance and access to all features. Sign in using your program email so your attendance and participation can be tracked correctly. Your display name should always match your real name, making it easier for instructors and classmates to identify you during sessions.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Before every class or meeting, test your microphone, speakers, and webcam to ensure everything works properly. Technical delays can interrupt learning and waste valuable session time. Try to join sessions from a quiet and well-lit space where background noise and distractions are minimal. Using a clean or blurred background also helps maintain a professional appearance during video calls.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Another important habit is punctuality. Joining at least five minutes early gives you enough time to settle in, resolve technical issues, and prepare mentally before the session begins. Small habits like these create a smoother learning experience and reflect professionalism in a digital environment.</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90b9ecb3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90b9ecb3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Zoom may seem simple to use, but the right settings can dramatically improve your online learning </a:t>
            </a:r>
            <a:br>
              <a:rPr lang="en-GB">
                <a:solidFill>
                  <a:schemeClr val="dk1"/>
                </a:solidFill>
              </a:rPr>
            </a:br>
            <a:r>
              <a:rPr lang="en-GB">
                <a:solidFill>
                  <a:schemeClr val="dk1"/>
                </a:solidFill>
              </a:rPr>
              <a:t>and communication experience. Small adjustments can make your sessions more professional, reduce technical issues, and help you participate with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important setting to enable is HD video, which improves the clarity and quality of your camera during meetings. </a:t>
            </a:r>
            <a:br>
              <a:rPr lang="en-GB">
                <a:solidFill>
                  <a:schemeClr val="dk1"/>
                </a:solidFill>
              </a:rPr>
            </a:br>
            <a:r>
              <a:rPr lang="en-GB">
                <a:solidFill>
                  <a:schemeClr val="dk1"/>
                </a:solidFill>
              </a:rPr>
              <a:t>Clear video creates better engagement and helps instructors and teammates communicate more effectively. </a:t>
            </a:r>
            <a:br>
              <a:rPr lang="en-GB">
                <a:solidFill>
                  <a:schemeClr val="dk1"/>
                </a:solidFill>
              </a:rPr>
            </a:br>
            <a:r>
              <a:rPr lang="en-GB">
                <a:solidFill>
                  <a:schemeClr val="dk1"/>
                </a:solidFill>
              </a:rPr>
              <a:t>Another essential feature is background noise suppression, which filters out distractions like fans, traffic, or keyboard sounds to keep your audio clean and professional.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some situations, especially during presentations, music sharing, or advanced discussions, </a:t>
            </a:r>
            <a:br>
              <a:rPr lang="en-GB">
                <a:solidFill>
                  <a:schemeClr val="dk1"/>
                </a:solidFill>
              </a:rPr>
            </a:br>
            <a:r>
              <a:rPr lang="en-GB">
                <a:solidFill>
                  <a:schemeClr val="dk1"/>
                </a:solidFill>
              </a:rPr>
              <a:t>enabling “Original Sound” can improve audio quality by reducing Zoom’s automatic filtering. </a:t>
            </a:r>
            <a:br>
              <a:rPr lang="en-GB">
                <a:solidFill>
                  <a:schemeClr val="dk1"/>
                </a:solidFill>
              </a:rPr>
            </a:br>
            <a:r>
              <a:rPr lang="en-GB">
                <a:solidFill>
                  <a:schemeClr val="dk1"/>
                </a:solidFill>
              </a:rPr>
              <a:t>It’s also a smart habit to set Zoom to mute your microphone automatically when joining meetings, </a:t>
            </a:r>
            <a:br>
              <a:rPr lang="en-GB">
                <a:solidFill>
                  <a:schemeClr val="dk1"/>
                </a:solidFill>
              </a:rPr>
            </a:br>
            <a:r>
              <a:rPr lang="en-GB">
                <a:solidFill>
                  <a:schemeClr val="dk1"/>
                </a:solidFill>
              </a:rPr>
              <a:t>preventing accidental interruptions from background noise.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Virtual backgrounds are another useful feature that can create a cleaner and more professional appearance, </a:t>
            </a:r>
            <a:br>
              <a:rPr lang="en-GB">
                <a:solidFill>
                  <a:schemeClr val="dk1"/>
                </a:solidFill>
              </a:rPr>
            </a:br>
            <a:r>
              <a:rPr lang="en-GB">
                <a:solidFill>
                  <a:schemeClr val="dk1"/>
                </a:solidFill>
              </a:rPr>
              <a:t>especially if your surroundings are busy or distracting. </a:t>
            </a:r>
            <a:br>
              <a:rPr lang="en-GB">
                <a:solidFill>
                  <a:schemeClr val="dk1"/>
                </a:solidFill>
              </a:rPr>
            </a:br>
            <a:r>
              <a:rPr lang="en-GB">
                <a:solidFill>
                  <a:schemeClr val="dk1"/>
                </a:solidFill>
              </a:rPr>
              <a:t>Regularly testing your microphone and speakers ensures that your audio setup is always working correctly before important sessions begin.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always keep Zoom updated to the latest version. Updates often include performance improvements, </a:t>
            </a:r>
            <a:br>
              <a:rPr lang="en-GB">
                <a:solidFill>
                  <a:schemeClr val="dk1"/>
                </a:solidFill>
              </a:rPr>
            </a:br>
            <a:r>
              <a:rPr lang="en-GB">
                <a:solidFill>
                  <a:schemeClr val="dk1"/>
                </a:solidFill>
              </a:rPr>
              <a:t>security fixes, and new features that help meetings run more smoothly. </a:t>
            </a:r>
            <a:br>
              <a:rPr lang="en-GB">
                <a:solidFill>
                  <a:schemeClr val="dk1"/>
                </a:solidFill>
              </a:rPr>
            </a:br>
            <a:r>
              <a:rPr lang="en-GB">
                <a:solidFill>
                  <a:schemeClr val="dk1"/>
                </a:solidFill>
              </a:rPr>
              <a:t>These small settings may seem minor, but together they create a far better virtual classroom and collaboration experience.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e90b9ecb3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e90b9ecb3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virtual learning and remote work environments, your camera presence plays a major role in how others perceive you. Just like a handshake in a physical meeting, your appearance and behaviour on camera create an immediate professional impression. Being present and engaged on video shows respect, confidence, and commitment to the session.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most professional environments, keeping your camera on is considered the default expectation unless there is a specific reason not to. Position your camera at eye level rather than below your chin, as this creates a more natural and professional angle during conversations. Lighting also makes a big difference — always try to have the main light source in front of you instead of behind you so your face remains clearly visible.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clothing should match the professional environment you are part of. You do not need formal business attire every day, but dressing appropriately for sessions helps create the right mindset and demonstrates professionalism. Sitting upright, maintaining focus, and avoiding distractions also communicate that you are actively participating and paying attention.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During larger meetings or classes, it’s important to stay muted when not speaking to avoid background interruptions. At the same time, engagement should still be visible through attentive body language, facial expressions, and participation when appropriate. In online environments, people notice presence and professionalism just as much as they would in a physical room.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90b9ecb3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90b9ecb3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Google Calendar is more than just a scheduling app — it’s one of the most important tools for managing your time professionally. In fast-paced learning and work environments, staying organised is essential, and a well-maintained calendar helps you stay prepared, punctual, and in control of your responsibilities.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good first step is syncing your entire program schedule into Google Calendar as early as possible. Once your sessions, deadlines, and meetings are added, you can plan your weeks more effectively and avoid last-minute confusion. Setting reminders at least 15 minutes before each session gives you enough time to prepare, join meetings calmly, and avoid being late.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Using colour coding for different types of activities — such as classes, assignments, meetings, or personal study time — makes your calendar easier to read and manage at a glance. Sharing your calendar with a mentor or team lead can also improve coordination and accountability during collaborative projects or mentoring sessions.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most valuable habits is blocking dedicated deep work time every week. This creates uninterrupted periods for focused learning, coding, revision, or project work without distractions. Over time, consistent calendar management helps you avoid missed deadlines and reduce stress.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biggest lesson is simple: if something is important, put it on the calendar. Time management is not just a personal habit — it’s a core professional skill that directly impacts productivity, reliability, and long-term success.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fe61a9d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fe61a9d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well-managed calendar is one of the clearest signs of professionalism and reliability. When you keep your schedule organised and visible, you make collaboration smoother and build trust with mentors, teammates, and instructors. Transparency with your time shows that you take your responsibilities seriously and plan ahead effectively.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 by creating calendar events for every important session, assignment, meeting, and deadline. Instead of relying on memory, use your calendar as the single source of truth for your schedule. For important milestones such as project reviews or mentor check-ins, invite the relevant people directly so everyone stays aligned and informed.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Adding useful details inside event descriptions is another smart habit. Include Zoom links, meeting agendas, assignment notes, or preparation materials so everything you need is available in one place. For recurring classes or weekly sessions, set up repeating events to avoid creating the same schedule manually every week.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also important to respond to calendar invitations promptly by accepting or declining them. This helps others plan accurately and demonstrates professionalism and respect for shared schedules. Keeping your calendar updated in real time ensures that your availability always reflects your actual commitments.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professional environments, people often judge reliability based on how consistently someone manages their schedule. Your calendar is more than a planning tool — it reflects your discipline, organisation, and commitment to the work you do.</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90b9ecb3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90b9ecb3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most valuable professional habits you can develop is consistency. In learning environments and workplaces alike, reliable attendance and preparation often matter just as much as technical ability. Showing up regularly builds trust, discipline, and momentum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simple but effective strategy is to stack reminders using both email notifications and mobile push alerts. Multiple reminders reduce the chance of missing important sessions, especially during busy weeks. As soon as a new session, meeting, or deadline is announced, add it to your calendar immediately instead of waiting until later. Small delays in organisation often lead to forgotten commitments.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Another powerful habit is reviewing your upcoming schedule every Sunday evening. Taking a few minutes to plan your week helps you prepare mentally, identify conflicts early, and stay ahead of deadlines. If you know you cannot attend a session, communicate it as early as possible to mentors or instructors. Early communication reflects responsibility and respect for the team.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you ever miss a live session, make it a priority to catch up on the recording within the next 24 hours while the information is still fresh. Falling behind for several days can quickly make it difficult to keep pace with the program.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Attendance and participation are often tracked because consistency is considered a key professional behaviour. In any serious learning or work environment, showing up prepared and on time is not considered exceptional — it is the minimum standard expected from every professional.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90b9ecb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90b9ecb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is one of the most important platforms in the tech industry because </a:t>
            </a:r>
            <a:br>
              <a:rPr lang="en-GB">
                <a:solidFill>
                  <a:schemeClr val="dk1"/>
                </a:solidFill>
              </a:rPr>
            </a:br>
            <a:r>
              <a:rPr lang="en-GB">
                <a:solidFill>
                  <a:schemeClr val="dk1"/>
                </a:solidFill>
              </a:rPr>
              <a:t>it allows developers to store, manage, and collaborate on code and projects. </a:t>
            </a:r>
            <a:br>
              <a:rPr lang="en-GB">
                <a:solidFill>
                  <a:schemeClr val="dk1"/>
                </a:solidFill>
              </a:rPr>
            </a:br>
            <a:r>
              <a:rPr lang="en-GB">
                <a:solidFill>
                  <a:schemeClr val="dk1"/>
                </a:solidFill>
              </a:rPr>
              <a:t>It is the world’s largest code hosting platform and is used by millions of developers, companies, and open-source communities across the globe. </a:t>
            </a:r>
            <a:br>
              <a:rPr lang="en-GB">
                <a:solidFill>
                  <a:schemeClr val="dk1"/>
                </a:solidFill>
              </a:rPr>
            </a:br>
            <a:r>
              <a:rPr lang="en-GB">
                <a:solidFill>
                  <a:schemeClr val="dk1"/>
                </a:solidFill>
              </a:rPr>
              <a:t>In modern software development, GitHub is not just a tool — it is a core part of how teams build and maintain technology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your learning journey, your projects, assignments, and coding practice will live on GitHub. This means your progress becomes visible over time, creating a record of your skills and growth. Many employers and recruiters review GitHub profiles when evaluating candidates because it provides real examples of how someone works, writes code, and contributes to projects.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GitHub’s most powerful features is version control, which tracks every change made to a project. Instead of losing work or overwriting files, you can manage updates safely, revisit older versions, and collaborate efficiently with others. Teams around the world use GitHub every day to review code, discuss improvements, fix issues, and manage software projects together.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can think of GitHub as a combination of a workspace, collaboration platform, and professional portfolio. Every project you upload contributes to your professional identity in tech. That’s why learning how to use GitHub properly from the beginning is such an important step in becoming a modern developer or data professional.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933d9ed8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933d9ed8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Creating your GitHub account is an important milestone because this profile will become part of your professional identity in tech. Over time, it will showcase your projects, coding activity, collaboration, and learning journey. In many ways, your GitHub profile acts like a digital CV for the tech industry.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begin, visit</a:t>
            </a:r>
            <a:r>
              <a:rPr lang="en-GB">
                <a:solidFill>
                  <a:schemeClr val="dk1"/>
                </a:solidFill>
                <a:uFill>
                  <a:noFill/>
                </a:uFill>
                <a:hlinkClick r:id="rId2">
                  <a:extLst>
                    <a:ext uri="{A12FA001-AC4F-418D-AE19-62706E023703}">
                      <ahyp:hlinkClr val="tx"/>
                    </a:ext>
                  </a:extLst>
                </a:hlinkClick>
              </a:rPr>
              <a:t> </a:t>
            </a:r>
            <a:r>
              <a:rPr lang="en-GB" u="sng">
                <a:solidFill>
                  <a:schemeClr val="hlink"/>
                </a:solidFill>
                <a:hlinkClick r:id="rId3"/>
              </a:rPr>
              <a:t>GitHub</a:t>
            </a:r>
            <a:r>
              <a:rPr lang="en-GB">
                <a:solidFill>
                  <a:schemeClr val="dk1"/>
                </a:solidFill>
              </a:rPr>
              <a:t> and create your account using a professional email address. Choose a username carefully, because it may stay connected to your professional work for years. A good username is simple, clean, and easy to remember — ideally based on your real name or a professional variation of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Once your account is created, add a clear and professional profile photo. This helps mentors, instructors, recruiters, and collaborators recognise you easily. You should also write a short bio introducing yourself, your interests, or the area of tech you are learning. Even a simple introduction can make your profile feel complete and professional.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step that many beginners forget is verifying their email immediately after signing up. Verification unlocks important GitHub features and ensures your account works properly for project collaboration and submissions. Before your first session, spend some time exploring the interface so you become familiar with repositories, profiles, menus, and settings.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Remember, this account is not temporary — it may follow you throughout your entire career. The habits you build and the projects you share on GitHub can become valuable proof of your growth, consistency, and technical skills over time.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90b9ecb3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e90b9ecb3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will become the central hub for your entire learning journey. Instead of keeping projects and assignments scattered across different platforms, everything will be organised in one professional environment. From course materials to project submissions, GitHub helps create a structured workflow that mirrors how real tech teams operate.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the program, course materials and resources will often be shared through repositories, commonly called repos. These repositories act like project folders that contain code, notes, datasets, instructions, and other important files. Learning how to navigate and work inside repositories is a core skill you’ll use repeatedly.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All assignments and project submissions will also happen through GitHub. Rather than sending files manually, you’ll upload your work, track updates, and maintain a history of your progress directly on the platform. One of GitHub’s biggest advantages is its commit system, which records every meaningful change you make. This allows you to track your development over time and demonstrate consistent progress.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is also designed for collaboration. During group projects, team members can contribute code, review each other’s work, suggest improvements, and manage shared tasks together. If you encounter problems or get stuck, you can raise issues within a repository to ask questions, report bugs, or request help in an organised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using GitHub daily, you are not only learning how to code — you are also learning the workflow, communication, and collaboration practices used by professional development teams around the world.</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e90b9ecb3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e90b9ecb3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well-organised file structure is one of the simplest yet most powerful productivity habits you can develop. In data and tech environments, poor organisation quickly leads to lost files, confusion, duplicated work, and wasted time. Clean structure creates clarity, efficiency, and a more professional workflow.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 by creating one main folder for your entire program, such as a “Dataskool” folder, which will act as your central workspace. Inside that folder, create separate subfolders for each week, module, or topic so your learning materials stay organised and easy to navigate. As your projects grow, this structure will help you quickly locate assignments, datasets, and notes without searching through random files.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It’s also important to separate raw data from cleaned or processed data. Keeping original files untouched prevents accidental overwriting and allows you to return to the source data whenever needed. Similarly, project files and personal notes should be stored in separate folders to avoid clutter and confusion.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common mistake beginners make is saving everything directly to the desktop. While it may feel convenient in the moment, it quickly becomes disorganised and difficult to manage. Instead, store files inside your structured folders from the beginning. Regular backups to platforms like Google Drive also protect your work from accidental loss, device issues, or corruption.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Good organisation may seem like a small habit, but it saves hours of searching, reduces stress, and improves focus. In professional environments, strong file management is considered a core skill because organised systems lead to more efficient and reliable work.</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90b9ecb3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e90b9ecb3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Naming files properly may seem like a small detail, but it is a professional habit that can save enormous amounts of time and confusion in the future. In data and tech environments, clear file naming helps teams stay organised, collaborate efficiently, and quickly locate the correct version of a document or project.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A good practice is to use underscores instead of spaces in file names, such as </a:t>
            </a:r>
            <a:r>
              <a:rPr lang="en-GB">
                <a:solidFill>
                  <a:srgbClr val="188038"/>
                </a:solidFill>
                <a:latin typeface="Roboto Mono"/>
                <a:ea typeface="Roboto Mono"/>
                <a:cs typeface="Roboto Mono"/>
                <a:sym typeface="Roboto Mono"/>
              </a:rPr>
              <a:t>week1_notes</a:t>
            </a:r>
            <a:r>
              <a:rPr lang="en-GB">
                <a:solidFill>
                  <a:schemeClr val="dk1"/>
                </a:solidFill>
              </a:rPr>
              <a:t> rather than “Week 1 Notes.” This improves readability and avoids compatibility issues in certain systems or coding environments. Including dates when relevant is also extremely useful, especially for reports, datasets, or project updates. A format like </a:t>
            </a:r>
            <a:r>
              <a:rPr lang="en-GB">
                <a:solidFill>
                  <a:srgbClr val="188038"/>
                </a:solidFill>
                <a:latin typeface="Roboto Mono"/>
                <a:ea typeface="Roboto Mono"/>
                <a:cs typeface="Roboto Mono"/>
                <a:sym typeface="Roboto Mono"/>
              </a:rPr>
              <a:t>2024_01_15_project_update</a:t>
            </a:r>
            <a:r>
              <a:rPr lang="en-GB">
                <a:solidFill>
                  <a:schemeClr val="dk1"/>
                </a:solidFill>
              </a:rPr>
              <a:t> keeps files organised chronologically and easy to sort.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Your file names should be descriptive enough to explain the content clearly, while still remaining concise. Avoid vague names like “document” or “notes,” because they become difficult to identify later. Another common mistake is using confusing names like “final,” “final2,” or “actually_final.” These quickly create version confusion and make collaboration difficult.</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Consistency also matters. Using lowercase letters throughout your file structure creates a cleaner and more standardised system. If you need multiple versions of a file, simple labels such as </a:t>
            </a:r>
            <a:r>
              <a:rPr lang="en-GB">
                <a:solidFill>
                  <a:srgbClr val="188038"/>
                </a:solidFill>
                <a:latin typeface="Roboto Mono"/>
                <a:ea typeface="Roboto Mono"/>
                <a:cs typeface="Roboto Mono"/>
                <a:sym typeface="Roboto Mono"/>
              </a:rPr>
              <a:t>v1</a:t>
            </a:r>
            <a:r>
              <a:rPr lang="en-GB">
                <a:solidFill>
                  <a:schemeClr val="dk1"/>
                </a:solidFill>
              </a:rPr>
              <a:t>, </a:t>
            </a:r>
            <a:r>
              <a:rPr lang="en-GB">
                <a:solidFill>
                  <a:srgbClr val="188038"/>
                </a:solidFill>
                <a:latin typeface="Roboto Mono"/>
                <a:ea typeface="Roboto Mono"/>
                <a:cs typeface="Roboto Mono"/>
                <a:sym typeface="Roboto Mono"/>
              </a:rPr>
              <a:t>v2</a:t>
            </a:r>
            <a:r>
              <a:rPr lang="en-GB">
                <a:solidFill>
                  <a:schemeClr val="dk1"/>
                </a:solidFill>
              </a:rPr>
              <a:t>, or </a:t>
            </a:r>
            <a:r>
              <a:rPr lang="en-GB">
                <a:solidFill>
                  <a:srgbClr val="188038"/>
                </a:solidFill>
                <a:latin typeface="Roboto Mono"/>
                <a:ea typeface="Roboto Mono"/>
                <a:cs typeface="Roboto Mono"/>
                <a:sym typeface="Roboto Mono"/>
              </a:rPr>
              <a:t>v3</a:t>
            </a:r>
            <a:r>
              <a:rPr lang="en-GB">
                <a:solidFill>
                  <a:schemeClr val="dk1"/>
                </a:solidFill>
              </a:rPr>
              <a:t> provide clear version control without unnecessary clutter.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Strong file naming habits may not seem important on day one, but over time they become essential for productivity and organisation. When your projects grow larger and deadlines become tighter, your future self will be grateful for the structure and clarity you created early on.</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933d9ed8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933d9ed8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real power of these tools comes from how they work together as one connected system. In professional tech environments, productivity is not built around a single platform — it comes from creating a smooth workflow where communication, scheduling, collaboration, and organisation all connect seamlessly.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typical day might begin with your mentor posting an announcement or session update on Slack. </a:t>
            </a:r>
            <a:br>
              <a:rPr lang="en-GB">
                <a:solidFill>
                  <a:schemeClr val="dk1"/>
                </a:solidFill>
              </a:rPr>
            </a:br>
            <a:r>
              <a:rPr lang="en-GB">
                <a:solidFill>
                  <a:schemeClr val="dk1"/>
                </a:solidFill>
              </a:rPr>
              <a:t>From there, you check Google Calendar to confirm the timing, review reminders, and prepare for the session. </a:t>
            </a:r>
            <a:br>
              <a:rPr lang="en-GB">
                <a:solidFill>
                  <a:schemeClr val="dk1"/>
                </a:solidFill>
              </a:rPr>
            </a:br>
            <a:r>
              <a:rPr lang="en-GB">
                <a:solidFill>
                  <a:schemeClr val="dk1"/>
                </a:solidFill>
              </a:rPr>
              <a:t>At the scheduled time, you join the class or meeting using the Zoom link attached to the calendar invite or Slack message.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During the session, course materials, assignments, or datasets are often shared through GitHub repositories, </a:t>
            </a:r>
            <a:br>
              <a:rPr lang="en-GB">
                <a:solidFill>
                  <a:schemeClr val="dk1"/>
                </a:solidFill>
              </a:rPr>
            </a:br>
            <a:r>
              <a:rPr lang="en-GB">
                <a:solidFill>
                  <a:schemeClr val="dk1"/>
                </a:solidFill>
              </a:rPr>
              <a:t>where you can access files, review instructions, and submit your work. As you learn, your notes, screenshots, </a:t>
            </a:r>
            <a:br>
              <a:rPr lang="en-GB">
                <a:solidFill>
                  <a:schemeClr val="dk1"/>
                </a:solidFill>
              </a:rPr>
            </a:br>
            <a:r>
              <a:rPr lang="en-GB">
                <a:solidFill>
                  <a:schemeClr val="dk1"/>
                </a:solidFill>
              </a:rPr>
              <a:t>and project files should be saved inside your organised folder structure so everything remains easy to find later.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questions come up after the session, Slack becomes the place to continue discussions, ask for clarification, </a:t>
            </a:r>
            <a:br>
              <a:rPr lang="en-GB">
                <a:solidFill>
                  <a:schemeClr val="dk1"/>
                </a:solidFill>
              </a:rPr>
            </a:br>
            <a:r>
              <a:rPr lang="en-GB">
                <a:solidFill>
                  <a:schemeClr val="dk1"/>
                </a:solidFill>
              </a:rPr>
              <a:t>collaborate with classmates, or receive support from mentors. </a:t>
            </a:r>
            <a:br>
              <a:rPr lang="en-GB">
                <a:solidFill>
                  <a:schemeClr val="dk1"/>
                </a:solidFill>
              </a:rPr>
            </a:br>
            <a:r>
              <a:rPr lang="en-GB">
                <a:solidFill>
                  <a:schemeClr val="dk1"/>
                </a:solidFill>
              </a:rPr>
              <a:t>This cycle repeats every day, creating a structured and efficient learning rhythm that mirrors how real-world tech teams operate.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Once these habits become routine, the tools stop feeling separate and start functioning as one seamless professional workflow. Mastering this rhythm early will help you become more organised, reliable, and confident throughout your learning journey and future career.</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90b9ecb3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90b9ecb3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Before finishing today, make sure every part of your professional setup is fully complete. </a:t>
            </a:r>
            <a:br>
              <a:rPr lang="en-GB">
                <a:solidFill>
                  <a:schemeClr val="dk1"/>
                </a:solidFill>
              </a:rPr>
            </a:br>
            <a:r>
              <a:rPr lang="en-GB">
                <a:solidFill>
                  <a:schemeClr val="dk1"/>
                </a:solidFill>
              </a:rPr>
              <a:t>Taking the time to organise everything properly now will make the rest of your learning journey smoother, </a:t>
            </a:r>
            <a:br>
              <a:rPr lang="en-GB">
                <a:solidFill>
                  <a:schemeClr val="dk1"/>
                </a:solidFill>
              </a:rPr>
            </a:br>
            <a:r>
              <a:rPr lang="en-GB">
                <a:solidFill>
                  <a:schemeClr val="dk1"/>
                </a:solidFill>
              </a:rPr>
              <a:t>more efficient, and far less stressful. A strong setup is the foundation for consistent success throughout the program.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 by confirming that Slack is downloaded on both your desktop and mobile devices, </a:t>
            </a:r>
            <a:br>
              <a:rPr lang="en-GB">
                <a:solidFill>
                  <a:schemeClr val="dk1"/>
                </a:solidFill>
              </a:rPr>
            </a:br>
            <a:r>
              <a:rPr lang="en-GB">
                <a:solidFill>
                  <a:schemeClr val="dk1"/>
                </a:solidFill>
              </a:rPr>
              <a:t>and that your profile is complete with your real name and a professional photo. </a:t>
            </a:r>
            <a:br>
              <a:rPr lang="en-GB">
                <a:solidFill>
                  <a:schemeClr val="dk1"/>
                </a:solidFill>
              </a:rPr>
            </a:br>
            <a:r>
              <a:rPr lang="en-GB">
                <a:solidFill>
                  <a:schemeClr val="dk1"/>
                </a:solidFill>
              </a:rPr>
              <a:t>Make sure you have joined all required channels so you don’t miss important communication or updates.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Next, ensure Zoom is installed correctly and your settings are configured for </a:t>
            </a:r>
            <a:br>
              <a:rPr lang="en-GB">
                <a:solidFill>
                  <a:schemeClr val="dk1"/>
                </a:solidFill>
              </a:rPr>
            </a:br>
            <a:r>
              <a:rPr lang="en-GB">
                <a:solidFill>
                  <a:schemeClr val="dk1"/>
                </a:solidFill>
              </a:rPr>
              <a:t>professional online sessions. Test your microphone, speakers, camera, and </a:t>
            </a:r>
            <a:br>
              <a:rPr lang="en-GB">
                <a:solidFill>
                  <a:schemeClr val="dk1"/>
                </a:solidFill>
              </a:rPr>
            </a:br>
            <a:r>
              <a:rPr lang="en-GB">
                <a:solidFill>
                  <a:schemeClr val="dk1"/>
                </a:solidFill>
              </a:rPr>
              <a:t>background settings so you are fully prepared for live classes and meetings.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Google Calendar should already be synced with the full program schedule, </a:t>
            </a:r>
            <a:br>
              <a:rPr lang="en-GB">
                <a:solidFill>
                  <a:schemeClr val="dk1"/>
                </a:solidFill>
              </a:rPr>
            </a:br>
            <a:r>
              <a:rPr lang="en-GB">
                <a:solidFill>
                  <a:schemeClr val="dk1"/>
                </a:solidFill>
              </a:rPr>
              <a:t>including reminders for sessions, assignments, and important milestones. </a:t>
            </a:r>
            <a:br>
              <a:rPr lang="en-GB">
                <a:solidFill>
                  <a:schemeClr val="dk1"/>
                </a:solidFill>
              </a:rPr>
            </a:br>
            <a:r>
              <a:rPr lang="en-GB">
                <a:solidFill>
                  <a:schemeClr val="dk1"/>
                </a:solidFill>
              </a:rPr>
              <a:t>This will help you stay organised and avoid missing deadlines or classes.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should also confirm that your GitHub account has been created, your email is verified, </a:t>
            </a:r>
            <a:br>
              <a:rPr lang="en-GB">
                <a:solidFill>
                  <a:schemeClr val="dk1"/>
                </a:solidFill>
              </a:rPr>
            </a:br>
            <a:r>
              <a:rPr lang="en-GB">
                <a:solidFill>
                  <a:schemeClr val="dk1"/>
                </a:solidFill>
              </a:rPr>
              <a:t>and your profile is properly set up. Since all submissions and projects will flow through GitHub, getting comfortable with the platform early is extremely important.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create your folder structure on your device so your files, notes, datasets, and projects are organised from day one. Once all of these steps are complete, you are no longer just preparing to start — you are officially set up, connected, and ready to begin your journey like a professional.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9350c3f8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e9350c3f8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Today was not just about downloading apps or creating accounts — it was about building the foundation for how you will learn, communicate, collaborate, and grow throughout this journey. The tools are now in place, and with the right habits, they will support you every single day moving forward.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 now have everything you need to begin confidently. </a:t>
            </a:r>
            <a:br>
              <a:rPr lang="en-GB">
                <a:solidFill>
                  <a:schemeClr val="dk1"/>
                </a:solidFill>
              </a:rPr>
            </a:br>
            <a:r>
              <a:rPr lang="en-GB">
                <a:solidFill>
                  <a:schemeClr val="dk1"/>
                </a:solidFill>
              </a:rPr>
              <a:t>Each tool has a clear purpose, and learning to use them consistently will help you develop the organisation, </a:t>
            </a:r>
            <a:br>
              <a:rPr lang="en-GB">
                <a:solidFill>
                  <a:schemeClr val="dk1"/>
                </a:solidFill>
              </a:rPr>
            </a:br>
            <a:r>
              <a:rPr lang="en-GB">
                <a:solidFill>
                  <a:schemeClr val="dk1"/>
                </a:solidFill>
              </a:rPr>
              <a:t>discipline, and professionalism expected in modern tech environments. The small habits you build now — </a:t>
            </a:r>
            <a:br>
              <a:rPr lang="en-GB">
                <a:solidFill>
                  <a:schemeClr val="dk1"/>
                </a:solidFill>
              </a:rPr>
            </a:br>
            <a:r>
              <a:rPr lang="en-GB">
                <a:solidFill>
                  <a:schemeClr val="dk1"/>
                </a:solidFill>
              </a:rPr>
              <a:t>checking Slack regularly, managing your calendar, organising files, and updating GitHub — will become the routines that support your long-term success.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Remember that you are not learning alone. </a:t>
            </a:r>
            <a:br>
              <a:rPr lang="en-GB">
                <a:solidFill>
                  <a:schemeClr val="dk1"/>
                </a:solidFill>
              </a:rPr>
            </a:br>
            <a:r>
              <a:rPr lang="en-GB">
                <a:solidFill>
                  <a:schemeClr val="dk1"/>
                </a:solidFill>
              </a:rPr>
              <a:t>Your mentors, instructors, and classmates are only one Slack message away </a:t>
            </a:r>
            <a:br>
              <a:rPr lang="en-GB">
                <a:solidFill>
                  <a:schemeClr val="dk1"/>
                </a:solidFill>
              </a:rPr>
            </a:br>
            <a:r>
              <a:rPr lang="en-GB">
                <a:solidFill>
                  <a:schemeClr val="dk1"/>
                </a:solidFill>
              </a:rPr>
              <a:t>whenever you need guidance or support. Ask questions, stay engaged, and make full use of the community around you.</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Most importantly, don’t wait for the “perfect time” to begin. Day one starts now, not tomorrow. </a:t>
            </a:r>
            <a:br>
              <a:rPr lang="en-GB">
                <a:solidFill>
                  <a:schemeClr val="dk1"/>
                </a:solidFill>
              </a:rPr>
            </a:br>
            <a:r>
              <a:rPr lang="en-GB">
                <a:solidFill>
                  <a:schemeClr val="dk1"/>
                </a:solidFill>
              </a:rPr>
              <a:t>Show up consistently, stay organised, keep learning, and trust the process even when things feel challenging. </a:t>
            </a:r>
            <a:br>
              <a:rPr lang="en-GB">
                <a:solidFill>
                  <a:schemeClr val="dk1"/>
                </a:solidFill>
              </a:rPr>
            </a:br>
            <a:r>
              <a:rPr lang="en-GB">
                <a:solidFill>
                  <a:schemeClr val="dk1"/>
                </a:solidFill>
              </a:rPr>
              <a:t>Progress in tech is built through steady effort and continuous practice.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Welcome to Dataskool. This is the beginning of your professional journey, and from here onward, </a:t>
            </a:r>
            <a:br>
              <a:rPr lang="en-GB">
                <a:solidFill>
                  <a:schemeClr val="dk1"/>
                </a:solidFill>
              </a:rPr>
            </a:br>
            <a:r>
              <a:rPr lang="en-GB">
                <a:solidFill>
                  <a:schemeClr val="dk1"/>
                </a:solidFill>
              </a:rPr>
              <a:t>you are building skills, habits, and experiences that can shape your future career.</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4d2827b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4d2827b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e9327ae3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e9327ae3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21632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solidFill>
                  <a:srgbClr val="434343"/>
                </a:solidFill>
                <a:latin typeface="Roboto"/>
                <a:ea typeface="Roboto"/>
                <a:cs typeface="Roboto"/>
                <a:sym typeface="Roboto"/>
              </a:rPr>
              <a:t>Tools Setup </a:t>
            </a:r>
            <a:endParaRPr>
              <a:solidFill>
                <a:srgbClr val="434343"/>
              </a:solidFill>
              <a:latin typeface="Roboto"/>
              <a:ea typeface="Roboto"/>
              <a:cs typeface="Roboto"/>
              <a:sym typeface="Roboto"/>
            </a:endParaRPr>
          </a:p>
        </p:txBody>
      </p:sp>
      <p:pic>
        <p:nvPicPr>
          <p:cNvPr id="55" name="Google Shape;55;p13"/>
          <p:cNvPicPr preferRelativeResize="0"/>
          <p:nvPr/>
        </p:nvPicPr>
        <p:blipFill>
          <a:blip r:embed="rId3">
            <a:alphaModFix/>
          </a:blip>
          <a:stretch>
            <a:fillRect/>
          </a:stretch>
        </p:blipFill>
        <p:spPr>
          <a:xfrm>
            <a:off x="6266700" y="2089288"/>
            <a:ext cx="1078775" cy="964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2564250" y="1809800"/>
            <a:ext cx="4015500" cy="164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Communication Tools</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Learning Platform</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Workspace Setup</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Daily Workflow</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t/>
            </a:r>
            <a:endParaRPr sz="2400">
              <a:solidFill>
                <a:srgbClr val="595959"/>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Professionals don't wing it — they set up right.</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Tools are your first test of professionalism</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Every tool has a specific purpose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Setup today means smooth sailing tomorrow</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Used by data teams across the world</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You'll use these every single session</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No tool left behind</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Let's get you fully equipped</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sz="1400">
              <a:solidFill>
                <a:srgbClr val="434343"/>
              </a:solidFill>
              <a:latin typeface="Roboto"/>
              <a:ea typeface="Roboto"/>
              <a:cs typeface="Roboto"/>
              <a:sym typeface="Roboto"/>
            </a:endParaRPr>
          </a:p>
        </p:txBody>
      </p:sp>
      <p:sp>
        <p:nvSpPr>
          <p:cNvPr id="66" name="Google Shape;66;p15"/>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Your Toolkit Starts Today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In tech, how you work is as important as what you do.</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Tools reflect your professional habits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Employers notice how you communicate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Organisation separates good from great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Remote work runs on these tools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First impressions happen in Slack and Zoom</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Your GitHub is your public portfolio</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Master the tools, master the environment</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72" name="Google Shape;72;p16"/>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Why Tools Matter in Tech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Five tools. One powerful workflow.</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Slack — your daily communication hub</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Zoom — your live classroom</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Google Calendar — your time manager</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GitHub — your learning management system</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Folders &amp; Files — your digital workspace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All connected, all essential</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Set up once, use every day</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latin typeface="Roboto"/>
              <a:ea typeface="Roboto"/>
              <a:cs typeface="Roboto"/>
              <a:sym typeface="Roboto"/>
            </a:endParaRPr>
          </a:p>
        </p:txBody>
      </p:sp>
      <p:sp>
        <p:nvSpPr>
          <p:cNvPr id="78" name="Google Shape;78;p17"/>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Overview of Your Daily Tools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Your program runs on Slack — take it seriously.</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Download Slack on desktop and mobile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Use your full real name as display name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Add a clear professional profile photo</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Join all program channels immediately</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Turn on notifications for key channels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Set your status when in sessions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This is your first impression</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sp>
        <p:nvSpPr>
          <p:cNvPr id="84" name="Google Shape;84;p18"/>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Setting Up Slack </a:t>
            </a:r>
            <a:endParaRPr>
              <a:solidFill>
                <a:srgbClr val="434343"/>
              </a:solidFill>
              <a:latin typeface="Roboto Medium"/>
              <a:ea typeface="Roboto Medium"/>
              <a:cs typeface="Roboto Medium"/>
              <a:sym typeface="Roboto Medium"/>
            </a:endParaRPr>
          </a:p>
        </p:txBody>
      </p:sp>
      <p:pic>
        <p:nvPicPr>
          <p:cNvPr id="85" name="Google Shape;85;p18"/>
          <p:cNvPicPr preferRelativeResize="0"/>
          <p:nvPr/>
        </p:nvPicPr>
        <p:blipFill>
          <a:blip r:embed="rId3">
            <a:alphaModFix/>
          </a:blip>
          <a:stretch>
            <a:fillRect/>
          </a:stretch>
        </p:blipFill>
        <p:spPr>
          <a:xfrm>
            <a:off x="4958800" y="1229600"/>
            <a:ext cx="2807975" cy="285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Navigating Slack Like a Pro </a:t>
            </a:r>
            <a:endParaRPr>
              <a:solidFill>
                <a:srgbClr val="434343"/>
              </a:solidFill>
              <a:latin typeface="Roboto Medium"/>
              <a:ea typeface="Roboto Medium"/>
              <a:cs typeface="Roboto Medium"/>
              <a:sym typeface="Roboto Medium"/>
            </a:endParaRPr>
          </a:p>
        </p:txBody>
      </p:sp>
      <p:sp>
        <p:nvSpPr>
          <p:cNvPr id="91" name="Google Shape;91;p19"/>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Stop scrolling. Start communicating with purpose.</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Channels keep conversations organised</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Use threads to reply in context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DM for private one-on-one messages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Pin important messages for quick access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Use search to find anything fast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React with emojis to acknowledge messages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Keep it professional, always</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solidFill>
                  <a:srgbClr val="434343"/>
                </a:solidFill>
                <a:latin typeface="Roboto Medium"/>
                <a:ea typeface="Roboto Medium"/>
                <a:cs typeface="Roboto Medium"/>
                <a:sym typeface="Roboto Medium"/>
              </a:rPr>
              <a:t>Slack Etiquette &amp; Best Practices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39286"/>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
        <p:nvSpPr>
          <p:cNvPr id="97" name="Google Shape;97;p20"/>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How you show up on Slack is how you show up.</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Respond within a reasonable time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No one-word replies in group channels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Use the right channel for the right message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Never share sensitive info in public channels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Acknowledge tasks with a reaction or reply</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Be clear and concise in every message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Respect others' time and attention</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Setting Up Zoom </a:t>
            </a:r>
            <a:endParaRPr>
              <a:solidFill>
                <a:srgbClr val="434343"/>
              </a:solidFill>
              <a:latin typeface="Roboto Medium"/>
              <a:ea typeface="Roboto Medium"/>
              <a:cs typeface="Roboto Medium"/>
              <a:sym typeface="Roboto Medium"/>
            </a:endParaRPr>
          </a:p>
        </p:txBody>
      </p:sp>
      <p:sp>
        <p:nvSpPr>
          <p:cNvPr id="103" name="Google Shape;103;p21"/>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Your classroom is digital — treat it like a real one.</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Download Zoom desktop app</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Sign in with your program email</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Set your display name to your real name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Test your audio and video before sessions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Choose a quiet, well-lit environment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Use a clean or blurred background</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Be ready 5 minutes before every session</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Zoom Settings You Must Know </a:t>
            </a:r>
            <a:endParaRPr>
              <a:solidFill>
                <a:srgbClr val="434343"/>
              </a:solidFill>
              <a:latin typeface="Roboto Medium"/>
              <a:ea typeface="Roboto Medium"/>
              <a:cs typeface="Roboto Medium"/>
              <a:sym typeface="Roboto Medium"/>
            </a:endParaRPr>
          </a:p>
        </p:txBody>
      </p:sp>
      <p:sp>
        <p:nvSpPr>
          <p:cNvPr id="109" name="Google Shape;109;p22"/>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10" name="Google Shape;110;p22"/>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Small settings. Big difference.</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Enable HD video in settings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Suppress background noise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Turn on original sound if needed</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Set default to mute on entry</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Enable virtual background option</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Test speaker and microphone regularly</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Keep Zoom updated at all times</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1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Being Professional on Camera </a:t>
            </a:r>
            <a:endParaRPr>
              <a:solidFill>
                <a:srgbClr val="434343"/>
              </a:solidFill>
              <a:latin typeface="Roboto Medium"/>
              <a:ea typeface="Roboto Medium"/>
              <a:cs typeface="Roboto Medium"/>
              <a:sym typeface="Roboto Medium"/>
            </a:endParaRPr>
          </a:p>
        </p:txBody>
      </p:sp>
      <p:sp>
        <p:nvSpPr>
          <p:cNvPr id="116" name="Google Shape;116;p2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17" name="Google Shape;117;p23"/>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sz="1400">
                <a:solidFill>
                  <a:schemeClr val="dk1"/>
                </a:solidFill>
                <a:latin typeface="Roboto"/>
                <a:ea typeface="Roboto"/>
                <a:cs typeface="Roboto"/>
                <a:sym typeface="Roboto"/>
              </a:rPr>
              <a:t>Your camera is your handshake.</a:t>
            </a:r>
            <a:endParaRPr i="1"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Camera on is the default, not optional</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Eye level camera, not below chin</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Light source in front, not behind</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Dress as you would for the office</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Sit up straight and stay present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Mute when not speaking in large calls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Engagement is visible on screen</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i="1" sz="1400">
              <a:solidFill>
                <a:schemeClr val="dk1"/>
              </a:solidFill>
              <a:latin typeface="Roboto"/>
              <a:ea typeface="Roboto"/>
              <a:cs typeface="Roboto"/>
              <a:sym typeface="Roboto"/>
            </a:endParaRPr>
          </a:p>
        </p:txBody>
      </p:sp>
      <p:pic>
        <p:nvPicPr>
          <p:cNvPr id="118" name="Google Shape;118;p23"/>
          <p:cNvPicPr preferRelativeResize="0"/>
          <p:nvPr/>
        </p:nvPicPr>
        <p:blipFill>
          <a:blip r:embed="rId3">
            <a:alphaModFix/>
          </a:blip>
          <a:stretch>
            <a:fillRect/>
          </a:stretch>
        </p:blipFill>
        <p:spPr>
          <a:xfrm>
            <a:off x="5554074" y="1535500"/>
            <a:ext cx="2284425" cy="2072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Google Calendar — Your Time Boss </a:t>
            </a:r>
            <a:endParaRPr>
              <a:solidFill>
                <a:srgbClr val="434343"/>
              </a:solidFill>
              <a:latin typeface="Roboto Medium"/>
              <a:ea typeface="Roboto Medium"/>
              <a:cs typeface="Roboto Medium"/>
              <a:sym typeface="Roboto Medium"/>
            </a:endParaRPr>
          </a:p>
        </p:txBody>
      </p:sp>
      <p:sp>
        <p:nvSpPr>
          <p:cNvPr id="124" name="Google Shape;124;p24"/>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GB">
                <a:solidFill>
                  <a:schemeClr val="dk1"/>
                </a:solidFill>
                <a:latin typeface="Roboto"/>
                <a:ea typeface="Roboto"/>
                <a:cs typeface="Roboto"/>
                <a:sym typeface="Roboto"/>
              </a:rPr>
              <a:t>If it's not on the calendar, it doesn't exist.</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Sync your program schedule immediately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Set reminders 15 minutes before sessions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Colour code by session type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Share your calendar with your mentor</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Block deep work time every week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Never miss a deadline again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Time management is a professional skill</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25" name="Google Shape;125;p24"/>
          <p:cNvPicPr preferRelativeResize="0"/>
          <p:nvPr/>
        </p:nvPicPr>
        <p:blipFill>
          <a:blip r:embed="rId3">
            <a:alphaModFix/>
          </a:blip>
          <a:stretch>
            <a:fillRect/>
          </a:stretch>
        </p:blipFill>
        <p:spPr>
          <a:xfrm>
            <a:off x="5689400" y="2370675"/>
            <a:ext cx="2781226" cy="1887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Scheduling &amp; Sharing Your Calendar </a:t>
            </a:r>
            <a:endParaRPr>
              <a:solidFill>
                <a:srgbClr val="434343"/>
              </a:solidFill>
              <a:latin typeface="Roboto Medium"/>
              <a:ea typeface="Roboto Medium"/>
              <a:cs typeface="Roboto Medium"/>
              <a:sym typeface="Roboto Medium"/>
            </a:endParaRPr>
          </a:p>
        </p:txBody>
      </p:sp>
      <p:sp>
        <p:nvSpPr>
          <p:cNvPr id="131" name="Google Shape;131;p25"/>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rPr>
              <a:t>Transparency with your time builds trust.</a:t>
            </a:r>
            <a:endParaRPr i="1">
              <a:solidFill>
                <a:schemeClr val="dk1"/>
              </a:solidFill>
            </a:endParaRPr>
          </a:p>
          <a:p>
            <a:pPr indent="-317500" lvl="0" marL="457200" rtl="0" algn="l">
              <a:lnSpc>
                <a:spcPct val="115000"/>
              </a:lnSpc>
              <a:spcBef>
                <a:spcPts val="1200"/>
              </a:spcBef>
              <a:spcAft>
                <a:spcPts val="0"/>
              </a:spcAft>
              <a:buClr>
                <a:schemeClr val="dk1"/>
              </a:buClr>
              <a:buSzPts val="1400"/>
              <a:buChar char="●"/>
            </a:pPr>
            <a:r>
              <a:rPr lang="en-GB">
                <a:solidFill>
                  <a:schemeClr val="dk1"/>
                </a:solidFill>
              </a:rPr>
              <a:t>Create events for every session and deadline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Invite mentors to key milestones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Use event descriptions for session links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Set recurring events for weekly sessions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Accept or decline invites promptly</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Keep your calendar updated in real time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Your calendar reflects your commitment</a:t>
            </a:r>
            <a:endParaRPr>
              <a:solidFill>
                <a:schemeClr val="dk1"/>
              </a:solidFill>
            </a:endParaRPr>
          </a:p>
          <a:p>
            <a:pPr indent="0" lvl="0" marL="0" rtl="0" algn="l">
              <a:spcBef>
                <a:spcPts val="1200"/>
              </a:spcBef>
              <a:spcAft>
                <a:spcPts val="0"/>
              </a:spcAft>
              <a:buNone/>
            </a:pPr>
            <a:r>
              <a:t/>
            </a:r>
            <a:endParaRPr i="1">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Never Miss a Session Again </a:t>
            </a:r>
            <a:endParaRPr>
              <a:solidFill>
                <a:srgbClr val="434343"/>
              </a:solidFill>
              <a:latin typeface="Roboto Medium"/>
              <a:ea typeface="Roboto Medium"/>
              <a:cs typeface="Roboto Medium"/>
              <a:sym typeface="Roboto Medium"/>
            </a:endParaRPr>
          </a:p>
        </p:txBody>
      </p:sp>
      <p:sp>
        <p:nvSpPr>
          <p:cNvPr id="137" name="Google Shape;137;p26"/>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pic>
        <p:nvPicPr>
          <p:cNvPr id="138" name="Google Shape;138;p26"/>
          <p:cNvPicPr preferRelativeResize="0"/>
          <p:nvPr/>
        </p:nvPicPr>
        <p:blipFill>
          <a:blip r:embed="rId3">
            <a:alphaModFix/>
          </a:blip>
          <a:stretch>
            <a:fillRect/>
          </a:stretch>
        </p:blipFill>
        <p:spPr>
          <a:xfrm>
            <a:off x="5940400" y="2440822"/>
            <a:ext cx="2353000" cy="2374525"/>
          </a:xfrm>
          <a:prstGeom prst="rect">
            <a:avLst/>
          </a:prstGeom>
          <a:noFill/>
          <a:ln>
            <a:noFill/>
          </a:ln>
        </p:spPr>
      </p:pic>
      <p:sp>
        <p:nvSpPr>
          <p:cNvPr id="139" name="Google Shape;139;p26"/>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Consistency is the skill nobody teaches.</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Stack reminders — email and push notifications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Add sessions the moment they're announced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Review your week every Sunday evening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Communicate early if you can't attend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Catch up on recordings within 24 hours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Attendance is tracked and it matters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Showing up is the minimum standard</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GitHub? </a:t>
            </a:r>
            <a:endParaRPr>
              <a:solidFill>
                <a:srgbClr val="434343"/>
              </a:solidFill>
              <a:latin typeface="Roboto Medium"/>
              <a:ea typeface="Roboto Medium"/>
              <a:cs typeface="Roboto Medium"/>
              <a:sym typeface="Roboto Medium"/>
            </a:endParaRPr>
          </a:p>
        </p:txBody>
      </p:sp>
      <p:sp>
        <p:nvSpPr>
          <p:cNvPr id="145" name="Google Shape;145;p27"/>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46" name="Google Shape;146;p27"/>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GitHub is where your learning becomes visible.</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World's largest code and project hosting platform</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Used by millions of developers globally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Your work lives here for employers to see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Version control tracks every change you make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Collaboration happens through GitHub daily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Think of it as your professional portfolio</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Every submission goes through GitHub</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pic>
        <p:nvPicPr>
          <p:cNvPr id="147" name="Google Shape;147;p27"/>
          <p:cNvPicPr preferRelativeResize="0"/>
          <p:nvPr/>
        </p:nvPicPr>
        <p:blipFill>
          <a:blip r:embed="rId3">
            <a:alphaModFix/>
          </a:blip>
          <a:stretch>
            <a:fillRect/>
          </a:stretch>
        </p:blipFill>
        <p:spPr>
          <a:xfrm>
            <a:off x="4683000" y="1123771"/>
            <a:ext cx="2908625" cy="2282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Creating Your GitHub Account </a:t>
            </a:r>
            <a:endParaRPr>
              <a:solidFill>
                <a:srgbClr val="434343"/>
              </a:solidFill>
              <a:latin typeface="Roboto Medium"/>
              <a:ea typeface="Roboto Medium"/>
              <a:cs typeface="Roboto Medium"/>
              <a:sym typeface="Roboto Medium"/>
            </a:endParaRPr>
          </a:p>
        </p:txBody>
      </p:sp>
      <p:sp>
        <p:nvSpPr>
          <p:cNvPr id="153" name="Google Shape;153;p28"/>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54" name="Google Shape;154;p28"/>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Your GitHub profile is your data CV.</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Go to github.com and sign up</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Use a professional username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Add a clear profile photo</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Write a short bio about yourself</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Verify your email immediately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Explore the interface before your first session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This account will follow your career</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pic>
        <p:nvPicPr>
          <p:cNvPr id="155" name="Google Shape;155;p28"/>
          <p:cNvPicPr preferRelativeResize="0"/>
          <p:nvPr/>
        </p:nvPicPr>
        <p:blipFill>
          <a:blip r:embed="rId3">
            <a:alphaModFix/>
          </a:blip>
          <a:stretch>
            <a:fillRect/>
          </a:stretch>
        </p:blipFill>
        <p:spPr>
          <a:xfrm>
            <a:off x="4683000" y="1123771"/>
            <a:ext cx="2908625" cy="2282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GitHub Is Your Learning Hub </a:t>
            </a:r>
            <a:endParaRPr>
              <a:solidFill>
                <a:srgbClr val="434343"/>
              </a:solidFill>
              <a:latin typeface="Roboto Medium"/>
              <a:ea typeface="Roboto Medium"/>
              <a:cs typeface="Roboto Medium"/>
              <a:sym typeface="Roboto Medium"/>
            </a:endParaRPr>
          </a:p>
        </p:txBody>
      </p:sp>
      <p:sp>
        <p:nvSpPr>
          <p:cNvPr id="161" name="Google Shape;161;p29"/>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62" name="Google Shape;162;p29"/>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Every lesson, every project, every submission — all in one place.</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Course materials shared via GitHub repos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Submit all assignments through GitHub</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your progress with commits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Collaborate on group projects here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Raise issues when you're stuck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Fork repos to practise independently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Your commit history shows your consistency</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Understanding Folders &amp; File Structure </a:t>
            </a:r>
            <a:endParaRPr>
              <a:solidFill>
                <a:srgbClr val="434343"/>
              </a:solidFill>
              <a:latin typeface="Roboto Medium"/>
              <a:ea typeface="Roboto Medium"/>
              <a:cs typeface="Roboto Medium"/>
              <a:sym typeface="Roboto Medium"/>
            </a:endParaRPr>
          </a:p>
        </p:txBody>
      </p:sp>
      <p:sp>
        <p:nvSpPr>
          <p:cNvPr id="168" name="Google Shape;168;p30"/>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A messy desktop is a messy mind.</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Create one main Dataskool folder</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Subfolders for each week and module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Separate raw data from cleaned data</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Keep projects and notes organised separately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Never save files to your desktop</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Back up to Google Drive regularly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Structure saves you hours of searching</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Naming Files the Right Way </a:t>
            </a:r>
            <a:endParaRPr>
              <a:solidFill>
                <a:srgbClr val="434343"/>
              </a:solidFill>
              <a:latin typeface="Roboto Medium"/>
              <a:ea typeface="Roboto Medium"/>
              <a:cs typeface="Roboto Medium"/>
              <a:sym typeface="Roboto Medium"/>
            </a:endParaRPr>
          </a:p>
        </p:txBody>
      </p:sp>
      <p:sp>
        <p:nvSpPr>
          <p:cNvPr id="174" name="Google Shape;174;p31"/>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75" name="Google Shape;175;p31"/>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Good file names are a professional habit.</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Use underscores not spaces: week1_notes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Include dates where relevant: 2024_01_15</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Be descriptive but concise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Never use "final", "final2", "actually_final"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Use lowercase for consistency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Version control with v1, v2 if needed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Your future self will thank you</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Everything Connects Together </a:t>
            </a:r>
            <a:endParaRPr>
              <a:solidFill>
                <a:srgbClr val="434343"/>
              </a:solidFill>
              <a:latin typeface="Roboto Medium"/>
              <a:ea typeface="Roboto Medium"/>
              <a:cs typeface="Roboto Medium"/>
              <a:sym typeface="Roboto Medium"/>
            </a:endParaRPr>
          </a:p>
        </p:txBody>
      </p:sp>
      <p:sp>
        <p:nvSpPr>
          <p:cNvPr id="181" name="Google Shape;181;p32"/>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82" name="Google Shape;182;p32"/>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Five tools. One seamless workflow.</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Mentor announces session on Slack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 check Google Calendar for timing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 join via Zoom link in the invite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Materials are accessed through GitHub</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Notes saved in your organised folders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Questions asked back on Slack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Repeat — this is your daily rhythm</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solidFill>
                  <a:srgbClr val="434343"/>
                </a:solidFill>
                <a:latin typeface="Roboto Medium"/>
                <a:ea typeface="Roboto Medium"/>
                <a:cs typeface="Roboto Medium"/>
                <a:sym typeface="Roboto Medium"/>
              </a:rPr>
              <a:t>Your Setup Checklist </a:t>
            </a:r>
            <a:endParaRPr>
              <a:solidFill>
                <a:srgbClr val="434343"/>
              </a:solidFill>
              <a:latin typeface="Roboto Medium"/>
              <a:ea typeface="Roboto Medium"/>
              <a:cs typeface="Roboto Medium"/>
              <a:sym typeface="Roboto Medium"/>
            </a:endParaRPr>
          </a:p>
          <a:p>
            <a:pPr indent="0" lvl="0" marL="0" rtl="0" algn="l">
              <a:spcBef>
                <a:spcPts val="1200"/>
              </a:spcBef>
              <a:spcAft>
                <a:spcPts val="0"/>
              </a:spcAft>
              <a:buNone/>
            </a:pPr>
            <a:r>
              <a:t/>
            </a:r>
            <a:endParaRPr>
              <a:solidFill>
                <a:srgbClr val="434343"/>
              </a:solidFill>
              <a:latin typeface="Roboto Medium"/>
              <a:ea typeface="Roboto Medium"/>
              <a:cs typeface="Roboto Medium"/>
              <a:sym typeface="Roboto Medium"/>
            </a:endParaRPr>
          </a:p>
        </p:txBody>
      </p:sp>
      <p:sp>
        <p:nvSpPr>
          <p:cNvPr id="188" name="Google Shape;188;p33"/>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Don't leave today without ticking every box.</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Slack downloaded and profile complete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Zoom installed and settings configured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Google Calendar synced with program schedule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GitHub account created and verified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Folder structure created on your device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All channels joined on Slack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 are officially set up and ready</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solidFill>
                  <a:srgbClr val="434343"/>
                </a:solidFill>
                <a:latin typeface="Roboto Medium"/>
                <a:ea typeface="Roboto Medium"/>
                <a:cs typeface="Roboto Medium"/>
                <a:sym typeface="Roboto Medium"/>
              </a:rPr>
              <a:t>You're Ready — Let's Go </a:t>
            </a:r>
            <a:endParaRPr>
              <a:solidFill>
                <a:srgbClr val="434343"/>
              </a:solidFill>
              <a:latin typeface="Roboto Medium"/>
              <a:ea typeface="Roboto Medium"/>
              <a:cs typeface="Roboto Medium"/>
              <a:sym typeface="Roboto Medium"/>
            </a:endParaRPr>
          </a:p>
          <a:p>
            <a:pPr indent="0" lvl="0" marL="0" rtl="0" algn="l">
              <a:spcBef>
                <a:spcPts val="1200"/>
              </a:spcBef>
              <a:spcAft>
                <a:spcPts val="0"/>
              </a:spcAft>
              <a:buNone/>
            </a:pPr>
            <a:r>
              <a:t/>
            </a:r>
            <a:endParaRPr>
              <a:solidFill>
                <a:srgbClr val="434343"/>
              </a:solidFill>
              <a:latin typeface="Roboto Medium"/>
              <a:ea typeface="Roboto Medium"/>
              <a:cs typeface="Roboto Medium"/>
              <a:sym typeface="Roboto Medium"/>
            </a:endParaRPr>
          </a:p>
        </p:txBody>
      </p:sp>
      <p:sp>
        <p:nvSpPr>
          <p:cNvPr id="194" name="Google Shape;194;p34"/>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tools are set. Now the real work begins.</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You now have everything you need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Every tool has a purpose — use it well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Consistency with tools builds great habits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Your mentors are one Slack message away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Day one starts now, not tomorrow</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Show up, stay organised, keep going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Welcome to Dataskool — let's build something</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5"/>
          <p:cNvSpPr txBox="1"/>
          <p:nvPr>
            <p:ph type="title"/>
          </p:nvPr>
        </p:nvSpPr>
        <p:spPr>
          <a:xfrm>
            <a:off x="2308800" y="2285400"/>
            <a:ext cx="4526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rgbClr val="434343"/>
                </a:solidFill>
                <a:latin typeface="Roboto Light"/>
                <a:ea typeface="Roboto Light"/>
                <a:cs typeface="Roboto Light"/>
                <a:sym typeface="Roboto Light"/>
              </a:rPr>
              <a:t>Have Questions?</a:t>
            </a:r>
            <a:endParaRPr sz="2400">
              <a:solidFill>
                <a:srgbClr val="434343"/>
              </a:solidFill>
              <a:latin typeface="Roboto Light"/>
              <a:ea typeface="Roboto Light"/>
              <a:cs typeface="Roboto Light"/>
              <a:sym typeface="Roboto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3" name="Shape 203"/>
        <p:cNvGrpSpPr/>
        <p:nvPr/>
      </p:nvGrpSpPr>
      <p:grpSpPr>
        <a:xfrm>
          <a:off x="0" y="0"/>
          <a:ext cx="0" cy="0"/>
          <a:chOff x="0" y="0"/>
          <a:chExt cx="0" cy="0"/>
        </a:xfrm>
      </p:grpSpPr>
      <p:pic>
        <p:nvPicPr>
          <p:cNvPr id="204" name="Google Shape;204;p36"/>
          <p:cNvPicPr preferRelativeResize="0"/>
          <p:nvPr/>
        </p:nvPicPr>
        <p:blipFill>
          <a:blip r:embed="rId3">
            <a:alphaModFix/>
          </a:blip>
          <a:stretch>
            <a:fillRect/>
          </a:stretch>
        </p:blipFill>
        <p:spPr>
          <a:xfrm>
            <a:off x="2738237" y="1911028"/>
            <a:ext cx="3667526" cy="132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